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0" r:id="rId18"/>
    <p:sldId id="272" r:id="rId19"/>
  </p:sldIdLst>
  <p:sldSz cx="12192000" cy="6858000"/>
  <p:notesSz cx="12192000" cy="6858000"/>
  <p:embeddedFontLst>
    <p:embeddedFont>
      <p:font typeface="CKJKGK+Be Vietnam Pro Regular" panose="020B0604020202020204" charset="0"/>
      <p:regular r:id="rId20"/>
    </p:embeddedFont>
    <p:embeddedFont>
      <p:font typeface="GAKIPB+Be Vietnam Pro Regular" panose="020B0604020202020204" charset="0"/>
      <p:regular r:id="rId21"/>
    </p:embeddedFont>
    <p:embeddedFont>
      <p:font typeface="HMFAPK+Be Vietnam Pro Bold" panose="020B0604020202020204" charset="0"/>
      <p:regular r:id="rId22"/>
    </p:embeddedFont>
    <p:embeddedFont>
      <p:font typeface="HTGICJ+Be Vietnam Pro Regular" panose="020B0604020202020204" charset="0"/>
      <p:regular r:id="rId23"/>
    </p:embeddedFont>
    <p:embeddedFont>
      <p:font typeface="IGNKLP+Be Vietnam Pro Regular" panose="020B0604020202020204" charset="0"/>
      <p:regular r:id="rId24"/>
    </p:embeddedFont>
    <p:embeddedFont>
      <p:font typeface="ISWTMM+Be Vietnam Pro Bold" panose="020B0604020202020204" charset="0"/>
      <p:regular r:id="rId25"/>
    </p:embeddedFont>
    <p:embeddedFont>
      <p:font typeface="JVNFBS+Be Vietnam Pro SemiBold" panose="020B0604020202020204" charset="0"/>
      <p:regular r:id="rId26"/>
    </p:embeddedFont>
    <p:embeddedFont>
      <p:font typeface="LPFLSU+Be Vietnam Pro SemiBold" panose="020B0604020202020204" charset="0"/>
      <p:regular r:id="rId27"/>
    </p:embeddedFont>
    <p:embeddedFont>
      <p:font typeface="NGSAJG+Be Vietnam Pro Bold" panose="020B0604020202020204" charset="0"/>
      <p:regular r:id="rId28"/>
    </p:embeddedFont>
    <p:embeddedFont>
      <p:font typeface="QQAISW+Be Vietnam Pro Bold" panose="020B0604020202020204" charset="0"/>
      <p:regular r:id="rId29"/>
    </p:embeddedFont>
    <p:embeddedFont>
      <p:font typeface="QQGJSQ+Be Vietnam Pro SemiBold" panose="020B0604020202020204" charset="0"/>
      <p:regular r:id="rId30"/>
    </p:embeddedFont>
    <p:embeddedFont>
      <p:font typeface="RUJULI+Be Vietnam Pro Bold" panose="020B0604020202020204" charset="0"/>
      <p:regular r:id="rId31"/>
    </p:embeddedFont>
    <p:embeddedFont>
      <p:font typeface="SAMBRE+Be Vietnam Pro Regular" panose="020B0604020202020204" charset="0"/>
      <p:regular r:id="rId32"/>
    </p:embeddedFont>
    <p:embeddedFont>
      <p:font typeface="TTBVDM+Be Vietnam Pro Bold" panose="020B0604020202020204" charset="0"/>
      <p:regular r:id="rId33"/>
    </p:embeddedFont>
    <p:embeddedFont>
      <p:font typeface="TVWQTK+Be Vietnam Pro SemiBold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-10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23017208@st.phenikaa-uni.edu.vn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5999" y="2111051"/>
            <a:ext cx="11112374" cy="2164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ỨNG DỤNG TRÍ TUỆ NHÂN TẠO</a:t>
            </a:r>
          </a:p>
          <a:p>
            <a:pPr marL="811857" marR="0">
              <a:lnSpc>
                <a:spcPts val="5625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4CAF50"/>
                </a:solidFill>
                <a:latin typeface="DejaVu Sans"/>
                <a:cs typeface="DejaVu Sans"/>
              </a:rPr>
              <a:t>TRONG DỰ BÁO THỜI TIẾT</a:t>
            </a:r>
          </a:p>
          <a:p>
            <a:pPr marL="1656605" marR="0">
              <a:lnSpc>
                <a:spcPts val="2932"/>
              </a:lnSpc>
              <a:spcBef>
                <a:spcPts val="2323"/>
              </a:spcBef>
              <a:spcAft>
                <a:spcPts val="0"/>
              </a:spcAft>
            </a:pPr>
            <a:r>
              <a:rPr sz="2500" spc="10" dirty="0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1" dirty="0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2" dirty="0">
                <a:solidFill>
                  <a:srgbClr val="FFFFFF"/>
                </a:solidFill>
                <a:latin typeface="DejaVu Sans"/>
                <a:cs typeface="DejaVu Sans"/>
              </a:rPr>
              <a:t>AI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1" dirty="0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DejaVu Sans"/>
                <a:cs typeface="DejaVu Sans"/>
              </a:rPr>
              <a:t>đoán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DejaVu Sans"/>
                <a:cs typeface="DejaVu Sans"/>
              </a:rPr>
              <a:t>khí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DejaVu Sans"/>
                <a:cs typeface="DejaVu Sans"/>
              </a:rPr>
              <a:t>hậu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DejaVu Sans"/>
                <a:cs typeface="DejaVu Sans"/>
              </a:rPr>
              <a:t>xác</a:t>
            </a:r>
            <a:r>
              <a:rPr sz="25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spc="10" dirty="0">
                <a:solidFill>
                  <a:srgbClr val="FFFFFF"/>
                </a:solidFill>
                <a:latin typeface="DejaVu Sans"/>
                <a:cs typeface="DejaVu Sans"/>
              </a:rPr>
              <a:t>hơn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4002" y="6191720"/>
            <a:ext cx="115636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Nhóm </a:t>
            </a:r>
            <a:r>
              <a:rPr sz="2000" dirty="0">
                <a:solidFill>
                  <a:srgbClr val="FFFFFF"/>
                </a:solidFill>
                <a:latin typeface="DejaVu Sans"/>
                <a:cs typeface="DejaVu Sans"/>
              </a:rPr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935044" y="3495903"/>
            <a:ext cx="591154" cy="245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FFFFFF"/>
                </a:solidFill>
                <a:latin typeface="Liberation Mono"/>
                <a:cs typeface="Liberation Mono"/>
              </a:rPr>
              <a:t>0.51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84208" y="3495903"/>
            <a:ext cx="591154" cy="245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FFFFFF"/>
                </a:solidFill>
                <a:latin typeface="Liberation Mono"/>
                <a:cs typeface="Liberation Mono"/>
              </a:rPr>
              <a:t>0.66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55744" y="3737699"/>
            <a:ext cx="349942" cy="162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78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FFFF"/>
                </a:solidFill>
                <a:latin typeface="Liberation Mono"/>
                <a:cs typeface="Liberation Mono"/>
              </a:rPr>
              <a:t>MAE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704759" y="3737699"/>
            <a:ext cx="349942" cy="162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78"/>
              </a:lnSpc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FFFFFF"/>
                </a:solidFill>
                <a:latin typeface="Liberation Mono"/>
                <a:cs typeface="Liberation Mono"/>
              </a:rPr>
              <a:t>MSE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82409" y="4151173"/>
            <a:ext cx="1545507" cy="437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1674" marR="0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-14" dirty="0">
                <a:solidFill>
                  <a:srgbClr val="FFFFFF"/>
                </a:solidFill>
                <a:latin typeface="Liberation Mono"/>
                <a:cs typeface="Liberation Mono"/>
              </a:rPr>
              <a:t>0.9908</a:t>
            </a:r>
          </a:p>
          <a:p>
            <a:pPr marL="0" marR="0">
              <a:lnSpc>
                <a:spcPts val="1005"/>
              </a:lnSpc>
              <a:spcBef>
                <a:spcPts val="129"/>
              </a:spcBef>
              <a:spcAft>
                <a:spcPts val="0"/>
              </a:spcAft>
            </a:pPr>
            <a:r>
              <a:rPr sz="850" spc="10" dirty="0">
                <a:solidFill>
                  <a:srgbClr val="FFFFFF"/>
                </a:solidFill>
                <a:latin typeface="DejaVu Sans"/>
                <a:cs typeface="DejaVu Sans"/>
              </a:rPr>
              <a:t>R²</a:t>
            </a:r>
            <a:r>
              <a:rPr sz="850" dirty="0">
                <a:solidFill>
                  <a:srgbClr val="FFFFFF"/>
                </a:solidFill>
                <a:latin typeface="DejaVu Sans"/>
                <a:cs typeface="DejaVu Sans"/>
              </a:rPr>
              <a:t> Score</a:t>
            </a:r>
            <a:r>
              <a:rPr sz="8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850" dirty="0">
                <a:solidFill>
                  <a:srgbClr val="FFFFFF"/>
                </a:solidFill>
                <a:latin typeface="DejaVu Sans"/>
                <a:cs typeface="DejaVu Sans"/>
              </a:rPr>
              <a:t>(Hệ số xác định)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18866" y="448615"/>
            <a:ext cx="5706538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5" dirty="0">
                <a:solidFill>
                  <a:srgbClr val="004080"/>
                </a:solidFill>
                <a:latin typeface="DejaVu Sans"/>
                <a:cs typeface="DejaVu Sans"/>
              </a:rPr>
              <a:t>THÀNH</a:t>
            </a:r>
            <a:r>
              <a:rPr sz="405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4080"/>
                </a:solidFill>
                <a:latin typeface="DejaVu Sans"/>
                <a:cs typeface="DejaVu Sans"/>
              </a:rPr>
              <a:t>VIÊN </a:t>
            </a:r>
            <a:r>
              <a:rPr sz="4050" b="1" spc="-15" dirty="0">
                <a:solidFill>
                  <a:srgbClr val="4CAF50"/>
                </a:solidFill>
                <a:latin typeface="DejaVu Sans"/>
                <a:cs typeface="DejaVu Sans"/>
              </a:rPr>
              <a:t>NHÓM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04841" y="1103195"/>
            <a:ext cx="1534719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4" dirty="0">
                <a:solidFill>
                  <a:srgbClr val="004080"/>
                </a:solidFill>
                <a:latin typeface="DejaVu Sans"/>
                <a:cs typeface="DejaVu Sans"/>
              </a:rPr>
              <a:t>Nhóm</a:t>
            </a:r>
            <a:r>
              <a:rPr sz="2500" b="1" spc="1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500" b="1" dirty="0">
                <a:solidFill>
                  <a:srgbClr val="004080"/>
                </a:solidFill>
                <a:latin typeface="DejaVu Sans"/>
                <a:cs typeface="DejaVu Sans"/>
              </a:rPr>
              <a:t>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03647" y="2131895"/>
            <a:ext cx="3130744" cy="6901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-36" dirty="0">
                <a:solidFill>
                  <a:srgbClr val="004080"/>
                </a:solidFill>
                <a:latin typeface="DejaVu Sans"/>
                <a:cs typeface="DejaVu Sans"/>
              </a:rPr>
              <a:t>Trương</a:t>
            </a:r>
            <a:r>
              <a:rPr sz="2500" b="1" spc="56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004080"/>
                </a:solidFill>
                <a:latin typeface="DejaVu Sans"/>
                <a:cs typeface="DejaVu Sans"/>
              </a:rPr>
              <a:t>Văn</a:t>
            </a:r>
            <a:r>
              <a:rPr sz="25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004080"/>
                </a:solidFill>
                <a:latin typeface="DejaVu Sans"/>
                <a:cs typeface="DejaVu Sans"/>
              </a:rPr>
              <a:t>Diệu</a:t>
            </a:r>
          </a:p>
          <a:p>
            <a:pPr marL="0" marR="0">
              <a:lnSpc>
                <a:spcPts val="1955"/>
              </a:lnSpc>
              <a:spcBef>
                <a:spcPts val="246"/>
              </a:spcBef>
              <a:spcAft>
                <a:spcPts val="0"/>
              </a:spcAft>
            </a:pPr>
            <a:r>
              <a:rPr sz="1700" spc="-46" dirty="0">
                <a:solidFill>
                  <a:srgbClr val="4B5563"/>
                </a:solidFill>
                <a:latin typeface="DejaVu Sans"/>
                <a:cs typeface="DejaVu Sans"/>
              </a:rPr>
              <a:t>MSV:</a:t>
            </a:r>
            <a:r>
              <a:rPr sz="1700" spc="31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4B5563"/>
                </a:solidFill>
                <a:latin typeface="DejaVu Sans"/>
                <a:cs typeface="DejaVu Sans"/>
              </a:rPr>
              <a:t>23017208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2199" y="3743796"/>
            <a:ext cx="310462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Phân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công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đóng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góp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4041" y="4308034"/>
            <a:ext cx="4000428" cy="2309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Nghiên cứu ứng dụng AI dự báo thời tiết</a:t>
            </a:r>
          </a:p>
          <a:p>
            <a:pPr marL="0" marR="0">
              <a:lnSpc>
                <a:spcPts val="1760"/>
              </a:lnSpc>
              <a:spcBef>
                <a:spcPts val="2239"/>
              </a:spcBef>
              <a:spcAft>
                <a:spcPts val="0"/>
              </a:spcAft>
            </a:pP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Phân tích dữ liệu khí tượng &amp;</a:t>
            </a:r>
            <a:r>
              <a:rPr sz="1500" spc="12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Big Data</a:t>
            </a:r>
          </a:p>
          <a:p>
            <a:pPr marL="0" marR="0">
              <a:lnSpc>
                <a:spcPts val="1760"/>
              </a:lnSpc>
              <a:spcBef>
                <a:spcPts val="2289"/>
              </a:spcBef>
              <a:spcAft>
                <a:spcPts val="0"/>
              </a:spcAft>
            </a:pP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Xây dựng </a:t>
            </a:r>
            <a:r>
              <a:rPr sz="1500" spc="10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 hình Machine Learning</a:t>
            </a:r>
          </a:p>
          <a:p>
            <a:pPr marL="0" marR="0">
              <a:lnSpc>
                <a:spcPts val="1760"/>
              </a:lnSpc>
              <a:spcBef>
                <a:spcPts val="2164"/>
              </a:spcBef>
              <a:spcAft>
                <a:spcPts val="0"/>
              </a:spcAft>
            </a:pP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Đánh giá &amp;</a:t>
            </a:r>
            <a:r>
              <a:rPr sz="1500" spc="12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tối ưu hiệu suất </a:t>
            </a:r>
            <a:r>
              <a:rPr sz="1500" spc="10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 hình</a:t>
            </a:r>
          </a:p>
          <a:p>
            <a:pPr marL="0" marR="0">
              <a:lnSpc>
                <a:spcPts val="1760"/>
              </a:lnSpc>
              <a:spcBef>
                <a:spcPts val="2289"/>
              </a:spcBef>
              <a:spcAft>
                <a:spcPts val="0"/>
              </a:spcAft>
            </a:pPr>
            <a:r>
              <a:rPr sz="1500" spc="-50" dirty="0">
                <a:solidFill>
                  <a:srgbClr val="004080"/>
                </a:solidFill>
                <a:latin typeface="DejaVu Sans"/>
                <a:cs typeface="DejaVu Sans"/>
              </a:rPr>
              <a:t>Trực</a:t>
            </a:r>
            <a:r>
              <a:rPr sz="1500" spc="6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quan hóa kết quả dự báo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465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43337" y="227931"/>
            <a:ext cx="4659626" cy="624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14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3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II.</a:t>
            </a:r>
            <a:r>
              <a:rPr sz="30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3000" b="1" spc="-6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PHÁT</a:t>
            </a:r>
            <a:r>
              <a:rPr sz="3000" b="1" spc="87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3000" b="1" spc="38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BI</a:t>
            </a:r>
            <a:r>
              <a:rPr sz="3000" b="1" spc="11" dirty="0">
                <a:solidFill>
                  <a:srgbClr val="004080"/>
                </a:solidFill>
                <a:latin typeface="QQAISW+Be Vietnam Pro Bold"/>
                <a:cs typeface="QQAISW+Be Vietnam Pro Bold"/>
              </a:rPr>
              <a:t>Ể</a:t>
            </a:r>
            <a:r>
              <a:rPr sz="30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U</a:t>
            </a:r>
            <a:r>
              <a:rPr sz="3000" b="1" spc="2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3000" b="1" spc="33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BÀI</a:t>
            </a:r>
            <a:r>
              <a:rPr sz="3000" b="1" spc="-18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3000" b="1" spc="-88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TOÁ</a:t>
            </a:r>
            <a:r>
              <a:rPr sz="3000" b="1" spc="-67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30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7199" y="770359"/>
            <a:ext cx="3806866" cy="428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6"/>
              </a:lnSpc>
              <a:spcBef>
                <a:spcPts val="0"/>
              </a:spcBef>
              <a:spcAft>
                <a:spcPts val="0"/>
              </a:spcAft>
            </a:pPr>
            <a:r>
              <a:rPr sz="2000" spc="18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Mô</a:t>
            </a:r>
            <a:r>
              <a:rPr sz="2000" spc="17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 </a:t>
            </a:r>
            <a:r>
              <a:rPr sz="2000" spc="43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t</a:t>
            </a:r>
            <a:r>
              <a:rPr sz="2000" spc="43" dirty="0">
                <a:solidFill>
                  <a:srgbClr val="4CAF50"/>
                </a:solidFill>
                <a:latin typeface="IGNKLP+Be Vietnam Pro Regular"/>
                <a:cs typeface="IGNKLP+Be Vietnam Pro Regular"/>
              </a:rPr>
              <a:t>ả</a:t>
            </a:r>
            <a:r>
              <a:rPr sz="2000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,</a:t>
            </a:r>
            <a:r>
              <a:rPr sz="2000" spc="-15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 </a:t>
            </a:r>
            <a:r>
              <a:rPr sz="2000" spc="18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Mô</a:t>
            </a:r>
            <a:r>
              <a:rPr sz="2000" spc="17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 </a:t>
            </a:r>
            <a:r>
              <a:rPr sz="2000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hình</a:t>
            </a:r>
            <a:r>
              <a:rPr sz="2000" spc="28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 </a:t>
            </a:r>
            <a:r>
              <a:rPr sz="2000" spc="40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hóa</a:t>
            </a:r>
            <a:r>
              <a:rPr sz="2000" spc="-58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 </a:t>
            </a:r>
            <a:r>
              <a:rPr sz="2000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&amp;</a:t>
            </a:r>
            <a:r>
              <a:rPr sz="2000" spc="10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 </a:t>
            </a:r>
            <a:r>
              <a:rPr sz="2000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So</a:t>
            </a:r>
            <a:r>
              <a:rPr sz="2000" spc="-23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 </a:t>
            </a:r>
            <a:r>
              <a:rPr sz="2000" spc="18" dirty="0">
                <a:solidFill>
                  <a:srgbClr val="4CAF50"/>
                </a:solidFill>
                <a:latin typeface="GAKIPB+Be Vietnam Pro Regular"/>
                <a:cs typeface="GAKIPB+Be Vietnam Pro Regular"/>
              </a:rPr>
              <a:t>sánh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12787" y="1586169"/>
            <a:ext cx="2175464" cy="363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63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15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2.1.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spc="-1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Mô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t</a:t>
            </a:r>
            <a:r>
              <a:rPr sz="1700" b="1" dirty="0">
                <a:solidFill>
                  <a:srgbClr val="004080"/>
                </a:solidFill>
                <a:latin typeface="QQAISW+Be Vietnam Pro Bold"/>
                <a:cs typeface="QQAISW+Be Vietnam Pro Bold"/>
              </a:rPr>
              <a:t>ả</a:t>
            </a:r>
            <a:r>
              <a:rPr sz="1700" b="1" spc="-51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Bài toán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34348" y="1586169"/>
            <a:ext cx="2845490" cy="363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63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2.2. </a:t>
            </a:r>
            <a:r>
              <a:rPr sz="1700" b="1" spc="-1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Mô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hình &amp;</a:t>
            </a:r>
            <a:r>
              <a:rPr sz="1700" b="1" spc="-37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spc="-4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T</a:t>
            </a:r>
            <a:r>
              <a:rPr sz="1700" b="1" dirty="0">
                <a:solidFill>
                  <a:srgbClr val="004080"/>
                </a:solidFill>
                <a:latin typeface="QQAISW+Be Vietnam Pro Bold"/>
                <a:cs typeface="QQAISW+Be Vietnam Pro Bold"/>
              </a:rPr>
              <a:t>ố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i </a:t>
            </a:r>
            <a:r>
              <a:rPr sz="1700" b="1" spc="-31" dirty="0">
                <a:solidFill>
                  <a:srgbClr val="004080"/>
                </a:solidFill>
                <a:latin typeface="RUJULI+Be Vietnam Pro Bold"/>
                <a:cs typeface="RUJULI+Be Vietnam Pro Bold"/>
              </a:rPr>
              <a:t>ư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u</a:t>
            </a:r>
            <a:r>
              <a:rPr sz="1700" b="1" spc="-4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spc="1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hóa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61051" y="2333633"/>
            <a:ext cx="2279919" cy="4850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Mô</a:t>
            </a:r>
            <a:r>
              <a:rPr sz="1200" spc="-35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hình</a:t>
            </a:r>
            <a:r>
              <a:rPr sz="1200" spc="-26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200" spc="-2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chính:</a:t>
            </a:r>
          </a:p>
          <a:p>
            <a:pPr marL="0" marR="0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5" dirty="0">
                <a:solidFill>
                  <a:srgbClr val="4CAF50"/>
                </a:solidFill>
                <a:latin typeface="HMFAPK+Be Vietnam Pro Bold"/>
                <a:cs typeface="HMFAPK+Be Vietnam Pro Bold"/>
              </a:rPr>
              <a:t>GradientBoostingRegressor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15121" y="2400308"/>
            <a:ext cx="2525472" cy="4755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M</a:t>
            </a:r>
            <a:r>
              <a:rPr sz="1200" b="1" spc="-46" dirty="0">
                <a:solidFill>
                  <a:srgbClr val="004080"/>
                </a:solidFill>
                <a:latin typeface="QQAISW+Be Vietnam Pro Bold"/>
                <a:cs typeface="QQAISW+Be Vietnam Pro Bold"/>
              </a:rPr>
              <a:t>ụ</a:t>
            </a:r>
            <a:r>
              <a:rPr sz="12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c</a:t>
            </a:r>
            <a:r>
              <a:rPr sz="1200" b="1" spc="18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2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tiêu: </a:t>
            </a:r>
            <a:r>
              <a:rPr sz="1200" spc="-49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D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ự</a:t>
            </a:r>
            <a:r>
              <a:rPr sz="1200" spc="-3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43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đ</a:t>
            </a:r>
            <a:r>
              <a:rPr sz="1200" spc="-2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oán</a:t>
            </a:r>
            <a:r>
              <a:rPr sz="1200" spc="3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nhi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ệ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3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43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đ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ộ</a:t>
            </a:r>
            <a:r>
              <a:rPr sz="1200" spc="-31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ngày</a:t>
            </a:r>
          </a:p>
          <a:p>
            <a:pPr marL="0" marR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ti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ế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p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theo.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61051" y="2847983"/>
            <a:ext cx="3006087" cy="266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ố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i </a:t>
            </a:r>
            <a:r>
              <a:rPr sz="1200" spc="-15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ư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u</a:t>
            </a:r>
            <a:r>
              <a:rPr sz="1200" spc="2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hóa</a:t>
            </a:r>
            <a:r>
              <a:rPr sz="1200" spc="3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3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b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ằ</a:t>
            </a:r>
            <a:r>
              <a:rPr sz="1200" spc="-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ng</a:t>
            </a:r>
            <a:r>
              <a:rPr sz="1200" spc="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b="1" spc="-15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GridSearchCV</a:t>
            </a:r>
            <a:r>
              <a:rPr sz="1200" b="1" spc="44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v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ớ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i 160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15121" y="2914658"/>
            <a:ext cx="2545716" cy="694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40" dirty="0">
                <a:solidFill>
                  <a:srgbClr val="004080"/>
                </a:solidFill>
                <a:latin typeface="RUJULI+Be Vietnam Pro Bold"/>
                <a:cs typeface="RUJULI+Be Vietnam Pro Bold"/>
              </a:rPr>
              <a:t>Đ</a:t>
            </a:r>
            <a:r>
              <a:rPr sz="1200" b="1" spc="-46" dirty="0">
                <a:solidFill>
                  <a:srgbClr val="004080"/>
                </a:solidFill>
                <a:latin typeface="QQAISW+Be Vietnam Pro Bold"/>
                <a:cs typeface="QQAISW+Be Vietnam Pro Bold"/>
              </a:rPr>
              <a:t>ầ</a:t>
            </a:r>
            <a:r>
              <a:rPr sz="12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u </a:t>
            </a:r>
            <a:r>
              <a:rPr sz="1200" b="1" spc="-4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vào:</a:t>
            </a:r>
            <a:r>
              <a:rPr sz="1200" b="1" spc="37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200" spc="-49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D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ữ</a:t>
            </a:r>
            <a:r>
              <a:rPr sz="1200" spc="-3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li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ệ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u</a:t>
            </a:r>
            <a:r>
              <a:rPr sz="1200" spc="2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khí 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-15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ư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ợ</a:t>
            </a:r>
            <a:r>
              <a:rPr sz="1200" spc="-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ng</a:t>
            </a:r>
            <a:r>
              <a:rPr sz="1200" spc="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ị</a:t>
            </a:r>
            <a:r>
              <a:rPr sz="1200" spc="1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ch</a:t>
            </a:r>
            <a:r>
              <a:rPr sz="1200" spc="-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s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ử</a:t>
            </a:r>
          </a:p>
          <a:p>
            <a:pPr marL="0" marR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(nhi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ệ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3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43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đ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ộ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,</a:t>
            </a:r>
            <a:r>
              <a:rPr sz="1200" spc="3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43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đ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ộ</a:t>
            </a:r>
            <a:r>
              <a:rPr sz="1200" spc="-31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ẩ</a:t>
            </a:r>
            <a:r>
              <a:rPr sz="1200" spc="-2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m,</a:t>
            </a:r>
            <a:r>
              <a:rPr sz="1200" spc="56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mây,</a:t>
            </a:r>
            <a:r>
              <a:rPr sz="1200" spc="6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3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áp</a:t>
            </a:r>
            <a:r>
              <a:rPr sz="1200" spc="2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su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ấ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t,</a:t>
            </a:r>
          </a:p>
          <a:p>
            <a:pPr marL="0" marR="0">
              <a:lnSpc>
                <a:spcPts val="1725"/>
              </a:lnSpc>
              <a:spcBef>
                <a:spcPts val="50"/>
              </a:spcBef>
              <a:spcAft>
                <a:spcPts val="0"/>
              </a:spcAft>
            </a:pPr>
            <a:r>
              <a:rPr sz="1200" spc="-2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gió,...).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61051" y="3057533"/>
            <a:ext cx="2138214" cy="266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ầ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hu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ấ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luy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ệ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(5-fold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CV).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661051" y="3362333"/>
            <a:ext cx="1781193" cy="266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1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Siêu</a:t>
            </a:r>
            <a:r>
              <a:rPr sz="120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tham</a:t>
            </a:r>
            <a:r>
              <a:rPr sz="120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200" spc="-31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s</a:t>
            </a:r>
            <a:r>
              <a:rPr sz="1200" dirty="0">
                <a:solidFill>
                  <a:srgbClr val="004080"/>
                </a:solidFill>
                <a:latin typeface="QQGJSQ+Be Vietnam Pro SemiBold"/>
                <a:cs typeface="QQGJSQ+Be Vietnam Pro SemiBold"/>
              </a:rPr>
              <a:t>ố</a:t>
            </a:r>
            <a:r>
              <a:rPr sz="1200" spc="-37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t</a:t>
            </a:r>
            <a:r>
              <a:rPr sz="1200" spc="-37" dirty="0">
                <a:solidFill>
                  <a:srgbClr val="004080"/>
                </a:solidFill>
                <a:latin typeface="QQGJSQ+Be Vietnam Pro SemiBold"/>
                <a:cs typeface="QQGJSQ+Be Vietnam Pro SemiBold"/>
              </a:rPr>
              <a:t>ố</a:t>
            </a:r>
            <a:r>
              <a:rPr sz="120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t </a:t>
            </a:r>
            <a:r>
              <a:rPr sz="1200" spc="-38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nh</a:t>
            </a:r>
            <a:r>
              <a:rPr sz="1200" spc="-41" dirty="0">
                <a:solidFill>
                  <a:srgbClr val="004080"/>
                </a:solidFill>
                <a:latin typeface="QQGJSQ+Be Vietnam Pro SemiBold"/>
                <a:cs typeface="QQGJSQ+Be Vietnam Pro SemiBold"/>
              </a:rPr>
              <a:t>ấ</a:t>
            </a:r>
            <a:r>
              <a:rPr sz="120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t: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15121" y="3638558"/>
            <a:ext cx="2725497" cy="4755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5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Ph</a:t>
            </a:r>
            <a:r>
              <a:rPr sz="1200" b="1" spc="-43" dirty="0">
                <a:solidFill>
                  <a:srgbClr val="004080"/>
                </a:solidFill>
                <a:latin typeface="RUJULI+Be Vietnam Pro Bold"/>
                <a:cs typeface="RUJULI+Be Vietnam Pro Bold"/>
              </a:rPr>
              <a:t>ươ</a:t>
            </a:r>
            <a:r>
              <a:rPr sz="1200" b="1" spc="-43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ng</a:t>
            </a:r>
            <a:r>
              <a:rPr sz="1200" b="1" spc="25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200" b="1" spc="-3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pháp:</a:t>
            </a:r>
            <a:r>
              <a:rPr sz="1200" b="1" spc="28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S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ử</a:t>
            </a:r>
            <a:r>
              <a:rPr sz="1200" spc="-3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3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d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ụ</a:t>
            </a:r>
            <a:r>
              <a:rPr sz="1200" spc="-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ng</a:t>
            </a:r>
            <a:r>
              <a:rPr sz="1200" spc="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các</a:t>
            </a:r>
            <a:r>
              <a:rPr sz="1200" spc="4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mô</a:t>
            </a:r>
            <a:r>
              <a:rPr sz="1200" spc="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hình</a:t>
            </a:r>
          </a:p>
          <a:p>
            <a:pPr marL="0" marR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h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ồ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i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quy</a:t>
            </a:r>
            <a:r>
              <a:rPr sz="1200" spc="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Machine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Learning.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25048" y="3713088"/>
            <a:ext cx="2220014" cy="404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8"/>
              </a:lnSpc>
              <a:spcBef>
                <a:spcPts val="0"/>
              </a:spcBef>
              <a:spcAft>
                <a:spcPts val="0"/>
              </a:spcAft>
            </a:pPr>
            <a:r>
              <a:rPr sz="1000" spc="-2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lr:</a:t>
            </a:r>
            <a:r>
              <a:rPr sz="1000" spc="3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0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0.1, </a:t>
            </a:r>
            <a:r>
              <a:rPr sz="1000" spc="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max_depth:</a:t>
            </a:r>
            <a:r>
              <a:rPr sz="10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000" spc="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5,</a:t>
            </a:r>
            <a:r>
              <a:rPr sz="1000" spc="-2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0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n_est: 200,</a:t>
            </a: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00" spc="1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subsample:</a:t>
            </a:r>
            <a:r>
              <a:rPr sz="10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0.8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12787" y="5062794"/>
            <a:ext cx="3409599" cy="363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63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2.3.</a:t>
            </a:r>
            <a:r>
              <a:rPr sz="1700" b="1" spc="15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So </a:t>
            </a:r>
            <a:r>
              <a:rPr sz="1700" b="1" spc="-18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sánh</a:t>
            </a:r>
            <a:r>
              <a:rPr sz="1700" b="1" spc="18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spc="-1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các</a:t>
            </a:r>
            <a:r>
              <a:rPr sz="1700" b="1" spc="-25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Ph</a:t>
            </a:r>
            <a:r>
              <a:rPr sz="1700" b="1" spc="-21" dirty="0">
                <a:solidFill>
                  <a:srgbClr val="004080"/>
                </a:solidFill>
                <a:latin typeface="RUJULI+Be Vietnam Pro Bold"/>
                <a:cs typeface="RUJULI+Be Vietnam Pro Bold"/>
              </a:rPr>
              <a:t>ươ</a:t>
            </a:r>
            <a:r>
              <a:rPr sz="1700" b="1" spc="-4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ng</a:t>
            </a:r>
            <a:r>
              <a:rPr sz="1700" b="1" spc="3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pháp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34348" y="5062794"/>
            <a:ext cx="4706752" cy="363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63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2.4.</a:t>
            </a:r>
            <a:r>
              <a:rPr sz="1700" b="1" spc="14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dirty="0">
                <a:solidFill>
                  <a:srgbClr val="004080"/>
                </a:solidFill>
                <a:latin typeface="RUJULI+Be Vietnam Pro Bold"/>
                <a:cs typeface="RUJULI+Be Vietnam Pro Bold"/>
              </a:rPr>
              <a:t>Ư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u</a:t>
            </a:r>
            <a:r>
              <a:rPr sz="1700" b="1" spc="-40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&amp;</a:t>
            </a:r>
            <a:r>
              <a:rPr sz="1700" b="1" spc="-37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Nh</a:t>
            </a:r>
            <a:r>
              <a:rPr sz="1700" b="1" spc="-31" dirty="0">
                <a:solidFill>
                  <a:srgbClr val="004080"/>
                </a:solidFill>
                <a:latin typeface="RUJULI+Be Vietnam Pro Bold"/>
                <a:cs typeface="RUJULI+Be Vietnam Pro Bold"/>
              </a:rPr>
              <a:t>ư</a:t>
            </a:r>
            <a:r>
              <a:rPr sz="1700" b="1" dirty="0">
                <a:solidFill>
                  <a:srgbClr val="004080"/>
                </a:solidFill>
                <a:latin typeface="QQAISW+Be Vietnam Pro Bold"/>
                <a:cs typeface="QQAISW+Be Vietnam Pro Bold"/>
              </a:rPr>
              <a:t>ợ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c</a:t>
            </a:r>
            <a:r>
              <a:rPr sz="1700" b="1" spc="-34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spc="-37" dirty="0">
                <a:solidFill>
                  <a:srgbClr val="004080"/>
                </a:solidFill>
                <a:latin typeface="RUJULI+Be Vietnam Pro Bold"/>
                <a:cs typeface="RUJULI+Be Vietnam Pro Bold"/>
              </a:rPr>
              <a:t>đ</a:t>
            </a:r>
            <a:r>
              <a:rPr sz="1700" b="1" spc="2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i</a:t>
            </a:r>
            <a:r>
              <a:rPr sz="1700" b="1" dirty="0">
                <a:solidFill>
                  <a:srgbClr val="004080"/>
                </a:solidFill>
                <a:latin typeface="QQAISW+Be Vietnam Pro Bold"/>
                <a:cs typeface="QQAISW+Be Vietnam Pro Bold"/>
              </a:rPr>
              <a:t>ể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m</a:t>
            </a:r>
            <a:r>
              <a:rPr sz="1700" b="1" spc="-38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 </a:t>
            </a:r>
            <a:r>
              <a:rPr sz="1700" b="1" dirty="0">
                <a:solidFill>
                  <a:srgbClr val="004080"/>
                </a:solidFill>
                <a:latin typeface="NGSAJG+Be Vietnam Pro Bold"/>
                <a:cs typeface="NGSAJG+Be Vietnam Pro Bold"/>
              </a:rPr>
              <a:t>(Gradient Boosting)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03795" y="5572133"/>
            <a:ext cx="3824139" cy="266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46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Đ</a:t>
            </a:r>
            <a:r>
              <a:rPr sz="1200" spc="-2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ánh</a:t>
            </a:r>
            <a:r>
              <a:rPr sz="1200" spc="2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giá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43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đ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ộ</a:t>
            </a:r>
            <a:r>
              <a:rPr sz="1200" spc="-31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chính</a:t>
            </a:r>
            <a:r>
              <a:rPr sz="1200" spc="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xác</a:t>
            </a:r>
            <a:r>
              <a:rPr sz="1200" spc="5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(R²</a:t>
            </a:r>
            <a:r>
              <a:rPr sz="1200" spc="5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3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score)</a:t>
            </a:r>
            <a:r>
              <a:rPr sz="1200" spc="5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qua</a:t>
            </a:r>
            <a:r>
              <a:rPr sz="1200" spc="2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các</a:t>
            </a:r>
            <a:r>
              <a:rPr sz="1200" spc="4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mô</a:t>
            </a:r>
            <a:r>
              <a:rPr sz="1200" spc="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hình: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01134" y="5592853"/>
            <a:ext cx="829040" cy="298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1" dirty="0">
                <a:solidFill>
                  <a:srgbClr val="4CAF50"/>
                </a:solidFill>
                <a:latin typeface="TVWQTK+Be Vietnam Pro SemiBold"/>
                <a:cs typeface="TVWQTK+Be Vietnam Pro SemiBold"/>
              </a:rPr>
              <a:t>Ư</a:t>
            </a:r>
            <a:r>
              <a:rPr sz="1350" dirty="0">
                <a:solidFill>
                  <a:srgbClr val="4CAF50"/>
                </a:solidFill>
                <a:latin typeface="LPFLSU+Be Vietnam Pro SemiBold"/>
                <a:cs typeface="LPFLSU+Be Vietnam Pro SemiBold"/>
              </a:rPr>
              <a:t>u</a:t>
            </a:r>
            <a:r>
              <a:rPr sz="1350" spc="-71" dirty="0">
                <a:solidFill>
                  <a:srgbClr val="4CAF5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spc="-14" dirty="0">
                <a:solidFill>
                  <a:srgbClr val="4CAF50"/>
                </a:solidFill>
                <a:latin typeface="TVWQTK+Be Vietnam Pro SemiBold"/>
                <a:cs typeface="TVWQTK+Be Vietnam Pro SemiBold"/>
              </a:rPr>
              <a:t>đ</a:t>
            </a:r>
            <a:r>
              <a:rPr sz="1350" spc="-10" dirty="0">
                <a:solidFill>
                  <a:srgbClr val="4CAF50"/>
                </a:solidFill>
                <a:latin typeface="LPFLSU+Be Vietnam Pro SemiBold"/>
                <a:cs typeface="LPFLSU+Be Vietnam Pro SemiBold"/>
              </a:rPr>
              <a:t>i</a:t>
            </a:r>
            <a:r>
              <a:rPr sz="1350" dirty="0">
                <a:solidFill>
                  <a:srgbClr val="4CAF50"/>
                </a:solidFill>
                <a:latin typeface="QQGJSQ+Be Vietnam Pro SemiBold"/>
                <a:cs typeface="QQGJSQ+Be Vietnam Pro SemiBold"/>
              </a:rPr>
              <a:t>ể</a:t>
            </a:r>
            <a:r>
              <a:rPr sz="1350" dirty="0">
                <a:solidFill>
                  <a:srgbClr val="4CAF50"/>
                </a:solidFill>
                <a:latin typeface="LPFLSU+Be Vietnam Pro SemiBold"/>
                <a:cs typeface="LPFLSU+Be Vietnam Pro SemiBold"/>
              </a:rPr>
              <a:t>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17058" y="5915033"/>
            <a:ext cx="2757339" cy="780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46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Đ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ộ</a:t>
            </a:r>
            <a:r>
              <a:rPr sz="1200" spc="-31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chính</a:t>
            </a:r>
            <a:r>
              <a:rPr sz="1200" spc="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xác</a:t>
            </a:r>
            <a:r>
              <a:rPr sz="1200" spc="5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r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ấ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3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cao.</a:t>
            </a:r>
          </a:p>
          <a:p>
            <a:pPr marL="0" marR="0">
              <a:lnSpc>
                <a:spcPts val="1794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3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X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ử</a:t>
            </a:r>
            <a:r>
              <a:rPr sz="1200" spc="-3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lý 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ố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3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các</a:t>
            </a:r>
            <a:r>
              <a:rPr sz="1200" spc="4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m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ố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i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quan</a:t>
            </a:r>
            <a:r>
              <a:rPr sz="1200" spc="3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h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ệ</a:t>
            </a:r>
            <a:r>
              <a:rPr sz="1200" spc="18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2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ph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ứ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</a:t>
            </a:r>
            <a:r>
              <a:rPr sz="1200" spc="3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ạ</a:t>
            </a:r>
            <a:r>
              <a:rPr sz="1200" spc="-3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p.</a:t>
            </a:r>
          </a:p>
          <a:p>
            <a:pPr marL="0" marR="0">
              <a:lnSpc>
                <a:spcPts val="1794"/>
              </a:lnSpc>
              <a:spcBef>
                <a:spcPts val="23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Linh </a:t>
            </a:r>
            <a:r>
              <a:rPr sz="1200" spc="-2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ho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ạ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3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v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ớ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i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nhi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ề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u</a:t>
            </a:r>
            <a:r>
              <a:rPr sz="1200" spc="2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lo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ạ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i </a:t>
            </a:r>
            <a:r>
              <a:rPr sz="1200" spc="-3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d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ữ</a:t>
            </a:r>
            <a:r>
              <a:rPr sz="1200" spc="-3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li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ệ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u.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9074" y="6011953"/>
            <a:ext cx="2377180" cy="860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Multiple</a:t>
            </a:r>
            <a:r>
              <a:rPr sz="1350" spc="-36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Linear</a:t>
            </a:r>
            <a:r>
              <a:rPr sz="1350" spc="-75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spc="-3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Regression</a:t>
            </a:r>
          </a:p>
          <a:p>
            <a:pPr marL="0" marR="0">
              <a:lnSpc>
                <a:spcPts val="2050"/>
              </a:lnSpc>
              <a:spcBef>
                <a:spcPts val="2324"/>
              </a:spcBef>
              <a:spcAft>
                <a:spcPts val="0"/>
              </a:spcAft>
            </a:pPr>
            <a:r>
              <a:rPr sz="1350" spc="-11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Decision</a:t>
            </a:r>
            <a:r>
              <a:rPr sz="135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spc="-64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Tree</a:t>
            </a:r>
            <a:r>
              <a:rPr sz="1350" spc="28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spc="-3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Regression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14490" y="6004099"/>
            <a:ext cx="623572" cy="144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07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DC2626"/>
                </a:solidFill>
                <a:latin typeface="ISWTMM+Be Vietnam Pro Bold"/>
                <a:cs typeface="ISWTMM+Be Vietnam Pro Bold"/>
              </a:rPr>
              <a:t>0.96</a:t>
            </a:r>
          </a:p>
          <a:p>
            <a:pPr marL="9525" marR="0">
              <a:lnSpc>
                <a:spcPts val="2307"/>
              </a:lnSpc>
              <a:spcBef>
                <a:spcPts val="2092"/>
              </a:spcBef>
              <a:spcAft>
                <a:spcPts val="0"/>
              </a:spcAft>
            </a:pPr>
            <a:r>
              <a:rPr sz="1500" b="1" dirty="0">
                <a:solidFill>
                  <a:srgbClr val="CA8A04"/>
                </a:solidFill>
                <a:latin typeface="TTBVDM+Be Vietnam Pro Bold"/>
                <a:cs typeface="TTBVDM+Be Vietnam Pro Bold"/>
              </a:rPr>
              <a:t>0.98</a:t>
            </a:r>
          </a:p>
          <a:p>
            <a:pPr marL="0" marR="0">
              <a:lnSpc>
                <a:spcPts val="2307"/>
              </a:lnSpc>
              <a:spcBef>
                <a:spcPts val="2117"/>
              </a:spcBef>
              <a:spcAft>
                <a:spcPts val="0"/>
              </a:spcAft>
            </a:pPr>
            <a:r>
              <a:rPr sz="1500" b="1" dirty="0">
                <a:solidFill>
                  <a:srgbClr val="4CAF50"/>
                </a:solidFill>
                <a:latin typeface="HMFAPK+Be Vietnam Pro Bold"/>
                <a:cs typeface="HMFAPK+Be Vietnam Pro Bold"/>
              </a:rPr>
              <a:t>0.99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01134" y="6783478"/>
            <a:ext cx="1162415" cy="298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Nh</a:t>
            </a:r>
            <a:r>
              <a:rPr sz="1350" spc="33" dirty="0">
                <a:solidFill>
                  <a:srgbClr val="004080"/>
                </a:solidFill>
                <a:latin typeface="JVNFBS+Be Vietnam Pro SemiBold"/>
                <a:cs typeface="JVNFBS+Be Vietnam Pro SemiBold"/>
              </a:rPr>
              <a:t>ư</a:t>
            </a:r>
            <a:r>
              <a:rPr sz="1350" spc="14" dirty="0">
                <a:solidFill>
                  <a:srgbClr val="004080"/>
                </a:solidFill>
                <a:latin typeface="QQGJSQ+Be Vietnam Pro SemiBold"/>
                <a:cs typeface="QQGJSQ+Be Vietnam Pro SemiBold"/>
              </a:rPr>
              <a:t>ợ</a:t>
            </a:r>
            <a:r>
              <a:rPr sz="135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c</a:t>
            </a:r>
            <a:r>
              <a:rPr sz="1350" spc="-54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spc="-14" dirty="0">
                <a:solidFill>
                  <a:srgbClr val="004080"/>
                </a:solidFill>
                <a:latin typeface="JVNFBS+Be Vietnam Pro SemiBold"/>
                <a:cs typeface="JVNFBS+Be Vietnam Pro SemiBold"/>
              </a:rPr>
              <a:t>đ</a:t>
            </a:r>
            <a:r>
              <a:rPr sz="1350" spc="-1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i</a:t>
            </a:r>
            <a:r>
              <a:rPr sz="1350" dirty="0">
                <a:solidFill>
                  <a:srgbClr val="004080"/>
                </a:solidFill>
                <a:latin typeface="QQGJSQ+Be Vietnam Pro SemiBold"/>
                <a:cs typeface="QQGJSQ+Be Vietnam Pro SemiBold"/>
              </a:rPr>
              <a:t>ể</a:t>
            </a:r>
            <a:r>
              <a:rPr sz="135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m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89074" y="7126378"/>
            <a:ext cx="3159629" cy="298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Random</a:t>
            </a:r>
            <a:r>
              <a:rPr sz="1350" spc="-38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spc="-56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Fo</a:t>
            </a:r>
            <a:r>
              <a:rPr sz="1350" spc="-318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spc="-37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rest</a:t>
            </a:r>
            <a:r>
              <a:rPr sz="1350" spc="14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/</a:t>
            </a:r>
            <a:r>
              <a:rPr sz="1350" spc="-75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spc="-1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Gradient</a:t>
            </a:r>
            <a:r>
              <a:rPr sz="1350" spc="-11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 </a:t>
            </a:r>
            <a:r>
              <a:rPr sz="1350" spc="10" dirty="0">
                <a:solidFill>
                  <a:srgbClr val="004080"/>
                </a:solidFill>
                <a:latin typeface="LPFLSU+Be Vietnam Pro SemiBold"/>
                <a:cs typeface="LPFLSU+Be Vietnam Pro SemiBold"/>
              </a:rPr>
              <a:t>Boosting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717058" y="7115183"/>
            <a:ext cx="3757464" cy="77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49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D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ễ</a:t>
            </a:r>
            <a:r>
              <a:rPr sz="1200" spc="18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3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b</a:t>
            </a:r>
            <a:r>
              <a:rPr sz="1200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ị</a:t>
            </a:r>
            <a:r>
              <a:rPr sz="1200" spc="-31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quá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kh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ớ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p </a:t>
            </a:r>
            <a:r>
              <a:rPr sz="1200" spc="-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(overﬁtting)</a:t>
            </a:r>
            <a:r>
              <a:rPr sz="1200" spc="3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ế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u</a:t>
            </a:r>
            <a:r>
              <a:rPr sz="1200" spc="2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không</a:t>
            </a:r>
            <a:r>
              <a:rPr sz="1200" spc="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tinh ch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ỉ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nh.</a:t>
            </a:r>
          </a:p>
          <a:p>
            <a:pPr marL="0" marR="0">
              <a:lnSpc>
                <a:spcPts val="1794"/>
              </a:lnSpc>
              <a:spcBef>
                <a:spcPts val="230"/>
              </a:spcBef>
              <a:spcAft>
                <a:spcPts val="0"/>
              </a:spcAft>
            </a:pPr>
            <a:r>
              <a:rPr sz="1200" spc="-3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ố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nhi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ề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u</a:t>
            </a:r>
            <a:r>
              <a:rPr sz="1200" spc="2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tài</a:t>
            </a:r>
            <a:r>
              <a:rPr sz="1200" spc="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nguyên</a:t>
            </a:r>
            <a:r>
              <a:rPr sz="1200" spc="3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tính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toán</a:t>
            </a:r>
            <a:r>
              <a:rPr sz="1200" spc="2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và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th</a:t>
            </a:r>
            <a:r>
              <a:rPr sz="1200" spc="-31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ờ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i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gian.</a:t>
            </a:r>
          </a:p>
          <a:p>
            <a:pPr marL="0" marR="0">
              <a:lnSpc>
                <a:spcPts val="1794"/>
              </a:lnSpc>
              <a:spcBef>
                <a:spcPts val="155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Khó </a:t>
            </a:r>
            <a:r>
              <a:rPr sz="1200" spc="-2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di</a:t>
            </a:r>
            <a:r>
              <a:rPr sz="1200" spc="18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ễ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gi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ả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i </a:t>
            </a:r>
            <a:r>
              <a:rPr sz="1200" spc="-25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h</a:t>
            </a:r>
            <a:r>
              <a:rPr sz="1200" spc="-20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ơ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các</a:t>
            </a:r>
            <a:r>
              <a:rPr sz="1200" spc="47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mô</a:t>
            </a:r>
            <a:r>
              <a:rPr sz="1200" spc="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hình</a:t>
            </a:r>
            <a:r>
              <a:rPr sz="1200" spc="21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31" dirty="0">
                <a:solidFill>
                  <a:srgbClr val="004080"/>
                </a:solidFill>
                <a:latin typeface="CKJKGK+Be Vietnam Pro Regular"/>
                <a:cs typeface="CKJKGK+Be Vietnam Pro Regular"/>
              </a:rPr>
              <a:t>đơ</a:t>
            </a:r>
            <a:r>
              <a:rPr sz="120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</a:t>
            </a:r>
            <a:r>
              <a:rPr sz="1200" spc="10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gi</a:t>
            </a:r>
            <a:r>
              <a:rPr sz="1200" spc="-34" dirty="0">
                <a:solidFill>
                  <a:srgbClr val="004080"/>
                </a:solidFill>
                <a:latin typeface="HTGICJ+Be Vietnam Pro Regular"/>
                <a:cs typeface="HTGICJ+Be Vietnam Pro Regular"/>
              </a:rPr>
              <a:t>ả</a:t>
            </a:r>
            <a:r>
              <a:rPr sz="1200" spc="-12" dirty="0">
                <a:solidFill>
                  <a:srgbClr val="004080"/>
                </a:solidFill>
                <a:latin typeface="SAMBRE+Be Vietnam Pro Regular"/>
                <a:cs typeface="SAMBRE+Be Vietnam Pro Regular"/>
              </a:rPr>
              <a:t>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7232" y="-23614"/>
            <a:ext cx="5189705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II. </a:t>
            </a:r>
            <a:r>
              <a:rPr sz="3000" b="1" spc="-44" dirty="0">
                <a:solidFill>
                  <a:srgbClr val="FFFFFF"/>
                </a:solidFill>
                <a:latin typeface="DejaVu Sans"/>
                <a:cs typeface="DejaVu Sans"/>
              </a:rPr>
              <a:t>PHÁT</a:t>
            </a:r>
            <a:r>
              <a:rPr sz="3000" b="1" spc="6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FFFFFF"/>
                </a:solidFill>
                <a:latin typeface="DejaVu Sans"/>
                <a:cs typeface="DejaVu Sans"/>
              </a:rPr>
              <a:t>BIỂU</a:t>
            </a:r>
            <a:r>
              <a:rPr sz="3000" b="1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FFFFFF"/>
                </a:solidFill>
                <a:latin typeface="DejaVu Sans"/>
                <a:cs typeface="DejaVu Sans"/>
              </a:rPr>
              <a:t>BÀI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TOÁN</a:t>
            </a:r>
          </a:p>
        </p:txBody>
      </p:sp>
      <p:sp>
        <p:nvSpPr>
          <p:cNvPr id="3" name="object 2"/>
          <p:cNvSpPr/>
          <p:nvPr/>
        </p:nvSpPr>
        <p:spPr>
          <a:xfrm>
            <a:off x="0" y="0"/>
            <a:ext cx="12192000" cy="8445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05980" y="533362"/>
            <a:ext cx="713223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4CAF50"/>
                </a:solidFill>
                <a:latin typeface="DejaVu Sans"/>
                <a:cs typeface="DejaVu Sans"/>
              </a:rPr>
              <a:t>Các</a:t>
            </a:r>
            <a:r>
              <a:rPr sz="2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4CAF50"/>
                </a:solidFill>
                <a:latin typeface="DejaVu Sans"/>
                <a:cs typeface="DejaVu Sans"/>
              </a:rPr>
              <a:t>Phương</a:t>
            </a:r>
            <a:r>
              <a:rPr sz="2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4CAF50"/>
                </a:solidFill>
                <a:latin typeface="DejaVu Sans"/>
                <a:cs typeface="DejaVu Sans"/>
              </a:rPr>
              <a:t>Pháp</a:t>
            </a:r>
            <a:r>
              <a:rPr sz="2000" b="1" dirty="0">
                <a:solidFill>
                  <a:srgbClr val="4CAF50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4CAF50"/>
                </a:solidFill>
                <a:latin typeface="DejaVu Sans"/>
                <a:cs typeface="DejaVu Sans"/>
              </a:rPr>
              <a:t>Thuật</a:t>
            </a:r>
            <a:r>
              <a:rPr sz="2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b="1" spc="-58" dirty="0">
                <a:solidFill>
                  <a:srgbClr val="4CAF50"/>
                </a:solidFill>
                <a:latin typeface="DejaVu Sans"/>
                <a:cs typeface="DejaVu Sans"/>
              </a:rPr>
              <a:t>Toán</a:t>
            </a:r>
            <a:r>
              <a:rPr sz="2000" b="1" spc="75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4CAF50"/>
                </a:solidFill>
                <a:latin typeface="DejaVu Sans"/>
                <a:cs typeface="DejaVu Sans"/>
              </a:rPr>
              <a:t>Dự</a:t>
            </a:r>
            <a:r>
              <a:rPr sz="2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4CAF50"/>
                </a:solidFill>
                <a:latin typeface="DejaVu Sans"/>
                <a:cs typeface="DejaVu Sans"/>
              </a:rPr>
              <a:t>Báo</a:t>
            </a:r>
            <a:r>
              <a:rPr sz="2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4CAF50"/>
                </a:solidFill>
                <a:latin typeface="DejaVu Sans"/>
                <a:cs typeface="DejaVu Sans"/>
              </a:rPr>
              <a:t>Thời</a:t>
            </a:r>
            <a:r>
              <a:rPr sz="2000" b="1" dirty="0">
                <a:solidFill>
                  <a:srgbClr val="4CAF50"/>
                </a:solidFill>
                <a:latin typeface="DejaVu Sans"/>
                <a:cs typeface="DejaVu Sans"/>
              </a:rPr>
              <a:t> Tiết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0812" y="2011246"/>
            <a:ext cx="301682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AI-Powered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004080"/>
                </a:solidFill>
                <a:latin typeface="DejaVu Sans"/>
                <a:cs typeface="DejaVu Sans"/>
              </a:rPr>
              <a:t>Forecasting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8819" y="2011246"/>
            <a:ext cx="365132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8" dirty="0">
                <a:solidFill>
                  <a:srgbClr val="004080"/>
                </a:solidFill>
                <a:latin typeface="DejaVu Sans"/>
                <a:cs typeface="DejaVu Sans"/>
              </a:rPr>
              <a:t>Traditional</a:t>
            </a:r>
            <a:r>
              <a:rPr sz="1700" b="1" spc="12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Machine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34082" y="2432610"/>
            <a:ext cx="437239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Aardvark</a:t>
            </a:r>
            <a:r>
              <a:rPr sz="12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25" dirty="0">
                <a:solidFill>
                  <a:srgbClr val="111827"/>
                </a:solidFill>
                <a:latin typeface="DejaVu Sans"/>
                <a:cs typeface="DejaVu Sans"/>
              </a:rPr>
              <a:t>Weather</a:t>
            </a:r>
            <a:r>
              <a:rPr sz="12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(Cambridge):</a:t>
            </a:r>
            <a:r>
              <a:rPr sz="1200" b="1" spc="-37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Nhanh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xác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02089" y="2432610"/>
            <a:ext cx="450923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Gradient</a:t>
            </a:r>
            <a:r>
              <a:rPr sz="12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Boosting</a:t>
            </a:r>
            <a:r>
              <a:rPr sz="1200" b="1" spc="-10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Regressor:</a:t>
            </a:r>
            <a:r>
              <a:rPr sz="1200" b="1" spc="-37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Xây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dựng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chuỗi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374151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34082" y="2642160"/>
            <a:ext cx="252106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hơn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siêu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máy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tính,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chi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phí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thấp.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02089" y="2642160"/>
            <a:ext cx="191762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cải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thiện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sai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liên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tục.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34082" y="2946960"/>
            <a:ext cx="42844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111827"/>
                </a:solidFill>
                <a:latin typeface="DejaVu Sans"/>
                <a:cs typeface="DejaVu Sans"/>
              </a:rPr>
              <a:t>GraphCast</a:t>
            </a:r>
            <a:r>
              <a:rPr sz="12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(Google</a:t>
            </a:r>
            <a:r>
              <a:rPr sz="1200" b="1" spc="-10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111827"/>
                </a:solidFill>
                <a:latin typeface="DejaVu Sans"/>
                <a:cs typeface="DejaVu Sans"/>
              </a:rPr>
              <a:t>DeepMind):</a:t>
            </a:r>
            <a:r>
              <a:rPr sz="1200" b="1" spc="-37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báo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cầu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10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02089" y="2946960"/>
            <a:ext cx="434553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111827"/>
                </a:solidFill>
                <a:latin typeface="DejaVu Sans"/>
                <a:cs typeface="DejaVu Sans"/>
              </a:rPr>
              <a:t>Random</a:t>
            </a:r>
            <a:r>
              <a:rPr sz="1200" b="1" spc="-17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25" dirty="0">
                <a:solidFill>
                  <a:srgbClr val="111827"/>
                </a:solidFill>
                <a:latin typeface="DejaVu Sans"/>
                <a:cs typeface="DejaVu Sans"/>
              </a:rPr>
              <a:t>Forest</a:t>
            </a:r>
            <a:r>
              <a:rPr sz="12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Regression:</a:t>
            </a:r>
            <a:r>
              <a:rPr sz="1200" b="1" spc="-37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Kết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hợp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nhiều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cây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quyết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34082" y="3156510"/>
            <a:ext cx="251574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ngày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vượt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trội.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202089" y="3156510"/>
            <a:ext cx="18155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định,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overﬁtting.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34082" y="3461310"/>
            <a:ext cx="441520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111827"/>
                </a:solidFill>
                <a:latin typeface="DejaVu Sans"/>
                <a:cs typeface="DejaVu Sans"/>
              </a:rPr>
              <a:t>IBM</a:t>
            </a:r>
            <a:r>
              <a:rPr sz="1200" b="1" spc="-18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23" dirty="0">
                <a:solidFill>
                  <a:srgbClr val="111827"/>
                </a:solidFill>
                <a:latin typeface="DejaVu Sans"/>
                <a:cs typeface="DejaVu Sans"/>
              </a:rPr>
              <a:t>Weather:</a:t>
            </a:r>
            <a:r>
              <a:rPr sz="1200" b="1" spc="-30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89%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báo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thiên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tai.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202089" y="3461310"/>
            <a:ext cx="44315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111827"/>
                </a:solidFill>
                <a:latin typeface="DejaVu Sans"/>
                <a:cs typeface="DejaVu Sans"/>
              </a:rPr>
              <a:t>Decision</a:t>
            </a:r>
            <a:r>
              <a:rPr sz="1200" b="1" spc="-1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43" dirty="0">
                <a:solidFill>
                  <a:srgbClr val="111827"/>
                </a:solidFill>
                <a:latin typeface="DejaVu Sans"/>
                <a:cs typeface="DejaVu Sans"/>
              </a:rPr>
              <a:t>Tree</a:t>
            </a:r>
            <a:r>
              <a:rPr sz="1200" b="1" spc="18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Regression:</a:t>
            </a:r>
            <a:r>
              <a:rPr sz="1200" b="1" spc="-37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Đơn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giản,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dễ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diễn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giải,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hiệu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202089" y="3670860"/>
            <a:ext cx="215976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quả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hệ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tuyến.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34082" y="3756585"/>
            <a:ext cx="457124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111827"/>
                </a:solidFill>
                <a:latin typeface="DejaVu Sans"/>
                <a:cs typeface="DejaVu Sans"/>
              </a:rPr>
              <a:t>Tổng</a:t>
            </a:r>
            <a:r>
              <a:rPr sz="12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111827"/>
                </a:solidFill>
                <a:latin typeface="DejaVu Sans"/>
                <a:cs typeface="DejaVu Sans"/>
              </a:rPr>
              <a:t>quan:</a:t>
            </a:r>
            <a:r>
              <a:rPr sz="1200" b="1" spc="-36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Petabyte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liệu,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mối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hệ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34082" y="3966135"/>
            <a:ext cx="200275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phức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tạp,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cảnh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báo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sớm.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202089" y="3966135"/>
            <a:ext cx="45176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111827"/>
                </a:solidFill>
                <a:latin typeface="DejaVu Sans"/>
                <a:cs typeface="DejaVu Sans"/>
              </a:rPr>
              <a:t>Multiple</a:t>
            </a:r>
            <a:r>
              <a:rPr sz="1200" b="1" spc="-10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Linear</a:t>
            </a:r>
            <a:r>
              <a:rPr sz="1200" b="1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111827"/>
                </a:solidFill>
                <a:latin typeface="DejaVu Sans"/>
                <a:cs typeface="DejaVu Sans"/>
              </a:rPr>
              <a:t>Regression:</a:t>
            </a:r>
            <a:r>
              <a:rPr sz="1200" b="1" spc="-37" dirty="0">
                <a:solidFill>
                  <a:srgbClr val="111827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Phân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tích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đa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biến,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đoán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202089" y="4185210"/>
            <a:ext cx="123590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giá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trị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liên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tục.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64641" y="5107626"/>
            <a:ext cx="11163144" cy="575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"AI đang cách mạng hóa dự báo thời tiết, mang lại độ chính xác, tốc độ và khả năng cảnh báo sớm vượt trội so với</a:t>
            </a:r>
          </a:p>
          <a:p>
            <a:pPr marL="0" marR="0">
              <a:lnSpc>
                <a:spcPts val="1760"/>
              </a:lnSpc>
              <a:spcBef>
                <a:spcPts val="664"/>
              </a:spcBef>
              <a:spcAft>
                <a:spcPts val="0"/>
              </a:spcAft>
            </a:pP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các phương pháp truyền thống."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20812" y="6392746"/>
            <a:ext cx="209448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30" dirty="0">
                <a:solidFill>
                  <a:srgbClr val="004080"/>
                </a:solidFill>
                <a:latin typeface="DejaVu Sans"/>
                <a:cs typeface="DejaVu Sans"/>
              </a:rPr>
              <a:t>Key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Advantages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988819" y="6392746"/>
            <a:ext cx="315667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Challenges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&amp;</a:t>
            </a:r>
            <a:r>
              <a:rPr sz="1700" b="1" spc="-25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Limitations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334690" y="6823635"/>
            <a:ext cx="3886186" cy="52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cao,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vượt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trội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374151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truyền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thống.</a:t>
            </a:r>
          </a:p>
          <a:p>
            <a:pPr marL="0" marR="0">
              <a:lnSpc>
                <a:spcPts val="1368"/>
              </a:lnSpc>
              <a:spcBef>
                <a:spcPts val="1056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Tốc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 nhanh,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thiểu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chi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phí.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302697" y="6823635"/>
            <a:ext cx="3106285" cy="52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Đầu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tư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ban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đầu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lớn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(hạ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tầng,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nhân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lực).</a:t>
            </a:r>
          </a:p>
          <a:p>
            <a:pPr marL="0" marR="0">
              <a:lnSpc>
                <a:spcPts val="1368"/>
              </a:lnSpc>
              <a:spcBef>
                <a:spcPts val="1056"/>
              </a:spcBef>
              <a:spcAft>
                <a:spcPts val="0"/>
              </a:spcAft>
            </a:pPr>
            <a:r>
              <a:rPr sz="1200" spc="-62" dirty="0">
                <a:solidFill>
                  <a:srgbClr val="374151"/>
                </a:solidFill>
                <a:latin typeface="DejaVu Sans"/>
                <a:cs typeface="DejaVu Sans"/>
              </a:rPr>
              <a:t>Yêu</a:t>
            </a:r>
            <a:r>
              <a:rPr sz="1200" spc="38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cầu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chất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lượng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cao,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sạch.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34690" y="7442760"/>
            <a:ext cx="3490405" cy="52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74151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quả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khối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lượng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khổng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lồ.</a:t>
            </a:r>
          </a:p>
          <a:p>
            <a:pPr marL="0" marR="0">
              <a:lnSpc>
                <a:spcPts val="1368"/>
              </a:lnSpc>
              <a:spcBef>
                <a:spcPts val="1056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Cảnh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báo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sớm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thiên tai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khí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hậu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cực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đoan.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302697" y="7442760"/>
            <a:ext cx="331845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Phức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tạp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374151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phát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triển,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bảo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trì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374151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379219" y="7757085"/>
            <a:ext cx="5709124" cy="500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3478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Tính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thích</a:t>
            </a:r>
            <a:r>
              <a:rPr sz="1200" spc="-11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74151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374151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2" dirty="0" err="1">
                <a:solidFill>
                  <a:srgbClr val="374151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DejaVu Sans"/>
                <a:cs typeface="DejaVu Sans"/>
              </a:rPr>
              <a:t>"</a:t>
            </a:r>
            <a:r>
              <a:rPr lang="en-US" sz="1200" spc="-14" dirty="0" err="1">
                <a:solidFill>
                  <a:srgbClr val="374151"/>
                </a:solidFill>
                <a:latin typeface="DejaVu Sans"/>
                <a:cs typeface="DejaVu Sans"/>
              </a:rPr>
              <a:t>hộp</a:t>
            </a:r>
            <a:r>
              <a:rPr lang="en-US" sz="120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lang="en-US" sz="1200" spc="-14" dirty="0" err="1">
                <a:solidFill>
                  <a:srgbClr val="374151"/>
                </a:solidFill>
                <a:latin typeface="DejaVu Sans"/>
                <a:cs typeface="DejaVu Sans"/>
              </a:rPr>
              <a:t>đen</a:t>
            </a:r>
            <a:r>
              <a:rPr lang="en-US" sz="1200" spc="-14" dirty="0">
                <a:solidFill>
                  <a:srgbClr val="374151"/>
                </a:solidFill>
                <a:latin typeface="DejaVu Sans"/>
                <a:cs typeface="DejaVu Sans"/>
              </a:rPr>
              <a:t>".</a:t>
            </a:r>
          </a:p>
          <a:p>
            <a:pPr marL="0" marR="0">
              <a:lnSpc>
                <a:spcPts val="1173"/>
              </a:lnSpc>
              <a:spcBef>
                <a:spcPts val="1336"/>
              </a:spcBef>
              <a:spcAft>
                <a:spcPts val="0"/>
              </a:spcAft>
            </a:pPr>
            <a:endParaRPr lang="en-US" sz="1000" spc="-31" dirty="0">
              <a:solidFill>
                <a:srgbClr val="004080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391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46003" y="376231"/>
            <a:ext cx="4852323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III. </a:t>
            </a:r>
            <a:r>
              <a:rPr sz="3000" b="1" spc="15" dirty="0">
                <a:solidFill>
                  <a:srgbClr val="004080"/>
                </a:solidFill>
                <a:latin typeface="Liberation Sans"/>
                <a:cs typeface="Liberation Sans"/>
              </a:rPr>
              <a:t>THU</a:t>
            </a:r>
            <a:r>
              <a:rPr sz="3000" b="1" spc="126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3000" b="1" spc="2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TOÁN</a:t>
            </a:r>
            <a:r>
              <a:rPr sz="3000" b="1" spc="2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004080"/>
                </a:solidFill>
                <a:latin typeface="Liberation Sans"/>
                <a:cs typeface="Liberation Sans"/>
              </a:rPr>
              <a:t>CHI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080"/>
                </a:solidFill>
                <a:latin typeface="Liberation Sans"/>
                <a:cs typeface="Liberation Sans"/>
              </a:rPr>
              <a:t>TI</a:t>
            </a:r>
            <a:r>
              <a:rPr sz="3000" b="1" spc="103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72222" y="868754"/>
            <a:ext cx="439988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7" dirty="0">
                <a:solidFill>
                  <a:srgbClr val="004080"/>
                </a:solidFill>
                <a:latin typeface="Liberation Sans"/>
                <a:cs typeface="Liberation Sans"/>
              </a:rPr>
              <a:t>Mô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hình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thu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ậ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1700" spc="-1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toán: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Liberation Sans"/>
                <a:cs typeface="Liberation Sans"/>
              </a:rPr>
              <a:t>Phân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tích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 Input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&amp;</a:t>
            </a:r>
            <a:r>
              <a:rPr sz="1700" spc="-2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Output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5976" y="1720846"/>
            <a:ext cx="3922073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3.1. Multiple Linear Regression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8967" y="1720846"/>
            <a:ext cx="3780454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3.2. Decision </a:t>
            </a:r>
            <a:r>
              <a:rPr sz="2000" b="1" spc="-21" dirty="0">
                <a:solidFill>
                  <a:srgbClr val="004080"/>
                </a:solidFill>
                <a:latin typeface="Liberation Sans"/>
                <a:cs typeface="Liberation Sans"/>
              </a:rPr>
              <a:t>Tree</a:t>
            </a:r>
            <a:r>
              <a:rPr sz="2000" b="1" spc="3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Regression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233093"/>
            <a:ext cx="499309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hóa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quan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200" spc="37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tuy</a:t>
            </a:r>
            <a:r>
              <a:rPr sz="1200" spc="11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tính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 gi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sz="1200" spc="11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sz="12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(nhi</a:t>
            </a:r>
            <a:r>
              <a:rPr sz="1200" spc="11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 đ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)</a:t>
            </a:r>
            <a:r>
              <a:rPr sz="1200" spc="-15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Liberation Sans"/>
                <a:cs typeface="Liberation Sans"/>
              </a:rPr>
              <a:t>và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sz="1200" spc="11" dirty="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79976" y="2233093"/>
            <a:ext cx="51476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74151"/>
                </a:solidFill>
                <a:latin typeface="Liberation Sans"/>
                <a:cs typeface="Liberation Sans"/>
              </a:rPr>
              <a:t>Xây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hình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Liberation Sans"/>
                <a:cs typeface="Liberation Sans"/>
              </a:rPr>
              <a:t>cây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374151"/>
                </a:solidFill>
                <a:latin typeface="Liberation Sans"/>
                <a:cs typeface="Liberation Sans"/>
              </a:rPr>
              <a:t>quy</a:t>
            </a:r>
            <a:r>
              <a:rPr sz="1200" spc="11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 đ</a:t>
            </a:r>
            <a:r>
              <a:rPr sz="1200" spc="-33" dirty="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nh,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liên</a:t>
            </a:r>
            <a:r>
              <a:rPr sz="1200" spc="-11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phân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chia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sz="12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trên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6984" y="2442643"/>
            <a:ext cx="463930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bi</a:t>
            </a:r>
            <a:r>
              <a:rPr sz="1200" spc="11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l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(y</a:t>
            </a:r>
            <a:r>
              <a:rPr sz="1200" spc="11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ờ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ti</a:t>
            </a:r>
            <a:r>
              <a:rPr sz="1200" spc="11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t)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200" spc="37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tìm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ra</a:t>
            </a:r>
            <a:r>
              <a:rPr sz="1200" spc="-11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ph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ươ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trình</a:t>
            </a:r>
            <a:r>
              <a:rPr sz="1200" spc="-11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phù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nh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9976" y="2442643"/>
            <a:ext cx="307701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374151"/>
                </a:solidFill>
                <a:latin typeface="Liberation Sans"/>
                <a:cs typeface="Liberation Sans"/>
              </a:rPr>
              <a:t>các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200" spc="37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200" spc="1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374151"/>
                </a:solidFill>
                <a:latin typeface="Liberation Sans"/>
                <a:cs typeface="Liberation Sans"/>
              </a:rPr>
              <a:t>đoán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Liberation Sans"/>
                <a:cs typeface="Liberation Sans"/>
              </a:rPr>
              <a:t>giá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spc="-11" dirty="0">
                <a:solidFill>
                  <a:srgbClr val="374151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liên</a:t>
            </a:r>
            <a:r>
              <a:rPr sz="1200" spc="-11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200" spc="-10" dirty="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sz="1200" spc="-11" dirty="0">
                <a:solidFill>
                  <a:srgbClr val="374151"/>
                </a:solidFill>
                <a:latin typeface="Liberation Sans"/>
                <a:cs typeface="Liberation Sans"/>
              </a:rPr>
              <a:t>c.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234808" y="2913060"/>
            <a:ext cx="1717737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  <a:latin typeface="Liberation Sans"/>
                <a:cs typeface="Liberation Sans"/>
              </a:rPr>
              <a:t>S</a:t>
            </a:r>
            <a:r>
              <a:rPr sz="1000" b="1" spc="607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1000" b="1" spc="607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080"/>
                </a:solidFill>
                <a:latin typeface="Liberation Sans"/>
                <a:cs typeface="Liberation Sans"/>
              </a:rPr>
              <a:t>phân nhánh chi ti</a:t>
            </a:r>
            <a:r>
              <a:rPr sz="1000" b="1" spc="32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2654" y="4846105"/>
            <a:ext cx="1403565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1350" b="1" spc="44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u vào (Input)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45646" y="5074705"/>
            <a:ext cx="1403567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1350" b="1" spc="44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u vào (Input)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4976" y="5170485"/>
            <a:ext cx="1505896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maxtempC, mintempC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4976" y="5380035"/>
            <a:ext cx="1456523" cy="1038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cloudcover, humidity</a:t>
            </a:r>
          </a:p>
          <a:p>
            <a:pPr marL="0" marR="0">
              <a:lnSpc>
                <a:spcPts val="1126"/>
              </a:lnSpc>
              <a:spcBef>
                <a:spcPts val="573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sunHour, HeatIndexC</a:t>
            </a:r>
          </a:p>
          <a:p>
            <a:pPr marL="0" marR="0">
              <a:lnSpc>
                <a:spcPts val="1126"/>
              </a:lnSpc>
              <a:spcBef>
                <a:spcPts val="598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precipMM, pressure</a:t>
            </a:r>
          </a:p>
          <a:p>
            <a:pPr marL="0" marR="0">
              <a:lnSpc>
                <a:spcPts val="1126"/>
              </a:lnSpc>
              <a:spcBef>
                <a:spcPts val="573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windspeedKmph</a:t>
            </a:r>
          </a:p>
          <a:p>
            <a:pPr marL="0" marR="0">
              <a:lnSpc>
                <a:spcPts val="1126"/>
              </a:lnSpc>
              <a:spcBef>
                <a:spcPts val="598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date_time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974454" y="5341405"/>
            <a:ext cx="1412976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Đ</a:t>
            </a:r>
            <a:r>
              <a:rPr sz="1350" b="1" spc="44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u ra (Output)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07967" y="5399085"/>
            <a:ext cx="1505899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maxtempC, mintempC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817446" y="5465230"/>
            <a:ext cx="1412976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Đ</a:t>
            </a:r>
            <a:r>
              <a:rPr sz="1350" b="1" spc="44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u ra (Output)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07967" y="5608635"/>
            <a:ext cx="1456521" cy="1038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cloudcover, humidity</a:t>
            </a:r>
          </a:p>
          <a:p>
            <a:pPr marL="0" marR="0">
              <a:lnSpc>
                <a:spcPts val="1126"/>
              </a:lnSpc>
              <a:spcBef>
                <a:spcPts val="648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sunHour, HeatIndexC</a:t>
            </a:r>
          </a:p>
          <a:p>
            <a:pPr marL="0" marR="0">
              <a:lnSpc>
                <a:spcPts val="1126"/>
              </a:lnSpc>
              <a:spcBef>
                <a:spcPts val="523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precipMM, pressure</a:t>
            </a:r>
          </a:p>
          <a:p>
            <a:pPr marL="0" marR="0">
              <a:lnSpc>
                <a:spcPts val="1126"/>
              </a:lnSpc>
              <a:spcBef>
                <a:spcPts val="598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windspeedKmph</a:t>
            </a:r>
          </a:p>
          <a:p>
            <a:pPr marL="0" marR="0">
              <a:lnSpc>
                <a:spcPts val="1126"/>
              </a:lnSpc>
              <a:spcBef>
                <a:spcPts val="573"/>
              </a:spcBef>
              <a:spcAft>
                <a:spcPts val="0"/>
              </a:spcAft>
            </a:pPr>
            <a:r>
              <a:rPr sz="1000" dirty="0">
                <a:solidFill>
                  <a:srgbClr val="1F2937"/>
                </a:solidFill>
                <a:latin typeface="Liberation Sans"/>
                <a:cs typeface="Liberation Sans"/>
              </a:rPr>
              <a:t>• date_time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154090" y="5683775"/>
            <a:ext cx="81623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080"/>
                </a:solidFill>
                <a:latin typeface="Liberation Sans"/>
                <a:cs typeface="Liberation Sans"/>
              </a:rPr>
              <a:t>tempC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997082" y="5798075"/>
            <a:ext cx="81623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080"/>
                </a:solidFill>
                <a:latin typeface="Liberation Sans"/>
                <a:cs typeface="Liberation Sans"/>
              </a:rPr>
              <a:t>tempC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980110" y="5967647"/>
            <a:ext cx="116375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(Nhi</a:t>
            </a:r>
            <a:r>
              <a:rPr sz="1000" spc="-15" dirty="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t đ</a:t>
            </a:r>
            <a:r>
              <a:rPr sz="1000" dirty="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sz="1000" spc="18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000" spc="40" dirty="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c t</a:t>
            </a:r>
            <a:r>
              <a:rPr sz="1000" spc="-15" dirty="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823101" y="6081947"/>
            <a:ext cx="116375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(Nhi</a:t>
            </a:r>
            <a:r>
              <a:rPr sz="1000" spc="-15" dirty="0">
                <a:solidFill>
                  <a:srgbClr val="4B5563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t đ</a:t>
            </a:r>
            <a:r>
              <a:rPr sz="1000" dirty="0">
                <a:solidFill>
                  <a:srgbClr val="4B5563"/>
                </a:solidFill>
                <a:latin typeface="DejaVu Sans"/>
                <a:cs typeface="DejaVu Sans"/>
              </a:rPr>
              <a:t>ộ</a:t>
            </a:r>
            <a:r>
              <a:rPr sz="1000" spc="18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000" spc="40" dirty="0">
                <a:solidFill>
                  <a:srgbClr val="4B5563"/>
                </a:solidFill>
                <a:latin typeface="DejaVu Sans"/>
                <a:cs typeface="DejaVu Sans"/>
              </a:rPr>
              <a:t>ự</a:t>
            </a: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c t</a:t>
            </a:r>
            <a:r>
              <a:rPr sz="1000" spc="-15" dirty="0">
                <a:solidFill>
                  <a:srgbClr val="4B5563"/>
                </a:solidFill>
                <a:latin typeface="DejaVu Sans"/>
                <a:cs typeface="DejaVu Sans"/>
              </a:rPr>
              <a:t>ế</a:t>
            </a:r>
            <a:r>
              <a:rPr sz="1000" dirty="0">
                <a:solidFill>
                  <a:srgbClr val="4B5563"/>
                </a:solidFill>
                <a:latin typeface="Liberation Sans"/>
                <a:cs typeface="Liberation Sans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78398" y="357892"/>
            <a:ext cx="5587363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III.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TOÁN</a:t>
            </a:r>
            <a:r>
              <a:rPr sz="3000" b="1" spc="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CHI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004080"/>
                </a:solidFill>
                <a:latin typeface="DejaVu Sans"/>
                <a:cs typeface="DejaVu Sans"/>
              </a:rPr>
              <a:t>TIẾT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9462" y="1640279"/>
            <a:ext cx="391437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3.3.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Random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27" dirty="0">
                <a:solidFill>
                  <a:srgbClr val="004080"/>
                </a:solidFill>
                <a:latin typeface="DejaVu Sans"/>
                <a:cs typeface="DejaVu Sans"/>
              </a:rPr>
              <a:t>Forest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Regression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2454" y="1640279"/>
            <a:ext cx="416137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3.4.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Gradient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Boosting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Regressor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9462" y="1937063"/>
            <a:ext cx="251018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6B7280"/>
                </a:solidFill>
                <a:latin typeface="DejaVu Sans"/>
                <a:cs typeface="DejaVu Sans"/>
              </a:rPr>
              <a:t>Minh họa quy trình </a:t>
            </a:r>
            <a:r>
              <a:rPr sz="1350" spc="-18" dirty="0">
                <a:solidFill>
                  <a:srgbClr val="6B7280"/>
                </a:solidFill>
                <a:latin typeface="DejaVu Sans"/>
                <a:cs typeface="DejaVu Sans"/>
              </a:rPr>
              <a:t>"Voting"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22454" y="1937063"/>
            <a:ext cx="293810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6B7280"/>
                </a:solidFill>
                <a:latin typeface="DejaVu Sans"/>
                <a:cs typeface="DejaVu Sans"/>
              </a:rPr>
              <a:t>Giải thích </a:t>
            </a:r>
            <a:r>
              <a:rPr sz="1350" spc="-11" dirty="0">
                <a:solidFill>
                  <a:srgbClr val="6B7280"/>
                </a:solidFill>
                <a:latin typeface="DejaVu Sans"/>
                <a:cs typeface="DejaVu Sans"/>
              </a:rPr>
              <a:t>Loss</a:t>
            </a:r>
            <a:r>
              <a:rPr sz="1350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350" spc="-14" dirty="0">
                <a:solidFill>
                  <a:srgbClr val="6B7280"/>
                </a:solidFill>
                <a:latin typeface="DejaVu Sans"/>
                <a:cs typeface="DejaVu Sans"/>
              </a:rPr>
              <a:t>Function</a:t>
            </a:r>
            <a:r>
              <a:rPr sz="1350" dirty="0">
                <a:solidFill>
                  <a:srgbClr val="6B7280"/>
                </a:solidFill>
                <a:latin typeface="DejaVu Sans"/>
                <a:cs typeface="DejaVu Sans"/>
              </a:rPr>
              <a:t> &amp; Tối ưu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0470" y="2318818"/>
            <a:ext cx="3102499" cy="63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4080"/>
                </a:solidFill>
                <a:latin typeface="DejaVu Sans"/>
                <a:cs typeface="DejaVu Sans"/>
              </a:rPr>
              <a:t>Tổng</a:t>
            </a:r>
            <a:r>
              <a:rPr sz="12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4080"/>
                </a:solidFill>
                <a:latin typeface="DejaVu Sans"/>
                <a:cs typeface="DejaVu Sans"/>
              </a:rPr>
              <a:t>quan:</a:t>
            </a:r>
            <a:r>
              <a:rPr sz="1200" b="1" spc="-36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Là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004080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ensemble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mạnh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004080"/>
                </a:solidFill>
                <a:latin typeface="DejaVu Sans"/>
                <a:cs typeface="DejaVu Sans"/>
              </a:rPr>
              <a:t>mẽ,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xây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dựng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từ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nhiều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cây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quyết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độc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lập.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13462" y="2318818"/>
            <a:ext cx="2964684" cy="63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4080"/>
                </a:solidFill>
                <a:latin typeface="DejaVu Sans"/>
                <a:cs typeface="DejaVu Sans"/>
              </a:rPr>
              <a:t>Tổng</a:t>
            </a:r>
            <a:r>
              <a:rPr sz="12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4080"/>
                </a:solidFill>
                <a:latin typeface="DejaVu Sans"/>
                <a:cs typeface="DejaVu Sans"/>
              </a:rPr>
              <a:t>quan:</a:t>
            </a:r>
            <a:r>
              <a:rPr sz="1200" b="1" spc="-36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Xây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dựng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tuần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tự,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cây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sau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sửa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lỗi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(residuals)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cây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trước.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0470" y="3042718"/>
            <a:ext cx="3102731" cy="1059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4080"/>
                </a:solidFill>
                <a:latin typeface="DejaVu Sans"/>
                <a:cs typeface="DejaVu Sans"/>
              </a:rPr>
              <a:t>Quy</a:t>
            </a:r>
            <a:r>
              <a:rPr sz="12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004080"/>
                </a:solidFill>
                <a:latin typeface="DejaVu Sans"/>
                <a:cs typeface="DejaVu Sans"/>
              </a:rPr>
              <a:t>trình</a:t>
            </a:r>
            <a:r>
              <a:rPr sz="1200" b="1" spc="-14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b="1" spc="-23" dirty="0">
                <a:solidFill>
                  <a:srgbClr val="004080"/>
                </a:solidFill>
                <a:latin typeface="DejaVu Sans"/>
                <a:cs typeface="DejaVu Sans"/>
              </a:rPr>
              <a:t>"Voting":</a:t>
            </a:r>
            <a:r>
              <a:rPr sz="1200" b="1" spc="-3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Mỗi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cây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đưa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ra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0" dirty="0">
                <a:solidFill>
                  <a:srgbClr val="004080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đoán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độc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lập.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Kết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quả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cuối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cùng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là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giá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trị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trung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bình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tất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cả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đoán,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giúp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phương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sai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overﬁtting.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13462" y="3042718"/>
            <a:ext cx="3041022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4080"/>
                </a:solidFill>
                <a:latin typeface="DejaVu Sans"/>
                <a:cs typeface="DejaVu Sans"/>
              </a:rPr>
              <a:t>Loss</a:t>
            </a:r>
            <a:r>
              <a:rPr sz="12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b="1" spc="-21" dirty="0">
                <a:solidFill>
                  <a:srgbClr val="004080"/>
                </a:solidFill>
                <a:latin typeface="DejaVu Sans"/>
                <a:cs typeface="DejaVu Sans"/>
              </a:rPr>
              <a:t>Function:</a:t>
            </a:r>
            <a:r>
              <a:rPr sz="1200" b="1" spc="-3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Đo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lường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sự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khác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biệt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giữa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đoán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giá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trị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thực.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Mục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tiêu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là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thiểu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hàm </a:t>
            </a:r>
            <a:r>
              <a:rPr sz="1200" spc="-52" dirty="0">
                <a:solidFill>
                  <a:srgbClr val="004080"/>
                </a:solidFill>
                <a:latin typeface="DejaVu Sans"/>
                <a:cs typeface="DejaVu Sans"/>
              </a:rPr>
              <a:t>này.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13462" y="3766618"/>
            <a:ext cx="3009634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4080"/>
                </a:solidFill>
                <a:latin typeface="DejaVu Sans"/>
                <a:cs typeface="DejaVu Sans"/>
              </a:rPr>
              <a:t>Quy</a:t>
            </a:r>
            <a:r>
              <a:rPr sz="12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b="1" spc="-11" dirty="0">
                <a:solidFill>
                  <a:srgbClr val="004080"/>
                </a:solidFill>
                <a:latin typeface="DejaVu Sans"/>
                <a:cs typeface="DejaVu Sans"/>
              </a:rPr>
              <a:t>trình</a:t>
            </a:r>
            <a:r>
              <a:rPr sz="1200" b="1" spc="-14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4080"/>
                </a:solidFill>
                <a:latin typeface="DejaVu Sans"/>
                <a:cs typeface="DejaVu Sans"/>
              </a:rPr>
              <a:t>Tối</a:t>
            </a:r>
            <a:r>
              <a:rPr sz="12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4080"/>
                </a:solidFill>
                <a:latin typeface="DejaVu Sans"/>
                <a:cs typeface="DejaVu Sans"/>
              </a:rPr>
              <a:t>ưu:</a:t>
            </a:r>
            <a:r>
              <a:rPr sz="1200" b="1" spc="-36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Mỗi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cây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004080"/>
                </a:solidFill>
                <a:latin typeface="DejaVu Sans"/>
                <a:cs typeface="DejaVu Sans"/>
              </a:rPr>
              <a:t>mới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học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0" dirty="0">
                <a:solidFill>
                  <a:srgbClr val="004080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gradient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âm</a:t>
            </a:r>
            <a:r>
              <a:rPr sz="1200" spc="-1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hàm </a:t>
            </a:r>
            <a:r>
              <a:rPr sz="1200" spc="-20" dirty="0">
                <a:solidFill>
                  <a:srgbClr val="004080"/>
                </a:solidFill>
                <a:latin typeface="DejaVu Sans"/>
                <a:cs typeface="DejaVu Sans"/>
              </a:rPr>
              <a:t>mất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mát,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hướng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tới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việc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thiểu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lỗi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tổng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thể.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0470" y="4195243"/>
            <a:ext cx="2937644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004080"/>
                </a:solidFill>
                <a:latin typeface="DejaVu Sans"/>
                <a:cs typeface="DejaVu Sans"/>
              </a:rPr>
              <a:t>Ưu</a:t>
            </a:r>
            <a:r>
              <a:rPr sz="12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4080"/>
                </a:solidFill>
                <a:latin typeface="DejaVu Sans"/>
                <a:cs typeface="DejaVu Sans"/>
              </a:rPr>
              <a:t>điểm:</a:t>
            </a:r>
            <a:r>
              <a:rPr sz="1200" b="1" spc="-36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thiểu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nhiễu,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tăng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độ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khả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năng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tổng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quát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hóa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0470" y="5432738"/>
            <a:ext cx="190611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DejaVu Sans"/>
                <a:cs typeface="DejaVu Sans"/>
              </a:rPr>
              <a:t>Hiệu suất mô hình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13462" y="5480363"/>
            <a:ext cx="202287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DejaVu Sans"/>
                <a:cs typeface="DejaVu Sans"/>
              </a:rPr>
              <a:t>Siêu tham số tối ưu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140873" y="5480363"/>
            <a:ext cx="230031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DejaVu Sans"/>
                <a:cs typeface="DejaVu Sans"/>
              </a:rPr>
              <a:t>Đánh giá trên tập </a:t>
            </a:r>
            <a:r>
              <a:rPr sz="1350" b="1" spc="-47" dirty="0">
                <a:solidFill>
                  <a:srgbClr val="4CAF50"/>
                </a:solidFill>
                <a:latin typeface="DejaVu Sans"/>
                <a:cs typeface="DejaVu Sans"/>
              </a:rPr>
              <a:t>Test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01935" y="5772620"/>
            <a:ext cx="78410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0.47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896641" y="5772620"/>
            <a:ext cx="78410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0.63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91347" y="5772620"/>
            <a:ext cx="78410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4CAF50"/>
                </a:solidFill>
                <a:latin typeface="DejaVu Sans"/>
                <a:cs typeface="DejaVu Sans"/>
              </a:rPr>
              <a:t>0.99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13462" y="5758097"/>
            <a:ext cx="619362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10" dirty="0">
                <a:solidFill>
                  <a:srgbClr val="004080"/>
                </a:solidFill>
                <a:latin typeface="DejaVu Sans"/>
                <a:cs typeface="DejaVu Sans"/>
              </a:rPr>
              <a:t>LR:</a:t>
            </a:r>
            <a:r>
              <a:rPr sz="1000" spc="1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0.1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Split: </a:t>
            </a: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784454" y="5758097"/>
            <a:ext cx="1187690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Depth: </a:t>
            </a: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5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Estimators: </a:t>
            </a: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200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140873" y="5758097"/>
            <a:ext cx="913503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MAE: </a:t>
            </a: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0.51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RMSE: </a:t>
            </a: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0.81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411866" y="5758097"/>
            <a:ext cx="896803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MSE: </a:t>
            </a: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0.66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b="1" dirty="0">
                <a:solidFill>
                  <a:srgbClr val="4CAF50"/>
                </a:solidFill>
                <a:latin typeface="DejaVu Sans"/>
                <a:cs typeface="DejaVu Sans"/>
              </a:rPr>
              <a:t>R²: 0.9908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78297" y="6100997"/>
            <a:ext cx="43130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MAE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076128" y="6100997"/>
            <a:ext cx="42499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MSE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637335" y="6100997"/>
            <a:ext cx="69181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R² Score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513462" y="6100997"/>
            <a:ext cx="117196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Subsample: </a:t>
            </a: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0.8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0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78398" y="357892"/>
            <a:ext cx="5587363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III.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TOÁN</a:t>
            </a:r>
            <a:r>
              <a:rPr sz="3000" b="1" spc="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CHI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004080"/>
                </a:solidFill>
                <a:latin typeface="DejaVu Sans"/>
                <a:cs typeface="DejaVu Sans"/>
              </a:rPr>
              <a:t>TIẾT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10942" y="867245"/>
            <a:ext cx="3922449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4CAF50"/>
                </a:solidFill>
                <a:latin typeface="DejaVu Sans"/>
                <a:cs typeface="DejaVu Sans"/>
              </a:rPr>
              <a:t>      </a:t>
            </a:r>
            <a:r>
              <a:rPr sz="2000" dirty="0" err="1">
                <a:solidFill>
                  <a:srgbClr val="4CAF50"/>
                </a:solidFill>
                <a:latin typeface="DejaVu Sans"/>
                <a:cs typeface="DejaVu Sans"/>
              </a:rPr>
              <a:t>Giới</a:t>
            </a:r>
            <a:r>
              <a:rPr sz="2000" dirty="0">
                <a:solidFill>
                  <a:srgbClr val="4CAF50"/>
                </a:solidFill>
                <a:latin typeface="DejaVu Sans"/>
                <a:cs typeface="DejaVu Sans"/>
              </a:rPr>
              <a:t> thiệu &amp;</a:t>
            </a:r>
            <a:r>
              <a:rPr sz="2000" spc="17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4CAF50"/>
                </a:solidFill>
                <a:latin typeface="DejaVu Sans"/>
                <a:cs typeface="DejaVu Sans"/>
              </a:rPr>
              <a:t>Phân</a:t>
            </a:r>
            <a:r>
              <a:rPr sz="200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dirty="0" err="1">
                <a:solidFill>
                  <a:srgbClr val="4CAF50"/>
                </a:solidFill>
                <a:latin typeface="DejaVu Sans"/>
                <a:cs typeface="DejaVu Sans"/>
              </a:rPr>
              <a:t>tích</a:t>
            </a:r>
            <a:r>
              <a:rPr sz="200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endParaRPr lang="en-US" sz="2000" dirty="0">
              <a:solidFill>
                <a:srgbClr val="4CAF50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spc="11" dirty="0">
                <a:solidFill>
                  <a:srgbClr val="4CAF50"/>
                </a:solidFill>
                <a:latin typeface="DejaVu Sans"/>
                <a:cs typeface="DejaVu Sans"/>
              </a:rPr>
              <a:t>	      </a:t>
            </a:r>
            <a:r>
              <a:rPr sz="2000" spc="11" dirty="0" err="1">
                <a:solidFill>
                  <a:srgbClr val="4CAF50"/>
                </a:solidFill>
                <a:latin typeface="DejaVu Sans"/>
                <a:cs typeface="DejaVu Sans"/>
              </a:rPr>
              <a:t>Dữ</a:t>
            </a:r>
            <a:r>
              <a:rPr sz="2000" dirty="0">
                <a:solidFill>
                  <a:srgbClr val="4CAF50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16533" y="1764104"/>
            <a:ext cx="438923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3.5.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Bộ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dữ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liệu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Kapur: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Thống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58" dirty="0">
                <a:solidFill>
                  <a:srgbClr val="004080"/>
                </a:solidFill>
                <a:latin typeface="DejaVu Sans"/>
                <a:cs typeface="DejaVu Sans"/>
              </a:rPr>
              <a:t>kê</a:t>
            </a:r>
            <a:r>
              <a:rPr sz="1700" b="1" spc="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21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59525" y="1764104"/>
            <a:ext cx="433362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3.6.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Các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thuộc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4080"/>
                </a:solidFill>
                <a:latin typeface="DejaVu Sans"/>
                <a:cs typeface="DejaVu Sans"/>
              </a:rPr>
              <a:t>tính 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&amp;</a:t>
            </a:r>
            <a:r>
              <a:rPr sz="1700" b="1" spc="-25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Phân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phối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dữ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16533" y="2059379"/>
            <a:ext cx="39836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004080"/>
                </a:solidFill>
                <a:latin typeface="DejaVu Sans"/>
                <a:cs typeface="DejaVu Sans"/>
              </a:rPr>
              <a:t>tả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59525" y="2059379"/>
            <a:ext cx="59526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6984" y="2527613"/>
            <a:ext cx="5120826" cy="1522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Bộ dữ liệu </a:t>
            </a:r>
            <a:r>
              <a:rPr sz="1350" spc="-10" dirty="0">
                <a:solidFill>
                  <a:srgbClr val="374151"/>
                </a:solidFill>
                <a:latin typeface="DejaVu Sans"/>
                <a:cs typeface="DejaVu Sans"/>
              </a:rPr>
              <a:t>Kapur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là tập hợp dữ liệu khí tượng, đóng vai </a:t>
            </a:r>
            <a:r>
              <a:rPr sz="1350" spc="-18" dirty="0">
                <a:solidFill>
                  <a:srgbClr val="374151"/>
                </a:solidFill>
                <a:latin typeface="DejaVu Sans"/>
                <a:cs typeface="DejaVu Sans"/>
              </a:rPr>
              <a:t>trò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nền tảng để huấn luyện các mô hình dự </a:t>
            </a:r>
            <a:r>
              <a:rPr sz="1350" spc="-11" dirty="0">
                <a:solidFill>
                  <a:srgbClr val="374151"/>
                </a:solidFill>
                <a:latin typeface="DejaVu Sans"/>
                <a:cs typeface="DejaVu Sans"/>
              </a:rPr>
              <a:t>báo.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spc="-14" dirty="0">
                <a:solidFill>
                  <a:srgbClr val="374151"/>
                </a:solidFill>
                <a:latin typeface="DejaVu Sans"/>
                <a:cs typeface="DejaVu Sans"/>
              </a:rPr>
              <a:t>Việc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phân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tích thống </a:t>
            </a:r>
            <a:r>
              <a:rPr sz="1350" spc="-51" dirty="0">
                <a:solidFill>
                  <a:srgbClr val="374151"/>
                </a:solidFill>
                <a:latin typeface="DejaVu Sans"/>
                <a:cs typeface="DejaVu Sans"/>
              </a:rPr>
              <a:t>kê</a:t>
            </a:r>
            <a:r>
              <a:rPr sz="1350" spc="4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mô tả (như giá trị trung bình, độ lệch chuẩn,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min/max) giúp hiểu 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rõ</a:t>
            </a:r>
            <a:r>
              <a:rPr sz="1350" spc="25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đặc tính cơ bản và phát hiện các</a:t>
            </a:r>
          </a:p>
          <a:p>
            <a:pPr marL="0" marR="0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điểm bất thường, là bước quan trọng đầu tiên </a:t>
            </a:r>
            <a:r>
              <a:rPr sz="1350" spc="-10" dirty="0">
                <a:solidFill>
                  <a:srgbClr val="374151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 quy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trình xây dựng mô hình AI.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9976" y="4413563"/>
            <a:ext cx="4995370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Các thuộc tính chính bao gồm các yếu tố khí tượng quan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trọng: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50532" y="5109643"/>
            <a:ext cx="97281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1F2937"/>
                </a:solidFill>
                <a:latin typeface="DejaVu Sans"/>
                <a:cs typeface="DejaVu Sans"/>
              </a:rPr>
              <a:t>maxtempC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273330" y="5138218"/>
            <a:ext cx="929059" cy="564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mintempC</a:t>
            </a:r>
          </a:p>
          <a:p>
            <a:pPr marL="0" marR="0">
              <a:lnSpc>
                <a:spcPts val="1368"/>
              </a:lnSpc>
              <a:spcBef>
                <a:spcPts val="1356"/>
              </a:spcBef>
              <a:spcAft>
                <a:spcPts val="0"/>
              </a:spcAft>
            </a:pPr>
            <a:r>
              <a:rPr sz="1200" spc="-12" dirty="0">
                <a:solidFill>
                  <a:srgbClr val="1F2937"/>
                </a:solidFill>
                <a:latin typeface="DejaVu Sans"/>
                <a:cs typeface="DejaVu Sans"/>
              </a:rPr>
              <a:t>humidity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50532" y="5490643"/>
            <a:ext cx="972012" cy="564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1F2937"/>
                </a:solidFill>
                <a:latin typeface="DejaVu Sans"/>
                <a:cs typeface="DejaVu Sans"/>
              </a:rPr>
              <a:t>cloudcover</a:t>
            </a:r>
          </a:p>
          <a:p>
            <a:pPr marL="0" marR="0">
              <a:lnSpc>
                <a:spcPts val="1368"/>
              </a:lnSpc>
              <a:spcBef>
                <a:spcPts val="1356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tempC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73330" y="5843068"/>
            <a:ext cx="77927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sunHour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50532" y="6185968"/>
            <a:ext cx="1024738" cy="56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HeatIndexC</a:t>
            </a:r>
          </a:p>
          <a:p>
            <a:pPr marL="0" marR="0">
              <a:lnSpc>
                <a:spcPts val="1368"/>
              </a:lnSpc>
              <a:spcBef>
                <a:spcPts val="1356"/>
              </a:spcBef>
              <a:spcAft>
                <a:spcPts val="0"/>
              </a:spcAft>
            </a:pPr>
            <a:r>
              <a:rPr sz="1200" spc="-20" dirty="0">
                <a:solidFill>
                  <a:srgbClr val="1F2937"/>
                </a:solidFill>
                <a:latin typeface="DejaVu Sans"/>
                <a:cs typeface="DejaVu Sans"/>
              </a:rPr>
              <a:t>pressure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273330" y="6185968"/>
            <a:ext cx="87662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1F2937"/>
                </a:solidFill>
                <a:latin typeface="DejaVu Sans"/>
                <a:cs typeface="DejaVu Sans"/>
              </a:rPr>
              <a:t>precipMM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273330" y="6538393"/>
            <a:ext cx="138958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F2937"/>
                </a:solidFill>
                <a:latin typeface="DejaVu Sans"/>
                <a:cs typeface="DejaVu Sans"/>
              </a:rPr>
              <a:t>windspeedKmph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28104" y="7489383"/>
            <a:ext cx="1032619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"Dữ liệu chất lượng là nền tảng cốt lõi để xây dựng </a:t>
            </a:r>
            <a:r>
              <a:rPr sz="1500" spc="10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500" dirty="0">
                <a:solidFill>
                  <a:srgbClr val="004080"/>
                </a:solidFill>
                <a:latin typeface="DejaVu Sans"/>
                <a:cs typeface="DejaVu Sans"/>
              </a:rPr>
              <a:t> hình AI dự báo thời tiết chính xác và đáng tin </a:t>
            </a:r>
            <a:r>
              <a:rPr sz="1500" spc="-37" dirty="0">
                <a:solidFill>
                  <a:srgbClr val="004080"/>
                </a:solidFill>
                <a:latin typeface="DejaVu Sans"/>
                <a:cs typeface="DejaVu Sans"/>
              </a:rPr>
              <a:t>cậy."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143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78398" y="357892"/>
            <a:ext cx="5587363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III.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TOÁN</a:t>
            </a:r>
            <a:r>
              <a:rPr sz="3000" b="1" spc="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CHI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004080"/>
                </a:solidFill>
                <a:latin typeface="DejaVu Sans"/>
                <a:cs typeface="DejaVu Sans"/>
              </a:rPr>
              <a:t>TIẾT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58269" y="914870"/>
            <a:ext cx="382770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4CAF50"/>
                </a:solidFill>
                <a:latin typeface="DejaVu Sans"/>
                <a:cs typeface="DejaVu Sans"/>
              </a:rPr>
              <a:t>Chuẩn</a:t>
            </a:r>
            <a:r>
              <a:rPr sz="200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4CAF50"/>
                </a:solidFill>
                <a:latin typeface="DejaVu Sans"/>
                <a:cs typeface="DejaVu Sans"/>
              </a:rPr>
              <a:t>bị</a:t>
            </a:r>
            <a:r>
              <a:rPr sz="2000" dirty="0">
                <a:solidFill>
                  <a:srgbClr val="4CAF50"/>
                </a:solidFill>
                <a:latin typeface="DejaVu Sans"/>
                <a:cs typeface="DejaVu Sans"/>
              </a:rPr>
              <a:t> &amp;</a:t>
            </a:r>
            <a:r>
              <a:rPr sz="2000" spc="17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4CAF50"/>
                </a:solidFill>
                <a:latin typeface="DejaVu Sans"/>
                <a:cs typeface="DejaVu Sans"/>
              </a:rPr>
              <a:t>Phân</a:t>
            </a:r>
            <a:r>
              <a:rPr sz="2000" dirty="0">
                <a:solidFill>
                  <a:srgbClr val="4CAF50"/>
                </a:solidFill>
                <a:latin typeface="DejaVu Sans"/>
                <a:cs typeface="DejaVu Sans"/>
              </a:rPr>
              <a:t> tích </a:t>
            </a:r>
            <a:r>
              <a:rPr sz="2000" spc="11" dirty="0">
                <a:solidFill>
                  <a:srgbClr val="4CAF50"/>
                </a:solidFill>
                <a:latin typeface="DejaVu Sans"/>
                <a:cs typeface="DejaVu Sans"/>
              </a:rPr>
              <a:t>Dữ</a:t>
            </a:r>
            <a:r>
              <a:rPr sz="2000" dirty="0">
                <a:solidFill>
                  <a:srgbClr val="4CAF50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076" y="1848320"/>
            <a:ext cx="434342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3.7.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Chuẩn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bị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Tiền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xử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 lý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004080"/>
                </a:solidFill>
                <a:latin typeface="DejaVu Sans"/>
                <a:cs typeface="DejaVu Sans"/>
              </a:rPr>
              <a:t>Dữ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69632" y="1848320"/>
            <a:ext cx="458828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3.8.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Phân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 tích </a:t>
            </a:r>
            <a:r>
              <a:rPr sz="2000" b="1" spc="12" dirty="0">
                <a:solidFill>
                  <a:srgbClr val="004080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 liệu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Thăm dò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4076" y="2191220"/>
            <a:ext cx="68384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69632" y="2191220"/>
            <a:ext cx="97200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(EDA)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084" y="2708588"/>
            <a:ext cx="495614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Quy trình nền tảng, đảm bảo dữ liệu đầu vào chất lượng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và có định dạng phù hợp cho mô hình học </a:t>
            </a:r>
            <a:r>
              <a:rPr sz="1350" spc="-51" dirty="0">
                <a:solidFill>
                  <a:srgbClr val="004080"/>
                </a:solidFill>
                <a:latin typeface="DejaVu Sans"/>
                <a:cs typeface="DejaVu Sans"/>
              </a:rPr>
              <a:t>máy.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60640" y="2708588"/>
            <a:ext cx="481490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Khám phá các đặc điểm, phân phối và mối quan hệ ẩn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spc="-10" dirty="0">
                <a:solidFill>
                  <a:srgbClr val="004080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 dữ liệu trước khi xây dựng mô hình chính thức.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8962" y="3346763"/>
            <a:ext cx="482641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Làm sạch:</a:t>
            </a:r>
            <a:r>
              <a:rPr sz="1350" b="1" spc="-4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Xử lý các giá trị thiếu, dữ liệu nhiễu và loại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74519" y="3346763"/>
            <a:ext cx="479664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40" dirty="0">
                <a:solidFill>
                  <a:srgbClr val="004080"/>
                </a:solidFill>
                <a:latin typeface="DejaVu Sans"/>
                <a:cs typeface="DejaVu Sans"/>
              </a:rPr>
              <a:t>Trực</a:t>
            </a:r>
            <a:r>
              <a:rPr sz="1350" b="1" spc="34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quan hóa phân phối:</a:t>
            </a:r>
            <a:r>
              <a:rPr sz="1350" b="1" spc="-4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Dùng Histogram, </a:t>
            </a:r>
            <a:r>
              <a:rPr sz="1350" spc="-10" dirty="0">
                <a:solidFill>
                  <a:srgbClr val="004080"/>
                </a:solidFill>
                <a:latin typeface="DejaVu Sans"/>
                <a:cs typeface="DejaVu Sans"/>
              </a:rPr>
              <a:t>Boxplot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88962" y="3603938"/>
            <a:ext cx="202682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bỏ các điểm ngoại lai.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74519" y="3603938"/>
            <a:ext cx="307281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để hiểu sự phân bổ của từng biến.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88962" y="3946838"/>
            <a:ext cx="469228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Chuyển đổi:</a:t>
            </a:r>
            <a:r>
              <a:rPr sz="1350" b="1" spc="-4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Chuẩn hóa (Standardization) hoặc tỷ lệ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74519" y="3946838"/>
            <a:ext cx="4633676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Phân tích tương quan:</a:t>
            </a:r>
            <a:r>
              <a:rPr sz="1350" b="1" spc="-4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Sử dụng Heatmap để nhận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diện nhanh chóng mối liên hệ tuyến tính giữa 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biến.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88962" y="4204013"/>
            <a:ext cx="279874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hóa (Scaling) các đặc trưng số.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88962" y="4537388"/>
            <a:ext cx="467969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Mã hóa:</a:t>
            </a:r>
            <a:r>
              <a:rPr sz="1350" b="1" spc="-4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Chuyển đổi các biến phân loại (categorical)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88962" y="4794563"/>
            <a:ext cx="347903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thành dạng số để mô hình có thể xử </a:t>
            </a:r>
            <a:r>
              <a:rPr sz="1350" spc="-66" dirty="0">
                <a:solidFill>
                  <a:srgbClr val="004080"/>
                </a:solidFill>
                <a:latin typeface="DejaVu Sans"/>
                <a:cs typeface="DejaVu Sans"/>
              </a:rPr>
              <a:t>lý.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74519" y="4794563"/>
            <a:ext cx="465492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Khám phá mẫu:</a:t>
            </a:r>
            <a:r>
              <a:rPr sz="1350" b="1" spc="-4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Tìm kiếm các mẫu, xu hướng hoặc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74519" y="5051738"/>
            <a:ext cx="298828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các điểm dị thường </a:t>
            </a:r>
            <a:r>
              <a:rPr sz="1350" spc="-10" dirty="0">
                <a:solidFill>
                  <a:srgbClr val="004080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 dữ liệu.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8143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2342" y="357892"/>
            <a:ext cx="7719672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21" dirty="0">
                <a:solidFill>
                  <a:srgbClr val="004080"/>
                </a:solidFill>
                <a:latin typeface="DejaVu Sans"/>
                <a:cs typeface="DejaVu Sans"/>
              </a:rPr>
              <a:t>IV.</a:t>
            </a:r>
            <a:r>
              <a:rPr sz="3000" b="1" spc="1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080"/>
                </a:solidFill>
                <a:latin typeface="DejaVu Sans"/>
                <a:cs typeface="DejaVu Sans"/>
              </a:rPr>
              <a:t>KẾT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QUẢ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HUẤN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-10" dirty="0">
                <a:solidFill>
                  <a:srgbClr val="004080"/>
                </a:solidFill>
                <a:latin typeface="DejaVu Sans"/>
                <a:cs typeface="DejaVu Sans"/>
              </a:rPr>
              <a:t>LUYỆN</a:t>
            </a:r>
            <a:r>
              <a:rPr sz="3000" b="1" spc="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23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3383" y="1172045"/>
            <a:ext cx="232666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Multiple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Linear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77955" y="1343495"/>
            <a:ext cx="377883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Decision </a:t>
            </a:r>
            <a:r>
              <a:rPr sz="2000" b="1" spc="-47" dirty="0">
                <a:solidFill>
                  <a:srgbClr val="004080"/>
                </a:solidFill>
                <a:latin typeface="DejaVu Sans"/>
                <a:cs typeface="DejaVu Sans"/>
              </a:rPr>
              <a:t>Tree</a:t>
            </a:r>
            <a:r>
              <a:rPr sz="2000" b="1" spc="63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Regression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98388" y="1514945"/>
            <a:ext cx="175710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Regression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96585" y="2631633"/>
            <a:ext cx="941794" cy="672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9246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004080"/>
                </a:solidFill>
                <a:latin typeface="DejaVu Sans"/>
                <a:cs typeface="DejaVu Sans"/>
              </a:rPr>
              <a:t>MAE</a:t>
            </a:r>
          </a:p>
          <a:p>
            <a:pPr marL="0" marR="0">
              <a:lnSpc>
                <a:spcPts val="2932"/>
              </a:lnSpc>
              <a:spcBef>
                <a:spcPts val="304"/>
              </a:spcBef>
              <a:spcAft>
                <a:spcPts val="0"/>
              </a:spcAft>
            </a:pPr>
            <a:r>
              <a:rPr sz="2500" b="1" spc="10" dirty="0">
                <a:solidFill>
                  <a:srgbClr val="004080"/>
                </a:solidFill>
                <a:latin typeface="DejaVu Sans"/>
                <a:cs typeface="DejaVu Sans"/>
              </a:rPr>
              <a:t>0.56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06029" y="2803083"/>
            <a:ext cx="941794" cy="672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9097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004080"/>
                </a:solidFill>
                <a:latin typeface="DejaVu Sans"/>
                <a:cs typeface="DejaVu Sans"/>
              </a:rPr>
              <a:t>MAE</a:t>
            </a:r>
          </a:p>
          <a:p>
            <a:pPr marL="0" marR="0">
              <a:lnSpc>
                <a:spcPts val="2932"/>
              </a:lnSpc>
              <a:spcBef>
                <a:spcPts val="304"/>
              </a:spcBef>
              <a:spcAft>
                <a:spcPts val="0"/>
              </a:spcAft>
            </a:pPr>
            <a:r>
              <a:rPr sz="2500" b="1" spc="10" dirty="0">
                <a:solidFill>
                  <a:srgbClr val="004080"/>
                </a:solidFill>
                <a:latin typeface="DejaVu Sans"/>
                <a:cs typeface="DejaVu Sans"/>
              </a:rPr>
              <a:t>1.20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96585" y="4250883"/>
            <a:ext cx="941794" cy="682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55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004080"/>
                </a:solidFill>
                <a:latin typeface="DejaVu Sans"/>
                <a:cs typeface="DejaVu Sans"/>
              </a:rPr>
              <a:t>MSE</a:t>
            </a:r>
          </a:p>
          <a:p>
            <a:pPr marL="0" marR="0">
              <a:lnSpc>
                <a:spcPts val="2932"/>
              </a:lnSpc>
              <a:spcBef>
                <a:spcPts val="379"/>
              </a:spcBef>
              <a:spcAft>
                <a:spcPts val="0"/>
              </a:spcAft>
            </a:pPr>
            <a:r>
              <a:rPr sz="2500" b="1" spc="10" dirty="0">
                <a:solidFill>
                  <a:srgbClr val="004080"/>
                </a:solidFill>
                <a:latin typeface="DejaVu Sans"/>
                <a:cs typeface="DejaVu Sans"/>
              </a:rPr>
              <a:t>1.12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06029" y="4422333"/>
            <a:ext cx="941794" cy="672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306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004080"/>
                </a:solidFill>
                <a:latin typeface="DejaVu Sans"/>
                <a:cs typeface="DejaVu Sans"/>
              </a:rPr>
              <a:t>MSE</a:t>
            </a:r>
          </a:p>
          <a:p>
            <a:pPr marL="0" marR="0">
              <a:lnSpc>
                <a:spcPts val="2932"/>
              </a:lnSpc>
              <a:spcBef>
                <a:spcPts val="304"/>
              </a:spcBef>
              <a:spcAft>
                <a:spcPts val="0"/>
              </a:spcAft>
            </a:pPr>
            <a:r>
              <a:rPr sz="2500" b="1" spc="10" dirty="0">
                <a:solidFill>
                  <a:srgbClr val="004080"/>
                </a:solidFill>
                <a:latin typeface="DejaVu Sans"/>
                <a:cs typeface="DejaVu Sans"/>
              </a:rPr>
              <a:t>2.51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537351" y="5870133"/>
            <a:ext cx="1060055" cy="682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080"/>
                </a:solidFill>
                <a:latin typeface="DejaVu Sans"/>
                <a:cs typeface="DejaVu Sans"/>
              </a:rPr>
              <a:t>R² Score</a:t>
            </a:r>
          </a:p>
          <a:p>
            <a:pPr marL="59233" marR="0">
              <a:lnSpc>
                <a:spcPts val="2932"/>
              </a:lnSpc>
              <a:spcBef>
                <a:spcPts val="379"/>
              </a:spcBef>
              <a:spcAft>
                <a:spcPts val="0"/>
              </a:spcAft>
            </a:pPr>
            <a:r>
              <a:rPr sz="2500" b="1" spc="10" dirty="0">
                <a:solidFill>
                  <a:srgbClr val="4CAF50"/>
                </a:solidFill>
                <a:latin typeface="DejaVu Sans"/>
                <a:cs typeface="DejaVu Sans"/>
              </a:rPr>
              <a:t>0.98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46795" y="6041583"/>
            <a:ext cx="1060056" cy="682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080"/>
                </a:solidFill>
                <a:latin typeface="DejaVu Sans"/>
                <a:cs typeface="DejaVu Sans"/>
              </a:rPr>
              <a:t>R² Score</a:t>
            </a:r>
          </a:p>
          <a:p>
            <a:pPr marL="59233" marR="0">
              <a:lnSpc>
                <a:spcPts val="2932"/>
              </a:lnSpc>
              <a:spcBef>
                <a:spcPts val="379"/>
              </a:spcBef>
              <a:spcAft>
                <a:spcPts val="0"/>
              </a:spcAft>
            </a:pPr>
            <a:r>
              <a:rPr sz="2500" b="1" spc="10" dirty="0">
                <a:solidFill>
                  <a:srgbClr val="004080"/>
                </a:solidFill>
                <a:latin typeface="DejaVu Sans"/>
                <a:cs typeface="DejaVu Sans"/>
              </a:rPr>
              <a:t>0.96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98724" y="7317179"/>
            <a:ext cx="894690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0" dirty="0">
                <a:solidFill>
                  <a:srgbClr val="004080"/>
                </a:solidFill>
                <a:latin typeface="DejaVu Sans"/>
                <a:cs typeface="DejaVu Sans"/>
              </a:rPr>
              <a:t>Decision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79" dirty="0">
                <a:solidFill>
                  <a:srgbClr val="004080"/>
                </a:solidFill>
                <a:latin typeface="DejaVu Sans"/>
                <a:cs typeface="DejaVu Sans"/>
              </a:rPr>
              <a:t>Tree</a:t>
            </a:r>
            <a:r>
              <a:rPr sz="1700" spc="6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23" dirty="0">
                <a:solidFill>
                  <a:srgbClr val="004080"/>
                </a:solidFill>
                <a:latin typeface="DejaVu Sans"/>
                <a:cs typeface="DejaVu Sans"/>
              </a:rPr>
              <a:t>Regression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4CAF50"/>
                </a:solidFill>
                <a:latin typeface="DejaVu Sans"/>
                <a:cs typeface="DejaVu Sans"/>
              </a:rPr>
              <a:t>vượt</a:t>
            </a:r>
            <a:r>
              <a:rPr sz="17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4CAF50"/>
                </a:solidFill>
                <a:latin typeface="DejaVu Sans"/>
                <a:cs typeface="DejaVu Sans"/>
              </a:rPr>
              <a:t>trội</a:t>
            </a:r>
            <a:r>
              <a:rPr sz="1700" b="1" spc="-52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DejaVu Sans"/>
                <a:cs typeface="DejaVu Sans"/>
              </a:rPr>
              <a:t>với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080"/>
                </a:solidFill>
                <a:latin typeface="DejaVu Sans"/>
                <a:cs typeface="DejaVu Sans"/>
              </a:rPr>
              <a:t>độ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DejaVu Sans"/>
                <a:cs typeface="DejaVu Sans"/>
              </a:rPr>
              <a:t>chính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DejaVu Sans"/>
                <a:cs typeface="DejaVu Sans"/>
              </a:rPr>
              <a:t>xác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4CAF50"/>
                </a:solidFill>
                <a:latin typeface="DejaVu Sans"/>
                <a:cs typeface="DejaVu Sans"/>
              </a:rPr>
              <a:t>cao</a:t>
            </a:r>
            <a:r>
              <a:rPr sz="17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4CAF50"/>
                </a:solidFill>
                <a:latin typeface="DejaVu Sans"/>
                <a:cs typeface="DejaVu Sans"/>
              </a:rPr>
              <a:t>hơn</a:t>
            </a:r>
            <a:r>
              <a:rPr sz="1700" b="1" spc="-57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DejaVu Sans"/>
                <a:cs typeface="DejaVu Sans"/>
              </a:rPr>
              <a:t>sai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DejaVu Sans"/>
                <a:cs typeface="DejaVu Sans"/>
              </a:rPr>
              <a:t>số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4CAF50"/>
                </a:solidFill>
                <a:latin typeface="DejaVu Sans"/>
                <a:cs typeface="DejaVu Sans"/>
              </a:rPr>
              <a:t>thấp</a:t>
            </a:r>
            <a:r>
              <a:rPr sz="17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4CAF50"/>
                </a:solidFill>
                <a:latin typeface="DejaVu Sans"/>
                <a:cs typeface="DejaVu Sans"/>
              </a:rPr>
              <a:t>hơn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5411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2193" y="345701"/>
            <a:ext cx="7719928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21" dirty="0">
                <a:solidFill>
                  <a:srgbClr val="004080"/>
                </a:solidFill>
                <a:latin typeface="DejaVu Sans"/>
                <a:cs typeface="DejaVu Sans"/>
              </a:rPr>
              <a:t>IV.</a:t>
            </a:r>
            <a:r>
              <a:rPr sz="3000" b="1" spc="1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080"/>
                </a:solidFill>
                <a:latin typeface="DejaVu Sans"/>
                <a:cs typeface="DejaVu Sans"/>
              </a:rPr>
              <a:t>KẾT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QUẢ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4CAF50"/>
                </a:solidFill>
                <a:latin typeface="DejaVu Sans"/>
                <a:cs typeface="DejaVu Sans"/>
              </a:rPr>
              <a:t>HUẤN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-10" dirty="0">
                <a:solidFill>
                  <a:srgbClr val="4CAF50"/>
                </a:solidFill>
                <a:latin typeface="DejaVu Sans"/>
                <a:cs typeface="DejaVu Sans"/>
              </a:rPr>
              <a:t>LUYỆN</a:t>
            </a:r>
            <a:r>
              <a:rPr sz="3000" b="1" spc="37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23" dirty="0">
                <a:solidFill>
                  <a:srgbClr val="4CAF50"/>
                </a:solidFill>
                <a:latin typeface="DejaVu Sans"/>
                <a:cs typeface="DejaVu Sans"/>
              </a:rPr>
              <a:t>MÔ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55377" y="1626578"/>
            <a:ext cx="2974248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4.3.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Random 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Forest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Regression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98369" y="1626578"/>
            <a:ext cx="3414484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4.4.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Gradient</a:t>
            </a:r>
            <a:r>
              <a:rPr sz="2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Boosting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080"/>
                </a:solidFill>
                <a:latin typeface="DejaVu Sans"/>
                <a:cs typeface="DejaVu Sans"/>
              </a:rPr>
              <a:t>Regressor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9941" y="2559911"/>
            <a:ext cx="928889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MAE: 0.47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08162" y="2559911"/>
            <a:ext cx="921322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MSE: 0.63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48942" y="2559911"/>
            <a:ext cx="1241239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R² Score: 0.99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02932" y="2559911"/>
            <a:ext cx="928889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MAE: 0.51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51154" y="2559911"/>
            <a:ext cx="921322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MSE: 0.66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291934" y="2559911"/>
            <a:ext cx="1241240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R² Score: 0.99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0470" y="3010722"/>
            <a:ext cx="501955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Xử lý hiệu quả dữ liệu phức tạp, đa dạng để dự đoán thời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tiết.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13462" y="3010722"/>
            <a:ext cx="511937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Xây dựng chuỗi mô hình, liên tục tối ưu hóa để giảm thiểu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sai số dự đoán.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80542" y="4199837"/>
            <a:ext cx="354019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So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sánh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các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chỉ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số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hiệu</a:t>
            </a:r>
            <a:r>
              <a:rPr sz="1700" b="1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45919" y="4848292"/>
            <a:ext cx="5013811" cy="1461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Cả hai </a:t>
            </a:r>
            <a:r>
              <a:rPr sz="1500" spc="10" dirty="0">
                <a:solidFill>
                  <a:srgbClr val="374151"/>
                </a:solidFill>
                <a:latin typeface="DejaVu Sans"/>
                <a:cs typeface="DejaVu Sans"/>
              </a:rPr>
              <a:t>mô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 hình đều đạt R² rất cao (0.99), chứng tỏ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độ phù hợp tốt với dữ liệu. Random</a:t>
            </a:r>
            <a:r>
              <a:rPr sz="1500" spc="14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spc="-10" dirty="0">
                <a:solidFill>
                  <a:srgbClr val="374151"/>
                </a:solidFill>
                <a:latin typeface="DejaVu Sans"/>
                <a:cs typeface="DejaVu Sans"/>
              </a:rPr>
              <a:t>Forest</a:t>
            </a:r>
            <a:r>
              <a:rPr sz="1500" spc="18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nhỉnh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hơn một chút về MAE và MSE, cho thấy khả năng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xử lý dữ liệu phức tạp hiệu quả hơn trong</a:t>
            </a:r>
            <a:r>
              <a:rPr sz="1500" spc="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trường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hợp </a:t>
            </a:r>
            <a:r>
              <a:rPr sz="1500" spc="-49" dirty="0">
                <a:solidFill>
                  <a:srgbClr val="374151"/>
                </a:solidFill>
                <a:latin typeface="DejaVu Sans"/>
                <a:cs typeface="DejaVu Sans"/>
              </a:rPr>
              <a:t>này.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57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6876"/>
            <a:ext cx="7719672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21" dirty="0">
                <a:solidFill>
                  <a:srgbClr val="004080"/>
                </a:solidFill>
                <a:latin typeface="DejaVu Sans"/>
                <a:cs typeface="DejaVu Sans"/>
              </a:rPr>
              <a:t>IV.</a:t>
            </a:r>
            <a:r>
              <a:rPr sz="3000" b="1" spc="1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080"/>
                </a:solidFill>
                <a:latin typeface="DejaVu Sans"/>
                <a:cs typeface="DejaVu Sans"/>
              </a:rPr>
              <a:t>KẾT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QUẢ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HUẤN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-10" dirty="0">
                <a:solidFill>
                  <a:srgbClr val="004080"/>
                </a:solidFill>
                <a:latin typeface="DejaVu Sans"/>
                <a:cs typeface="DejaVu Sans"/>
              </a:rPr>
              <a:t>LUYỆN</a:t>
            </a:r>
            <a:r>
              <a:rPr sz="3000" b="1" spc="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23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278" y="1401138"/>
            <a:ext cx="536591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So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sánh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Hiệu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suất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20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  <a:r>
              <a:rPr sz="1700" b="1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004080"/>
                </a:solidFill>
                <a:latin typeface="DejaVu Sans"/>
                <a:cs typeface="DejaVu Sans"/>
              </a:rPr>
              <a:t>Dự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báo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Thời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4080"/>
                </a:solidFill>
                <a:latin typeface="DejaVu Sans"/>
                <a:cs typeface="DejaVu Sans"/>
              </a:rPr>
              <a:t>tiết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86177" y="1401138"/>
            <a:ext cx="416127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56" dirty="0">
                <a:solidFill>
                  <a:srgbClr val="004080"/>
                </a:solidFill>
                <a:latin typeface="DejaVu Sans"/>
                <a:cs typeface="DejaVu Sans"/>
              </a:rPr>
              <a:t>Trực</a:t>
            </a:r>
            <a:r>
              <a:rPr sz="1700" b="1" spc="36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quan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hóa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004080"/>
                </a:solidFill>
                <a:latin typeface="DejaVu Sans"/>
                <a:cs typeface="DejaVu Sans"/>
              </a:rPr>
              <a:t>Dự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báo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080"/>
                </a:solidFill>
                <a:latin typeface="DejaVu Sans"/>
                <a:cs typeface="DejaVu Sans"/>
              </a:rPr>
              <a:t>vs.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Thực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4080"/>
                </a:solidFill>
                <a:latin typeface="DejaVu Sans"/>
                <a:cs typeface="DejaVu Sans"/>
              </a:rPr>
              <a:t>tế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8440" y="2078922"/>
            <a:ext cx="100242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Gradient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Boosting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89510" y="2078922"/>
            <a:ext cx="93783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Random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b="1" spc="-15" dirty="0">
                <a:solidFill>
                  <a:srgbClr val="004080"/>
                </a:solidFill>
                <a:latin typeface="DejaVu Sans"/>
                <a:cs typeface="DejaVu Sans"/>
              </a:rPr>
              <a:t>Forest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09120" y="2078922"/>
            <a:ext cx="96841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Decision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b="1" spc="-40" dirty="0">
                <a:solidFill>
                  <a:srgbClr val="004080"/>
                </a:solidFill>
                <a:latin typeface="DejaVu Sans"/>
                <a:cs typeface="DejaVu Sans"/>
              </a:rPr>
              <a:t>Tree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8517" y="2660701"/>
            <a:ext cx="169901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CAF50"/>
                </a:solidFill>
                <a:latin typeface="DejaVu Sans"/>
                <a:cs typeface="DejaVu Sans"/>
              </a:rPr>
              <a:t>●</a:t>
            </a:r>
            <a:r>
              <a:rPr sz="1200" spc="27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cao,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07915" y="2660701"/>
            <a:ext cx="152956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CAF50"/>
                </a:solidFill>
                <a:latin typeface="DejaVu Sans"/>
                <a:cs typeface="DejaVu Sans"/>
              </a:rPr>
              <a:t>●</a:t>
            </a:r>
            <a:r>
              <a:rPr sz="1200" spc="27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004080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 dữ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97312" y="2660701"/>
            <a:ext cx="179546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CAF50"/>
                </a:solidFill>
                <a:latin typeface="DejaVu Sans"/>
                <a:cs typeface="DejaVu Sans"/>
              </a:rPr>
              <a:t>●</a:t>
            </a:r>
            <a:r>
              <a:rPr sz="1200" spc="27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Dễ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diễn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giải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&amp;</a:t>
            </a:r>
            <a:r>
              <a:rPr sz="1200" spc="-2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hiểu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8517" y="2879776"/>
            <a:ext cx="13411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 dữ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lớn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07915" y="2879776"/>
            <a:ext cx="52818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dạng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97312" y="2879776"/>
            <a:ext cx="96053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6" dirty="0">
                <a:solidFill>
                  <a:srgbClr val="004080"/>
                </a:solidFill>
                <a:latin typeface="DejaVu Sans"/>
                <a:cs typeface="DejaVu Sans"/>
              </a:rPr>
              <a:t>rõ</a:t>
            </a:r>
            <a:r>
              <a:rPr sz="1200" spc="12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quy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luật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18517" y="3136951"/>
            <a:ext cx="166536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CAF50"/>
                </a:solidFill>
                <a:latin typeface="DejaVu Sans"/>
                <a:cs typeface="DejaVu Sans"/>
              </a:rPr>
              <a:t>●</a:t>
            </a:r>
            <a:r>
              <a:rPr sz="1200" spc="27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thiểu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sai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số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607915" y="3136951"/>
            <a:ext cx="15843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CAF50"/>
                </a:solidFill>
                <a:latin typeface="DejaVu Sans"/>
                <a:cs typeface="DejaVu Sans"/>
              </a:rPr>
              <a:t>●</a:t>
            </a:r>
            <a:r>
              <a:rPr sz="1200" spc="27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overﬁtting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697312" y="3136951"/>
            <a:ext cx="170873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CAF50"/>
                </a:solidFill>
                <a:latin typeface="DejaVu Sans"/>
                <a:cs typeface="DejaVu Sans"/>
              </a:rPr>
              <a:t>●</a:t>
            </a:r>
            <a:r>
              <a:rPr sz="1200" spc="27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18517" y="3346501"/>
            <a:ext cx="90515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từng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bước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607915" y="3346501"/>
            <a:ext cx="8032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97312" y="3346501"/>
            <a:ext cx="109255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hệ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phi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tuyến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18517" y="3603676"/>
            <a:ext cx="17472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CAF50"/>
                </a:solidFill>
                <a:latin typeface="DejaVu Sans"/>
                <a:cs typeface="DejaVu Sans"/>
              </a:rPr>
              <a:t>●</a:t>
            </a:r>
            <a:r>
              <a:rPr sz="1200" spc="27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Tốc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huấn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luyện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607915" y="3603676"/>
            <a:ext cx="165564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CAF50"/>
                </a:solidFill>
                <a:latin typeface="DejaVu Sans"/>
                <a:cs typeface="DejaVu Sans"/>
              </a:rPr>
              <a:t>●</a:t>
            </a:r>
            <a:r>
              <a:rPr sz="1200" spc="27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Linh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hoạt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hồi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697312" y="3603676"/>
            <a:ext cx="13445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CAF50"/>
                </a:solidFill>
                <a:latin typeface="DejaVu Sans"/>
                <a:cs typeface="DejaVu Sans"/>
              </a:rPr>
              <a:t>●</a:t>
            </a:r>
            <a:r>
              <a:rPr sz="1200" spc="27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ra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18517" y="3813226"/>
            <a:ext cx="8032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607915" y="3813226"/>
            <a:ext cx="4302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quy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697312" y="3813226"/>
            <a:ext cx="15399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quyết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004080"/>
                </a:solidFill>
                <a:latin typeface="DejaVu Sans"/>
                <a:cs typeface="DejaVu Sans"/>
              </a:rPr>
              <a:t>rõ</a:t>
            </a:r>
            <a:r>
              <a:rPr sz="1200" spc="12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ràng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03795" y="4194981"/>
            <a:ext cx="71615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CAF50"/>
                </a:solidFill>
                <a:latin typeface="DejaVu Sans"/>
                <a:cs typeface="DejaVu Sans"/>
              </a:rPr>
              <a:t>Complex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03795" y="4528356"/>
            <a:ext cx="1298343" cy="5300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CAF50"/>
                </a:solidFill>
                <a:latin typeface="DejaVu Sans"/>
                <a:cs typeface="DejaVu Sans"/>
              </a:rPr>
              <a:t>High Performance</a:t>
            </a:r>
          </a:p>
          <a:p>
            <a:pPr marL="0" marR="0">
              <a:lnSpc>
                <a:spcPts val="1173"/>
              </a:lnSpc>
              <a:spcBef>
                <a:spcPts val="1526"/>
              </a:spcBef>
              <a:spcAft>
                <a:spcPts val="0"/>
              </a:spcAft>
            </a:pPr>
            <a:r>
              <a:rPr sz="1000" dirty="0">
                <a:solidFill>
                  <a:srgbClr val="4CAF50"/>
                </a:solidFill>
                <a:latin typeface="DejaVu Sans"/>
                <a:cs typeface="DejaVu Sans"/>
              </a:rPr>
              <a:t>Ensemble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693193" y="4528356"/>
            <a:ext cx="59895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CAF50"/>
                </a:solidFill>
                <a:latin typeface="DejaVu Sans"/>
                <a:cs typeface="DejaVu Sans"/>
              </a:rPr>
              <a:t>Robust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389857" y="4528356"/>
            <a:ext cx="71659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CAF50"/>
                </a:solidFill>
                <a:latin typeface="DejaVu Sans"/>
                <a:cs typeface="DejaVu Sans"/>
              </a:rPr>
              <a:t>Versatile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782591" y="4528356"/>
            <a:ext cx="989754" cy="5300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CAF50"/>
                </a:solidFill>
                <a:latin typeface="DejaVu Sans"/>
                <a:cs typeface="DejaVu Sans"/>
              </a:rPr>
              <a:t>Interpretable</a:t>
            </a:r>
          </a:p>
          <a:p>
            <a:pPr marL="0" marR="0">
              <a:lnSpc>
                <a:spcPts val="1173"/>
              </a:lnSpc>
              <a:spcBef>
                <a:spcPts val="1526"/>
              </a:spcBef>
              <a:spcAft>
                <a:spcPts val="0"/>
              </a:spcAft>
            </a:pPr>
            <a:r>
              <a:rPr sz="1000" dirty="0">
                <a:solidFill>
                  <a:srgbClr val="4CAF50"/>
                </a:solidFill>
                <a:latin typeface="DejaVu Sans"/>
                <a:cs typeface="DejaVu Sans"/>
              </a:rPr>
              <a:t>Non-linear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693193" y="4871256"/>
            <a:ext cx="78016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4CAF50"/>
                </a:solidFill>
                <a:latin typeface="DejaVu Sans"/>
                <a:cs typeface="DejaVu Sans"/>
              </a:rPr>
              <a:t>Ensemble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04229" y="5489626"/>
            <a:ext cx="6003451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Multiple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Linear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004080"/>
                </a:solidFill>
                <a:latin typeface="DejaVu Sans"/>
                <a:cs typeface="DejaVu Sans"/>
              </a:rPr>
              <a:t>Regression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là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nền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tảng,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đơn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giản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nhưng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004080"/>
                </a:solidFill>
                <a:latin typeface="DejaVu Sans"/>
                <a:cs typeface="DejaVu Sans"/>
              </a:rPr>
              <a:t>kém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quả</a:t>
            </a:r>
          </a:p>
          <a:p>
            <a:pPr marL="2161579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phức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998934" y="6137326"/>
            <a:ext cx="8415371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4080"/>
                </a:solidFill>
                <a:latin typeface="DejaVu Sans"/>
                <a:cs typeface="DejaVu Sans"/>
              </a:rPr>
              <a:t>AI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đang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lại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hoạt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động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dự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báo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thời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tiết,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giúp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giảm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thiểu thiệt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hại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tăng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cường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khả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năng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ứng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phó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với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thiên 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tai.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837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27995" y="364547"/>
            <a:ext cx="4888323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261" dirty="0">
                <a:solidFill>
                  <a:srgbClr val="004080"/>
                </a:solidFill>
                <a:latin typeface="Liberation Sans"/>
                <a:cs typeface="Liberation Sans"/>
              </a:rPr>
              <a:t>V.</a:t>
            </a:r>
            <a:r>
              <a:rPr sz="3000" b="1" spc="27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K</a:t>
            </a:r>
            <a:r>
              <a:rPr sz="3000" b="1" spc="1057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3000" b="1" spc="2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080"/>
                </a:solidFill>
                <a:latin typeface="Liberation Sans"/>
                <a:cs typeface="Liberation Sans"/>
              </a:rPr>
              <a:t>LU</a:t>
            </a:r>
            <a:r>
              <a:rPr sz="3000" b="1" spc="126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3000" b="1" spc="2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&amp;</a:t>
            </a:r>
            <a:r>
              <a:rPr sz="3000" b="1" spc="2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004080"/>
                </a:solidFill>
                <a:latin typeface="Liberation Sans"/>
                <a:cs typeface="Liberation Sans"/>
              </a:rPr>
              <a:t>ĐÁNH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spc="11" dirty="0">
                <a:solidFill>
                  <a:srgbClr val="004080"/>
                </a:solidFill>
                <a:latin typeface="Liberation Sans"/>
                <a:cs typeface="Liberation Sans"/>
              </a:rPr>
              <a:t>GIÁ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18681" y="818970"/>
            <a:ext cx="390705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4CAF50"/>
                </a:solidFill>
                <a:latin typeface="Liberation Sans"/>
                <a:cs typeface="Liberation Sans"/>
              </a:rPr>
              <a:t>T</a:t>
            </a:r>
            <a:r>
              <a:rPr sz="1700" spc="10" dirty="0">
                <a:solidFill>
                  <a:srgbClr val="4CAF50"/>
                </a:solidFill>
                <a:latin typeface="DejaVu Sans"/>
                <a:cs typeface="DejaVu Sans"/>
              </a:rPr>
              <a:t>ổ</a:t>
            </a:r>
            <a:r>
              <a:rPr sz="1700" spc="-11" dirty="0">
                <a:solidFill>
                  <a:srgbClr val="4CAF50"/>
                </a:solidFill>
                <a:latin typeface="Liberation Sans"/>
                <a:cs typeface="Liberation Sans"/>
              </a:rPr>
              <a:t>ng</a:t>
            </a:r>
            <a:r>
              <a:rPr sz="170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4CAF50"/>
                </a:solidFill>
                <a:latin typeface="Liberation Sans"/>
                <a:cs typeface="Liberation Sans"/>
              </a:rPr>
              <a:t>k</a:t>
            </a:r>
            <a:r>
              <a:rPr sz="1700" dirty="0">
                <a:solidFill>
                  <a:srgbClr val="4CAF50"/>
                </a:solidFill>
                <a:latin typeface="DejaVu Sans"/>
                <a:cs typeface="DejaVu Sans"/>
              </a:rPr>
              <a:t>ế</a:t>
            </a:r>
            <a:r>
              <a:rPr sz="1700" dirty="0">
                <a:solidFill>
                  <a:srgbClr val="4CAF50"/>
                </a:solidFill>
                <a:latin typeface="Liberation Sans"/>
                <a:cs typeface="Liberation Sans"/>
              </a:rPr>
              <a:t>t</a:t>
            </a:r>
            <a:r>
              <a:rPr sz="1700" spc="-1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4CAF50"/>
                </a:solidFill>
                <a:latin typeface="Liberation Sans"/>
                <a:cs typeface="Liberation Sans"/>
              </a:rPr>
              <a:t>k</a:t>
            </a:r>
            <a:r>
              <a:rPr sz="1700" dirty="0">
                <a:solidFill>
                  <a:srgbClr val="4CAF50"/>
                </a:solidFill>
                <a:latin typeface="DejaVu Sans"/>
                <a:cs typeface="DejaVu Sans"/>
              </a:rPr>
              <a:t>ế</a:t>
            </a:r>
            <a:r>
              <a:rPr sz="1700" dirty="0">
                <a:solidFill>
                  <a:srgbClr val="4CAF50"/>
                </a:solidFill>
                <a:latin typeface="Liberation Sans"/>
                <a:cs typeface="Liberation Sans"/>
              </a:rPr>
              <a:t>t</a:t>
            </a:r>
            <a:r>
              <a:rPr sz="1700" spc="-11" dirty="0">
                <a:solidFill>
                  <a:srgbClr val="4CAF50"/>
                </a:solidFill>
                <a:latin typeface="Liberation Sans"/>
                <a:cs typeface="Liberation Sans"/>
              </a:rPr>
              <a:t> qu</a:t>
            </a:r>
            <a:r>
              <a:rPr sz="1700" dirty="0">
                <a:solidFill>
                  <a:srgbClr val="4CAF50"/>
                </a:solidFill>
                <a:latin typeface="DejaVu Sans"/>
                <a:cs typeface="DejaVu Sans"/>
              </a:rPr>
              <a:t>ả</a:t>
            </a:r>
            <a:r>
              <a:rPr sz="1700" spc="50" dirty="0">
                <a:solidFill>
                  <a:srgbClr val="4CAF5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CAF50"/>
                </a:solidFill>
                <a:latin typeface="Liberation Sans"/>
                <a:cs typeface="Liberation Sans"/>
              </a:rPr>
              <a:t>và</a:t>
            </a:r>
            <a:r>
              <a:rPr sz="170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4CAF50"/>
                </a:solidFill>
                <a:latin typeface="Liberation Sans"/>
                <a:cs typeface="Liberation Sans"/>
              </a:rPr>
              <a:t>đ</a:t>
            </a:r>
            <a:r>
              <a:rPr sz="1700" spc="10" dirty="0">
                <a:solidFill>
                  <a:srgbClr val="4CAF50"/>
                </a:solidFill>
                <a:latin typeface="DejaVu Sans"/>
                <a:cs typeface="DejaVu Sans"/>
              </a:rPr>
              <a:t>ố</a:t>
            </a:r>
            <a:r>
              <a:rPr sz="1700" dirty="0">
                <a:solidFill>
                  <a:srgbClr val="4CAF50"/>
                </a:solidFill>
                <a:latin typeface="Liberation Sans"/>
                <a:cs typeface="Liberation Sans"/>
              </a:rPr>
              <a:t>i</a:t>
            </a:r>
            <a:r>
              <a:rPr sz="1700" spc="-1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4CAF50"/>
                </a:solidFill>
                <a:latin typeface="Liberation Sans"/>
                <a:cs typeface="Liberation Sans"/>
              </a:rPr>
              <a:t>chi</a:t>
            </a:r>
            <a:r>
              <a:rPr sz="1700" dirty="0">
                <a:solidFill>
                  <a:srgbClr val="4CAF50"/>
                </a:solidFill>
                <a:latin typeface="DejaVu Sans"/>
                <a:cs typeface="DejaVu Sans"/>
              </a:rPr>
              <a:t>ế</a:t>
            </a:r>
            <a:r>
              <a:rPr sz="1700" dirty="0">
                <a:solidFill>
                  <a:srgbClr val="4CAF50"/>
                </a:solidFill>
                <a:latin typeface="Liberation Sans"/>
                <a:cs typeface="Liberation Sans"/>
              </a:rPr>
              <a:t>u</a:t>
            </a:r>
            <a:r>
              <a:rPr sz="1700" spc="-17" dirty="0">
                <a:solidFill>
                  <a:srgbClr val="4CAF50"/>
                </a:solidFill>
                <a:latin typeface="Liberation Sans"/>
                <a:cs typeface="Liberation Sans"/>
              </a:rPr>
              <a:t> m</a:t>
            </a:r>
            <a:r>
              <a:rPr sz="1700" spc="-27" dirty="0">
                <a:solidFill>
                  <a:srgbClr val="4CAF50"/>
                </a:solidFill>
                <a:latin typeface="DejaVu Sans"/>
                <a:cs typeface="DejaVu Sans"/>
              </a:rPr>
              <a:t>ụ</a:t>
            </a:r>
            <a:r>
              <a:rPr sz="1700" dirty="0">
                <a:solidFill>
                  <a:srgbClr val="4CAF50"/>
                </a:solidFill>
                <a:latin typeface="Liberation Sans"/>
                <a:cs typeface="Liberation Sans"/>
              </a:rPr>
              <a:t>c</a:t>
            </a:r>
            <a:r>
              <a:rPr sz="1700" spc="-15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4CAF50"/>
                </a:solidFill>
                <a:latin typeface="Liberation Sans"/>
                <a:cs typeface="Liberation Sans"/>
              </a:rPr>
              <a:t>tiêu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3576" y="1623437"/>
            <a:ext cx="3495819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5.1 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Tóm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 t</a:t>
            </a:r>
            <a:r>
              <a:rPr sz="2000" b="1" spc="65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phát 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hi</a:t>
            </a:r>
            <a:r>
              <a:rPr sz="2000" b="1" spc="71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2000" b="1" spc="1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21568" y="2268279"/>
            <a:ext cx="421324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Xây d</a:t>
            </a:r>
            <a:r>
              <a:rPr sz="1350" spc="-31" dirty="0">
                <a:solidFill>
                  <a:srgbClr val="004080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ng thành công mô hình d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báo nhi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t đ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v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i đ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ộ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1568" y="2525454"/>
            <a:ext cx="26569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chính xác và đ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phù h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ợ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p r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t cao.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21568" y="3163629"/>
            <a:ext cx="453355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Gradient Boosting Regressor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(sau t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004080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u) cho hi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u su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1568" y="3420804"/>
            <a:ext cx="324573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v</a:t>
            </a:r>
            <a:r>
              <a:rPr sz="1350" spc="-15" dirty="0">
                <a:solidFill>
                  <a:srgbClr val="004080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t tr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i v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i ch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ỉ</a:t>
            </a:r>
            <a:r>
              <a:rPr sz="1350" spc="36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ố</a:t>
            </a:r>
            <a:r>
              <a:rPr sz="1350" spc="3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R²-score đ</a:t>
            </a:r>
            <a:r>
              <a:rPr sz="1350" b="1" spc="446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t 0.9908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21568" y="4058979"/>
            <a:ext cx="447857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Gi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m thi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u đáng k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sai s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ố</a:t>
            </a:r>
            <a:r>
              <a:rPr sz="1350" spc="3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báo, v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i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MAE là 0.5126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và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21568" y="4320071"/>
            <a:ext cx="1451318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RMSE là 0.8127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21568" y="4954329"/>
            <a:ext cx="458488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Mô hình đã h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c đ</a:t>
            </a:r>
            <a:r>
              <a:rPr sz="1350" spc="-15" dirty="0">
                <a:solidFill>
                  <a:srgbClr val="004080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c các m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i quan h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ệ</a:t>
            </a:r>
            <a:r>
              <a:rPr sz="1350" spc="30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ph</a:t>
            </a:r>
            <a:r>
              <a:rPr sz="1350" spc="-31" dirty="0">
                <a:solidFill>
                  <a:srgbClr val="004080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c t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p t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94548" y="5186581"/>
            <a:ext cx="2058129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Phân tích đ</a:t>
            </a:r>
            <a:r>
              <a:rPr sz="1500" b="1" spc="4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nh l</a:t>
            </a:r>
            <a:r>
              <a:rPr sz="1500" b="1" spc="146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21568" y="5211504"/>
            <a:ext cx="352798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khí t</a:t>
            </a:r>
            <a:r>
              <a:rPr sz="1350" spc="-15" dirty="0">
                <a:solidFill>
                  <a:srgbClr val="004080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ng đa chi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u đ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1350" spc="-31" dirty="0">
                <a:solidFill>
                  <a:srgbClr val="004080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a ra d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Sans"/>
                <a:cs typeface="Liberation Sans"/>
              </a:rPr>
              <a:t>báo tin c</a:t>
            </a:r>
            <a:r>
              <a:rPr sz="1350" dirty="0">
                <a:solidFill>
                  <a:srgbClr val="004080"/>
                </a:solidFill>
                <a:latin typeface="DejaVu Sans"/>
                <a:cs typeface="DejaVu Sans"/>
              </a:rPr>
              <a:t>ậ</a:t>
            </a:r>
            <a:r>
              <a:rPr sz="1350" spc="-102" dirty="0">
                <a:solidFill>
                  <a:srgbClr val="004080"/>
                </a:solidFill>
                <a:latin typeface="Liberation Sans"/>
                <a:cs typeface="Liberation Sans"/>
              </a:rPr>
              <a:t>y.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94548" y="5469434"/>
            <a:ext cx="3282831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chi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eration Sans"/>
                <a:cs typeface="Liberation Sans"/>
              </a:rPr>
              <a:t>su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ự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spc="3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Liberation Sans"/>
                <a:cs typeface="Liberation Sans"/>
              </a:rPr>
              <a:t>v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ớ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200" spc="-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tiêu</a:t>
            </a:r>
            <a:r>
              <a:rPr sz="1200" spc="-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ề</a:t>
            </a:r>
            <a:r>
              <a:rPr sz="1200" spc="3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ra.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93576" y="6366887"/>
            <a:ext cx="4921794" cy="324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5.2 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Đánh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 giá m</a:t>
            </a:r>
            <a:r>
              <a:rPr sz="2000" b="1" spc="73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2000" b="1" spc="121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2000" b="1" spc="65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2000" b="1" spc="1929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m</a:t>
            </a:r>
            <a:r>
              <a:rPr sz="2000" b="1" spc="73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tiêu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4976" y="7015646"/>
            <a:ext cx="1954634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Ch</a:t>
            </a:r>
            <a:r>
              <a:rPr sz="1350" b="1" spc="37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s</a:t>
            </a:r>
            <a:r>
              <a:rPr sz="1350" b="1" spc="81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Hi</a:t>
            </a:r>
            <a:r>
              <a:rPr sz="1350" b="1" spc="45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u su</a:t>
            </a:r>
            <a:r>
              <a:rPr sz="1350" b="1" spc="45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t (KPI)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354835" y="7015646"/>
            <a:ext cx="1518712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M</a:t>
            </a:r>
            <a:r>
              <a:rPr sz="1350" b="1" spc="44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c tiêu D</a:t>
            </a:r>
            <a:r>
              <a:rPr sz="1350" b="1" spc="81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ki</a:t>
            </a:r>
            <a:r>
              <a:rPr sz="1350" b="1" spc="45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85185" y="7015646"/>
            <a:ext cx="1499521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Hi</a:t>
            </a:r>
            <a:r>
              <a:rPr sz="1350" b="1" spc="45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u su</a:t>
            </a:r>
            <a:r>
              <a:rPr sz="1350" b="1" spc="45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t Th</a:t>
            </a:r>
            <a:r>
              <a:rPr sz="1350" b="1" spc="45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c 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231486" y="7015646"/>
            <a:ext cx="872676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Đánh giá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64976" y="7583229"/>
            <a:ext cx="186902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R²-score (Đ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phù 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679727" y="7590039"/>
            <a:ext cx="868933" cy="14411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Mono"/>
                <a:cs typeface="Liberation Mono"/>
              </a:rPr>
              <a:t>&gt;= 0.95</a:t>
            </a:r>
          </a:p>
          <a:p>
            <a:pPr marL="0" marR="0">
              <a:lnSpc>
                <a:spcPts val="1522"/>
              </a:lnSpc>
              <a:spcBef>
                <a:spcPts val="3277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Mono"/>
                <a:cs typeface="Liberation Mono"/>
              </a:rPr>
              <a:t>&lt;= 0.70</a:t>
            </a:r>
          </a:p>
          <a:p>
            <a:pPr marL="0" marR="0">
              <a:lnSpc>
                <a:spcPts val="1522"/>
              </a:lnSpc>
              <a:spcBef>
                <a:spcPts val="3202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Mono"/>
                <a:cs typeface="Liberation Mono"/>
              </a:rPr>
              <a:t>&lt;= 1.00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103988" y="7590039"/>
            <a:ext cx="766976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Mono"/>
                <a:cs typeface="Liberation Mono"/>
              </a:rPr>
              <a:t>0.9908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385672" y="7596937"/>
            <a:ext cx="252016" cy="14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V</a:t>
            </a:r>
          </a:p>
          <a:p>
            <a:pPr marL="0" marR="0">
              <a:lnSpc>
                <a:spcPts val="1313"/>
              </a:lnSpc>
              <a:spcBef>
                <a:spcPts val="3486"/>
              </a:spcBef>
              <a:spcAft>
                <a:spcPts val="0"/>
              </a:spcAft>
            </a:pP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V</a:t>
            </a:r>
          </a:p>
          <a:p>
            <a:pPr marL="0" marR="0">
              <a:lnSpc>
                <a:spcPts val="1313"/>
              </a:lnSpc>
              <a:spcBef>
                <a:spcPts val="3486"/>
              </a:spcBef>
              <a:spcAft>
                <a:spcPts val="0"/>
              </a:spcAft>
            </a:pP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V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675736" y="7596937"/>
            <a:ext cx="488129" cy="14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t</a:t>
            </a:r>
            <a:r>
              <a:rPr sz="1200" b="1" spc="-15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tr</a:t>
            </a:r>
            <a:r>
              <a:rPr sz="1200" b="1" spc="415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313"/>
              </a:lnSpc>
              <a:spcBef>
                <a:spcPts val="3486"/>
              </a:spcBef>
              <a:spcAft>
                <a:spcPts val="0"/>
              </a:spcAft>
            </a:pP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t</a:t>
            </a:r>
            <a:r>
              <a:rPr sz="1200" b="1" spc="-15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tr</a:t>
            </a:r>
            <a:r>
              <a:rPr sz="1200" b="1" spc="415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313"/>
              </a:lnSpc>
              <a:spcBef>
                <a:spcPts val="3486"/>
              </a:spcBef>
              <a:spcAft>
                <a:spcPts val="0"/>
              </a:spcAft>
            </a:pP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t</a:t>
            </a:r>
            <a:r>
              <a:rPr sz="1200" b="1" spc="-15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tr</a:t>
            </a:r>
            <a:r>
              <a:rPr sz="1200" b="1" spc="415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64976" y="8192829"/>
            <a:ext cx="244799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MAE (L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tuy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 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trung bình)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103988" y="8199639"/>
            <a:ext cx="766976" cy="831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Mono"/>
                <a:cs typeface="Liberation Mono"/>
              </a:rPr>
              <a:t>0.5126</a:t>
            </a:r>
          </a:p>
          <a:p>
            <a:pPr marL="0" marR="0">
              <a:lnSpc>
                <a:spcPts val="1522"/>
              </a:lnSpc>
              <a:spcBef>
                <a:spcPts val="3202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Mono"/>
                <a:cs typeface="Liberation Mono"/>
              </a:rPr>
              <a:t>0.8127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64976" y="8792904"/>
            <a:ext cx="287488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RMSE (L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toàn ph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ươ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trung bình)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991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87936" y="376231"/>
            <a:ext cx="2968337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VI.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080"/>
                </a:solidFill>
                <a:latin typeface="Liberation Sans"/>
                <a:cs typeface="Liberation Sans"/>
              </a:rPr>
              <a:t>TH</a:t>
            </a:r>
            <a:r>
              <a:rPr sz="3000" b="1" spc="126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O</a:t>
            </a:r>
            <a:r>
              <a:rPr sz="3000" b="1" spc="2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080"/>
                </a:solidFill>
                <a:latin typeface="Liberation Sans"/>
                <a:cs typeface="Liberation Sans"/>
              </a:rPr>
              <a:t>LU</a:t>
            </a:r>
            <a:r>
              <a:rPr sz="3000" b="1" spc="126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02089" y="1654171"/>
            <a:ext cx="4227803" cy="667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6.2. H</a:t>
            </a:r>
            <a:r>
              <a:rPr sz="2000" b="1" spc="193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 phát tri</a:t>
            </a:r>
            <a:r>
              <a:rPr sz="2000" b="1" spc="717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2000" b="1" spc="1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trong t</a:t>
            </a:r>
            <a:r>
              <a:rPr sz="2000" b="1" spc="192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lai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16533" y="1777996"/>
            <a:ext cx="3664053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6.1. H</a:t>
            </a:r>
            <a:r>
              <a:rPr sz="2000" b="1" spc="65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2000" b="1" spc="1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ch</a:t>
            </a:r>
            <a:r>
              <a:rPr sz="2000" b="1" spc="128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2000" b="1" spc="72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a</a:t>
            </a:r>
            <a:r>
              <a:rPr sz="2000" b="1" spc="1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Nghiên c</a:t>
            </a:r>
            <a:r>
              <a:rPr sz="2000" b="1" spc="72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56586" y="4141719"/>
            <a:ext cx="2116642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FFFFFF"/>
                </a:solidFill>
                <a:latin typeface="Liberation Sans"/>
                <a:cs typeface="Liberation Sans"/>
              </a:rPr>
              <a:t>Double click to replace the image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1812" y="4299263"/>
            <a:ext cx="480526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Ph</a:t>
            </a:r>
            <a:r>
              <a:rPr sz="1350" b="1" spc="45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m vi mô hình:</a:t>
            </a:r>
            <a:r>
              <a:rPr sz="1350" b="1" spc="-2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 trung vào Gradient Boosting, ch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a so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17369" y="4384988"/>
            <a:ext cx="488650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1350" b="1" spc="446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i</a:t>
            </a:r>
            <a:r>
              <a:rPr sz="1350" b="1" spc="82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u hóa siêu tham s</a:t>
            </a:r>
            <a:r>
              <a:rPr sz="1350" b="1" spc="446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: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Áp d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các ph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ươ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pháp tiên ti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1812" y="4556438"/>
            <a:ext cx="369027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sánh sâu v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các ki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 trúc nh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Deep Learning.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17369" y="4642163"/>
            <a:ext cx="398314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(vd: Bayesian Optimization) 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tinh ch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ỉ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nh mô hình.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1812" y="4946963"/>
            <a:ext cx="488585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Đánh giá bên ngoài: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Hi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 su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 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 trên 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 test n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b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, nh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17369" y="5032688"/>
            <a:ext cx="465760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Th</a:t>
            </a:r>
            <a:r>
              <a:rPr sz="1350" b="1" spc="82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nghi</a:t>
            </a:r>
            <a:r>
              <a:rPr sz="1350" b="1" spc="45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m mô hình m</a:t>
            </a:r>
            <a:r>
              <a:rPr sz="1350" b="1" spc="44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i: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So sánh v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các thu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 toán 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1812" y="5194613"/>
            <a:ext cx="452702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 ki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 ch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kh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năng 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quát hóa trên d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 m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17369" y="5280338"/>
            <a:ext cx="467715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máy và Deep Learning khác 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tìm ra gi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pháp 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 nh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31812" y="5585138"/>
            <a:ext cx="460235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D</a:t>
            </a:r>
            <a:r>
              <a:rPr sz="1350" b="1" spc="81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li</a:t>
            </a:r>
            <a:r>
              <a:rPr sz="1350" b="1" spc="45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u đ</a:t>
            </a:r>
            <a:r>
              <a:rPr sz="1350" b="1" spc="446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u vào: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 tích 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 thêm các ngu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 d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 đa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17369" y="5670863"/>
            <a:ext cx="478819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K</a:t>
            </a:r>
            <a:r>
              <a:rPr sz="1350" b="1" spc="81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thu</a:t>
            </a:r>
            <a:r>
              <a:rPr sz="1350" b="1" spc="44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t đ</a:t>
            </a:r>
            <a:r>
              <a:rPr sz="1350" b="1" spc="446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c tr</a:t>
            </a:r>
            <a:r>
              <a:rPr sz="1350" b="1" spc="45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ng nâng cao:</a:t>
            </a:r>
            <a:r>
              <a:rPr sz="1350" b="1" spc="-2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Tích 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p thêm ngu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 d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31812" y="5842313"/>
            <a:ext cx="394795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(v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spc="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tinh, 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a lý) 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tăng c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chính xác.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17369" y="5928038"/>
            <a:ext cx="418482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và phát tri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 các 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 tr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m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đ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i thi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 mô hình.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17369" y="6309038"/>
            <a:ext cx="479178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40" dirty="0">
                <a:solidFill>
                  <a:srgbClr val="004080"/>
                </a:solidFill>
                <a:latin typeface="Liberation Sans"/>
                <a:cs typeface="Liberation Sans"/>
              </a:rPr>
              <a:t>Tri</a:t>
            </a:r>
            <a:r>
              <a:rPr sz="1350" b="1" spc="48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080"/>
                </a:solidFill>
                <a:latin typeface="Liberation Sans"/>
                <a:cs typeface="Liberation Sans"/>
              </a:rPr>
              <a:t>n khai &amp; Giám sát: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Xây d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spc="3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tri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 khai th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 t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17369" y="6566213"/>
            <a:ext cx="242908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và giám sát hi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u su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t liên t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93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45940" y="376231"/>
            <a:ext cx="8252511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004080"/>
                </a:solidFill>
                <a:latin typeface="Liberation Sans"/>
                <a:cs typeface="Liberation Sans"/>
              </a:rPr>
              <a:t>PH</a:t>
            </a:r>
            <a:r>
              <a:rPr sz="3000" b="1" spc="2257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L</a:t>
            </a:r>
            <a:r>
              <a:rPr sz="3000" b="1" spc="143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004080"/>
                </a:solidFill>
                <a:latin typeface="Liberation Sans"/>
                <a:cs typeface="Liberation Sans"/>
              </a:rPr>
              <a:t>C: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 T</a:t>
            </a:r>
            <a:r>
              <a:rPr sz="3000" b="1" spc="158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I</a:t>
            </a:r>
            <a:r>
              <a:rPr sz="3000" b="1" spc="2637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U</a:t>
            </a:r>
            <a:r>
              <a:rPr sz="3000" b="1" spc="2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Liberation Sans"/>
                <a:cs typeface="Liberation Sans"/>
              </a:rPr>
              <a:t>HÓA</a:t>
            </a:r>
            <a:r>
              <a:rPr sz="3000" b="1" spc="-10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080"/>
                </a:solidFill>
                <a:latin typeface="Liberation Sans"/>
                <a:cs typeface="Liberation Sans"/>
              </a:rPr>
              <a:t>HYPERPARAMETER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65028" y="873650"/>
            <a:ext cx="521428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Grid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Search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&amp;</a:t>
            </a:r>
            <a:r>
              <a:rPr sz="1700" spc="-2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2" dirty="0">
                <a:solidFill>
                  <a:srgbClr val="004080"/>
                </a:solidFill>
                <a:latin typeface="Liberation Sans"/>
                <a:cs typeface="Liberation Sans"/>
              </a:rPr>
              <a:t>Đánh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giá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Gradient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Boosting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Regressor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5976" y="1758946"/>
            <a:ext cx="3303013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L</a:t>
            </a:r>
            <a:r>
              <a:rPr sz="2000" b="1" spc="1929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i tìm</a:t>
            </a:r>
            <a:r>
              <a:rPr sz="2000" b="1" spc="1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ki</a:t>
            </a:r>
            <a:r>
              <a:rPr sz="2000" b="1" spc="7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siêu tham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31532" y="1758946"/>
            <a:ext cx="248734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K</a:t>
            </a:r>
            <a:r>
              <a:rPr sz="2000" b="1" spc="73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 qu</a:t>
            </a:r>
            <a:r>
              <a:rPr sz="2000" b="1" spc="120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2000" b="1" spc="65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i</a:t>
            </a:r>
            <a:r>
              <a:rPr sz="2000" b="1" spc="128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hóa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318063"/>
            <a:ext cx="500998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Các giá tr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ị</a:t>
            </a:r>
            <a:r>
              <a:rPr sz="1350" spc="36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350" spc="-15" dirty="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 th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nghi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m cho t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ng siêu tham s</a:t>
            </a:r>
            <a:r>
              <a:rPr sz="135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350" spc="34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350" spc="-31" dirty="0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a mô hình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22540" y="2331240"/>
            <a:ext cx="3026703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</a:rPr>
              <a:t>Siêu tham s</a:t>
            </a:r>
            <a:r>
              <a:rPr sz="1500" b="1" spc="9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1500" b="1" spc="486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</a:rPr>
              <a:t>t nh</a:t>
            </a:r>
            <a:r>
              <a:rPr sz="1500" b="1" spc="48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</a:rPr>
              <a:t>t tìm</a:t>
            </a:r>
            <a:r>
              <a:rPr sz="15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1500" b="1" spc="146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</a:rPr>
              <a:t>c: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6984" y="2579155"/>
            <a:ext cx="2306085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74151"/>
                </a:solidFill>
                <a:latin typeface="Liberation Sans"/>
                <a:cs typeface="Liberation Sans"/>
              </a:rPr>
              <a:t>GradientBoostingRegressor: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93097" y="2877323"/>
            <a:ext cx="2199523" cy="831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learning_rate:</a:t>
            </a:r>
            <a:r>
              <a:rPr sz="1350" b="1" spc="467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0.1</a:t>
            </a:r>
          </a:p>
          <a:p>
            <a:pPr marL="0" marR="0">
              <a:lnSpc>
                <a:spcPts val="1522"/>
              </a:lnSpc>
              <a:spcBef>
                <a:spcPts val="877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n_estimators:</a:t>
            </a:r>
            <a:r>
              <a:rPr sz="1350" b="1" spc="469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200</a:t>
            </a:r>
          </a:p>
          <a:p>
            <a:pPr marL="0" marR="0">
              <a:lnSpc>
                <a:spcPts val="1522"/>
              </a:lnSpc>
              <a:spcBef>
                <a:spcPts val="802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min_samples_split:</a:t>
            </a:r>
            <a:r>
              <a:rPr sz="1350" b="1" spc="469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166769" y="2877323"/>
            <a:ext cx="1585521" cy="536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max_depth:</a:t>
            </a:r>
            <a:r>
              <a:rPr sz="1350" b="1" spc="469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5</a:t>
            </a:r>
          </a:p>
          <a:p>
            <a:pPr marL="0" marR="0">
              <a:lnSpc>
                <a:spcPts val="1522"/>
              </a:lnSpc>
              <a:spcBef>
                <a:spcPts val="877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subsample:</a:t>
            </a:r>
            <a:r>
              <a:rPr sz="1350" b="1" spc="469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0.8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07541" y="3182123"/>
            <a:ext cx="2813605" cy="907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n_estimators:</a:t>
            </a:r>
            <a:r>
              <a:rPr sz="1350" b="1" spc="469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[100, 200]</a:t>
            </a:r>
          </a:p>
          <a:p>
            <a:pPr marL="0" marR="0">
              <a:lnSpc>
                <a:spcPts val="1522"/>
              </a:lnSpc>
              <a:spcBef>
                <a:spcPts val="1102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learning_rate:</a:t>
            </a:r>
            <a:r>
              <a:rPr sz="1350" b="1" spc="467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[0.05, 0.1]</a:t>
            </a:r>
          </a:p>
          <a:p>
            <a:pPr marL="0" marR="0">
              <a:lnSpc>
                <a:spcPts val="1522"/>
              </a:lnSpc>
              <a:spcBef>
                <a:spcPts val="1177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max_depth:</a:t>
            </a:r>
            <a:r>
              <a:rPr sz="1350" b="1" spc="469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[3, 5]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22540" y="4121940"/>
            <a:ext cx="3025603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</a:rPr>
              <a:t>Đánh giá </a:t>
            </a:r>
            <a:r>
              <a:rPr sz="15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mô</a:t>
            </a: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</a:rPr>
              <a:t> hình trên t</a:t>
            </a:r>
            <a:r>
              <a:rPr sz="1500" b="1" spc="486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</a:rPr>
              <a:t>p</a:t>
            </a:r>
            <a:r>
              <a:rPr sz="15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500" b="1" spc="-21" dirty="0">
                <a:solidFill>
                  <a:srgbClr val="004080"/>
                </a:solidFill>
                <a:latin typeface="Liberation Sans"/>
                <a:cs typeface="Liberation Sans"/>
              </a:rPr>
              <a:t>Test: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7541" y="4201298"/>
            <a:ext cx="2711276" cy="5743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min_samples_split:</a:t>
            </a:r>
            <a:r>
              <a:rPr sz="1350" b="1" spc="469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[2, 5]</a:t>
            </a:r>
          </a:p>
          <a:p>
            <a:pPr marL="0" marR="0">
              <a:lnSpc>
                <a:spcPts val="1522"/>
              </a:lnSpc>
              <a:spcBef>
                <a:spcPts val="1177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Liberation Mono"/>
                <a:cs typeface="Liberation Mono"/>
              </a:rPr>
              <a:t>subsample:</a:t>
            </a:r>
            <a:r>
              <a:rPr sz="1350" b="1" spc="469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080"/>
                </a:solidFill>
                <a:latin typeface="Liberation Mono"/>
                <a:cs typeface="Liberation Mono"/>
              </a:rPr>
              <a:t>[0.8, 1.0]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06307" y="4560885"/>
            <a:ext cx="436873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4B5563"/>
                </a:solidFill>
                <a:latin typeface="Liberation Sans"/>
                <a:cs typeface="Liberation Sans"/>
              </a:rPr>
              <a:t>MAE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90112" y="4560885"/>
            <a:ext cx="429809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4B5563"/>
                </a:solidFill>
                <a:latin typeface="Liberation Sans"/>
                <a:cs typeface="Liberation Sans"/>
              </a:rPr>
              <a:t>MSE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357168" y="4740271"/>
            <a:ext cx="93549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0.5126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937401" y="4740271"/>
            <a:ext cx="93549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0.6604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563742" y="5380035"/>
            <a:ext cx="522258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4B5563"/>
                </a:solidFill>
                <a:latin typeface="Liberation Sans"/>
                <a:cs typeface="Liberation Sans"/>
              </a:rPr>
              <a:t>RMSE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065691" y="5399085"/>
            <a:ext cx="678755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4CAF50"/>
                </a:solidFill>
                <a:latin typeface="Liberation Sans"/>
                <a:cs typeface="Liberation Sans"/>
              </a:rPr>
              <a:t>R² Score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357168" y="5549896"/>
            <a:ext cx="93549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080"/>
                </a:solidFill>
                <a:latin typeface="Liberation Sans"/>
                <a:cs typeface="Liberation Sans"/>
              </a:rPr>
              <a:t>0.8127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937401" y="5568946"/>
            <a:ext cx="93549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4CAF50"/>
                </a:solidFill>
                <a:latin typeface="Liberation Sans"/>
                <a:cs typeface="Liberation Sans"/>
              </a:rPr>
              <a:t>0.9908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74465" y="5577762"/>
            <a:ext cx="508276" cy="395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32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186981" y="5577762"/>
            <a:ext cx="686214" cy="395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160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315342" y="5976418"/>
            <a:ext cx="1222414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ổ</a:t>
            </a:r>
            <a:r>
              <a:rPr sz="1200" spc="41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Liberation Sans"/>
                <a:cs typeface="Liberation Sans"/>
              </a:rPr>
              <a:t>h</a:t>
            </a:r>
            <a:r>
              <a:rPr sz="1200" spc="15" dirty="0">
                <a:solidFill>
                  <a:srgbClr val="004080"/>
                </a:solidFill>
                <a:latin typeface="DejaVu Sans"/>
                <a:cs typeface="DejaVu Sans"/>
              </a:rPr>
              <a:t>ợ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Liberation Sans"/>
                <a:cs typeface="Liberation Sans"/>
              </a:rPr>
              <a:t>tham</a:t>
            </a:r>
            <a:r>
              <a:rPr sz="1200" spc="-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080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ố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543299" y="5976418"/>
            <a:ext cx="1973198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4080"/>
                </a:solidFill>
                <a:latin typeface="Liberation Sans"/>
                <a:cs typeface="Liberation Sans"/>
              </a:rPr>
              <a:t>L</a:t>
            </a:r>
            <a:r>
              <a:rPr sz="1200" spc="15" dirty="0">
                <a:solidFill>
                  <a:srgbClr val="004080"/>
                </a:solidFill>
                <a:latin typeface="DejaVu Sans"/>
                <a:cs typeface="DejaVu Sans"/>
              </a:rPr>
              <a:t>ầ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Liberation Sans"/>
                <a:cs typeface="Liberation Sans"/>
              </a:rPr>
              <a:t>hu</a:t>
            </a:r>
            <a:r>
              <a:rPr sz="1200" spc="15" dirty="0">
                <a:solidFill>
                  <a:srgbClr val="004080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Liberation Sans"/>
                <a:cs typeface="Liberation Sans"/>
              </a:rPr>
              <a:t>luy</a:t>
            </a:r>
            <a:r>
              <a:rPr sz="1200" spc="11" dirty="0">
                <a:solidFill>
                  <a:srgbClr val="004080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(5-fold</a:t>
            </a:r>
            <a:r>
              <a:rPr sz="1200" spc="-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200" spc="-17" dirty="0">
                <a:solidFill>
                  <a:srgbClr val="004080"/>
                </a:solidFill>
                <a:latin typeface="Liberation Sans"/>
                <a:cs typeface="Liberation Sans"/>
              </a:rPr>
              <a:t>CV)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474296" y="6100243"/>
            <a:ext cx="3281370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004080"/>
                </a:solidFill>
                <a:latin typeface="Liberation Sans"/>
                <a:cs typeface="Liberation Sans"/>
              </a:rPr>
              <a:t>RMSE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 t</a:t>
            </a:r>
            <a:r>
              <a:rPr sz="1200" spc="15" dirty="0">
                <a:solidFill>
                  <a:srgbClr val="004080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004080"/>
                </a:solidFill>
                <a:latin typeface="Liberation Sans"/>
                <a:cs typeface="Liberation Sans"/>
              </a:rPr>
              <a:t> nh</a:t>
            </a:r>
            <a:r>
              <a:rPr sz="1200" spc="15" dirty="0">
                <a:solidFill>
                  <a:srgbClr val="004080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080"/>
                </a:solidFill>
                <a:latin typeface="Liberation Sans"/>
                <a:cs typeface="Liberation Sans"/>
              </a:rPr>
              <a:t>trên 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004080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004080"/>
                </a:solidFill>
                <a:latin typeface="Liberation Sans"/>
                <a:cs typeface="Liberation Sans"/>
              </a:rPr>
              <a:t> Validation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Liberation Sans"/>
                <a:cs typeface="Liberation Sans"/>
              </a:rPr>
              <a:t>(CV):</a:t>
            </a:r>
            <a:r>
              <a:rPr sz="12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200" b="1" spc="-11" dirty="0">
                <a:solidFill>
                  <a:srgbClr val="004080"/>
                </a:solidFill>
                <a:latin typeface="Liberation Sans"/>
                <a:cs typeface="Liberation Sans"/>
              </a:rPr>
              <a:t>0.7342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1432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22252" y="357385"/>
            <a:ext cx="6299832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PHỤ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080"/>
                </a:solidFill>
                <a:latin typeface="DejaVu Sans"/>
                <a:cs typeface="DejaVu Sans"/>
              </a:rPr>
              <a:t>LỤC: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080"/>
                </a:solidFill>
                <a:latin typeface="DejaVu Sans"/>
                <a:cs typeface="DejaVu Sans"/>
              </a:rPr>
              <a:t>KẾT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080"/>
                </a:solidFill>
                <a:latin typeface="DejaVu Sans"/>
                <a:cs typeface="DejaVu Sans"/>
              </a:rPr>
              <a:t>QUẢ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23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30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55677" y="830146"/>
            <a:ext cx="483304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004080"/>
                </a:solidFill>
                <a:latin typeface="DejaVu Sans"/>
                <a:cs typeface="DejaVu Sans"/>
              </a:rPr>
              <a:t>So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DejaVu Sans"/>
                <a:cs typeface="DejaVu Sans"/>
              </a:rPr>
              <a:t>sánh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DejaVu Sans"/>
                <a:cs typeface="DejaVu Sans"/>
              </a:rPr>
              <a:t>suất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&amp;</a:t>
            </a:r>
            <a:r>
              <a:rPr sz="1700" spc="-23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080"/>
                </a:solidFill>
                <a:latin typeface="DejaVu Sans"/>
                <a:cs typeface="DejaVu Sans"/>
              </a:rPr>
              <a:t>Phân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tích</a:t>
            </a:r>
            <a:r>
              <a:rPr sz="17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DejaVu Sans"/>
                <a:cs typeface="DejaVu Sans"/>
              </a:rPr>
              <a:t>sai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DejaVu Sans"/>
                <a:cs typeface="DejaVu Sans"/>
              </a:rPr>
              <a:t>số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DejaVu Sans"/>
                <a:cs typeface="DejaVu Sans"/>
              </a:rPr>
              <a:t>chi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 tiết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76238" y="1468321"/>
            <a:ext cx="451753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Biểu</a:t>
            </a:r>
            <a:r>
              <a:rPr sz="1700" b="1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080"/>
                </a:solidFill>
                <a:latin typeface="DejaVu Sans"/>
                <a:cs typeface="DejaVu Sans"/>
              </a:rPr>
              <a:t>đồ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so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sánh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hiệu</a:t>
            </a:r>
            <a:r>
              <a:rPr sz="1700" b="1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080"/>
                </a:solidFill>
                <a:latin typeface="DejaVu Sans"/>
                <a:cs typeface="DejaVu Sans"/>
              </a:rPr>
              <a:t>suất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4</a:t>
            </a:r>
            <a:r>
              <a:rPr sz="1700" b="1" spc="-21" dirty="0">
                <a:solidFill>
                  <a:srgbClr val="004080"/>
                </a:solidFill>
                <a:latin typeface="DejaVu Sans"/>
                <a:cs typeface="DejaVu Sans"/>
              </a:rPr>
              <a:t> mô</a:t>
            </a:r>
            <a:r>
              <a:rPr sz="1700" b="1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080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7025" y="1478601"/>
            <a:ext cx="226907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080"/>
                </a:solidFill>
                <a:latin typeface="DejaVu Sans"/>
                <a:cs typeface="DejaVu Sans"/>
              </a:rPr>
              <a:t>Bảng tóm tắt chỉ số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91139" y="1919015"/>
            <a:ext cx="80213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MÔ HÌNH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626648" y="1919015"/>
            <a:ext cx="520893" cy="1592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235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MAE</a:t>
            </a:r>
          </a:p>
          <a:p>
            <a:pPr marL="17859" marR="0">
              <a:lnSpc>
                <a:spcPts val="1368"/>
              </a:lnSpc>
              <a:spcBef>
                <a:spcPts val="1445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1.20</a:t>
            </a:r>
          </a:p>
          <a:p>
            <a:pPr marL="17859" marR="0">
              <a:lnSpc>
                <a:spcPts val="1368"/>
              </a:lnSpc>
              <a:spcBef>
                <a:spcPts val="1406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0.56</a:t>
            </a:r>
          </a:p>
          <a:p>
            <a:pPr marL="0" marR="0">
              <a:lnSpc>
                <a:spcPts val="1368"/>
              </a:lnSpc>
              <a:spcBef>
                <a:spcPts val="1356"/>
              </a:spcBef>
              <a:spcAft>
                <a:spcPts val="0"/>
              </a:spcAft>
            </a:pPr>
            <a:r>
              <a:rPr sz="1200" b="1" spc="-15" dirty="0">
                <a:solidFill>
                  <a:srgbClr val="4CAF50"/>
                </a:solidFill>
                <a:latin typeface="DejaVu Sans"/>
                <a:cs typeface="DejaVu Sans"/>
              </a:rPr>
              <a:t>0.47</a:t>
            </a:r>
          </a:p>
          <a:p>
            <a:pPr marL="17859" marR="0">
              <a:lnSpc>
                <a:spcPts val="1368"/>
              </a:lnSpc>
              <a:spcBef>
                <a:spcPts val="1331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0.51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358436" y="1919015"/>
            <a:ext cx="520893" cy="1592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658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MSE</a:t>
            </a:r>
          </a:p>
          <a:p>
            <a:pPr marL="17859" marR="0">
              <a:lnSpc>
                <a:spcPts val="1368"/>
              </a:lnSpc>
              <a:spcBef>
                <a:spcPts val="1445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2.51</a:t>
            </a:r>
          </a:p>
          <a:p>
            <a:pPr marL="17859" marR="0">
              <a:lnSpc>
                <a:spcPts val="1368"/>
              </a:lnSpc>
              <a:spcBef>
                <a:spcPts val="1406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1.12</a:t>
            </a:r>
          </a:p>
          <a:p>
            <a:pPr marL="0" marR="0">
              <a:lnSpc>
                <a:spcPts val="1368"/>
              </a:lnSpc>
              <a:spcBef>
                <a:spcPts val="1356"/>
              </a:spcBef>
              <a:spcAft>
                <a:spcPts val="0"/>
              </a:spcAft>
            </a:pPr>
            <a:r>
              <a:rPr sz="1200" b="1" spc="-15" dirty="0">
                <a:solidFill>
                  <a:srgbClr val="4CAF50"/>
                </a:solidFill>
                <a:latin typeface="DejaVu Sans"/>
                <a:cs typeface="DejaVu Sans"/>
              </a:rPr>
              <a:t>0.63</a:t>
            </a:r>
          </a:p>
          <a:p>
            <a:pPr marL="17859" marR="0">
              <a:lnSpc>
                <a:spcPts val="1368"/>
              </a:lnSpc>
              <a:spcBef>
                <a:spcPts val="1331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0.66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197083" y="1919015"/>
            <a:ext cx="30704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080"/>
                </a:solidFill>
                <a:latin typeface="DejaVu Sans"/>
                <a:cs typeface="DejaVu Sans"/>
              </a:rPr>
              <a:t>R²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91139" y="2251635"/>
            <a:ext cx="1501825" cy="1259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Linear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004080"/>
                </a:solidFill>
                <a:latin typeface="DejaVu Sans"/>
                <a:cs typeface="DejaVu Sans"/>
              </a:rPr>
              <a:t>Regression</a:t>
            </a:r>
          </a:p>
          <a:p>
            <a:pPr marL="0" marR="0">
              <a:lnSpc>
                <a:spcPts val="1368"/>
              </a:lnSpc>
              <a:spcBef>
                <a:spcPts val="1356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Decision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60" dirty="0">
                <a:solidFill>
                  <a:srgbClr val="004080"/>
                </a:solidFill>
                <a:latin typeface="DejaVu Sans"/>
                <a:cs typeface="DejaVu Sans"/>
              </a:rPr>
              <a:t>Tree</a:t>
            </a:r>
          </a:p>
          <a:p>
            <a:pPr marL="0" marR="0">
              <a:lnSpc>
                <a:spcPts val="1368"/>
              </a:lnSpc>
              <a:spcBef>
                <a:spcPts val="1406"/>
              </a:spcBef>
              <a:spcAft>
                <a:spcPts val="0"/>
              </a:spcAft>
            </a:pPr>
            <a:r>
              <a:rPr sz="1200" spc="-20" dirty="0">
                <a:solidFill>
                  <a:srgbClr val="004080"/>
                </a:solidFill>
                <a:latin typeface="DejaVu Sans"/>
                <a:cs typeface="DejaVu Sans"/>
              </a:rPr>
              <a:t>Random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004080"/>
                </a:solidFill>
                <a:latin typeface="DejaVu Sans"/>
                <a:cs typeface="DejaVu Sans"/>
              </a:rPr>
              <a:t>Forest</a:t>
            </a:r>
          </a:p>
          <a:p>
            <a:pPr marL="0" marR="0">
              <a:lnSpc>
                <a:spcPts val="1368"/>
              </a:lnSpc>
              <a:spcBef>
                <a:spcPts val="1331"/>
              </a:spcBef>
              <a:spcAft>
                <a:spcPts val="0"/>
              </a:spcAft>
            </a:pP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Gradient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Boosting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090224" y="2251635"/>
            <a:ext cx="520893" cy="1259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8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0.96</a:t>
            </a:r>
          </a:p>
          <a:p>
            <a:pPr marL="18008" marR="0">
              <a:lnSpc>
                <a:spcPts val="1368"/>
              </a:lnSpc>
              <a:spcBef>
                <a:spcPts val="1356"/>
              </a:spcBef>
              <a:spcAft>
                <a:spcPts val="0"/>
              </a:spcAft>
            </a:pP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0.98</a:t>
            </a:r>
          </a:p>
          <a:p>
            <a:pPr marL="0" marR="0">
              <a:lnSpc>
                <a:spcPts val="1368"/>
              </a:lnSpc>
              <a:spcBef>
                <a:spcPts val="1406"/>
              </a:spcBef>
              <a:spcAft>
                <a:spcPts val="0"/>
              </a:spcAft>
            </a:pPr>
            <a:r>
              <a:rPr sz="1200" b="1" spc="-15" dirty="0">
                <a:solidFill>
                  <a:srgbClr val="4CAF50"/>
                </a:solidFill>
                <a:latin typeface="DejaVu Sans"/>
                <a:cs typeface="DejaVu Sans"/>
              </a:rPr>
              <a:t>0.99</a:t>
            </a:r>
          </a:p>
          <a:p>
            <a:pPr marL="0" marR="0">
              <a:lnSpc>
                <a:spcPts val="1368"/>
              </a:lnSpc>
              <a:spcBef>
                <a:spcPts val="1331"/>
              </a:spcBef>
              <a:spcAft>
                <a:spcPts val="0"/>
              </a:spcAft>
            </a:pPr>
            <a:r>
              <a:rPr sz="1200" b="1" spc="-15" dirty="0">
                <a:solidFill>
                  <a:srgbClr val="4CAF50"/>
                </a:solidFill>
                <a:latin typeface="DejaVu Sans"/>
                <a:cs typeface="DejaVu Sans"/>
              </a:rPr>
              <a:t>0.99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655372" y="3652565"/>
            <a:ext cx="213739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Giá trị tốt nhất được </a:t>
            </a:r>
            <a:r>
              <a:rPr sz="1000" b="1" dirty="0">
                <a:solidFill>
                  <a:srgbClr val="4CAF50"/>
                </a:solidFill>
                <a:latin typeface="DejaVu Sans"/>
                <a:cs typeface="DejaVu Sans"/>
              </a:rPr>
              <a:t>highlight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915125" y="4364676"/>
            <a:ext cx="305623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080"/>
                </a:solidFill>
                <a:latin typeface="DejaVu Sans"/>
                <a:cs typeface="DejaVu Sans"/>
              </a:rPr>
              <a:t>Phân tích </a:t>
            </a:r>
            <a:r>
              <a:rPr sz="1500" b="1" spc="11" dirty="0">
                <a:solidFill>
                  <a:srgbClr val="004080"/>
                </a:solidFill>
                <a:latin typeface="DejaVu Sans"/>
                <a:cs typeface="DejaVu Sans"/>
              </a:rPr>
              <a:t>mô</a:t>
            </a:r>
            <a:r>
              <a:rPr sz="1500" b="1" dirty="0">
                <a:solidFill>
                  <a:srgbClr val="004080"/>
                </a:solidFill>
                <a:latin typeface="DejaVu Sans"/>
                <a:cs typeface="DejaVu Sans"/>
              </a:rPr>
              <a:t> hình tốt nhất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01246" y="4728135"/>
            <a:ext cx="391993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4CAF50"/>
                </a:solidFill>
                <a:latin typeface="DejaVu Sans"/>
                <a:cs typeface="DejaVu Sans"/>
              </a:rPr>
              <a:t>Random</a:t>
            </a:r>
            <a:r>
              <a:rPr sz="1200" b="1" spc="-17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b="1" spc="-25" dirty="0">
                <a:solidFill>
                  <a:srgbClr val="4CAF50"/>
                </a:solidFill>
                <a:latin typeface="DejaVu Sans"/>
                <a:cs typeface="DejaVu Sans"/>
              </a:rPr>
              <a:t>Forest</a:t>
            </a:r>
            <a:r>
              <a:rPr sz="1200" b="1" spc="-3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thấy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suất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tổng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thể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vượt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01246" y="4947210"/>
            <a:ext cx="293463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4080"/>
                </a:solidFill>
                <a:latin typeface="DejaVu Sans"/>
                <a:cs typeface="DejaVu Sans"/>
              </a:rPr>
              <a:t>trội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sai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MAE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080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4080"/>
                </a:solidFill>
                <a:latin typeface="DejaVu Sans"/>
                <a:cs typeface="DejaVu Sans"/>
              </a:rPr>
              <a:t>MSE</a:t>
            </a:r>
            <a:r>
              <a:rPr sz="120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080"/>
                </a:solidFill>
                <a:latin typeface="DejaVu Sans"/>
                <a:cs typeface="DejaVu Sans"/>
              </a:rPr>
              <a:t>thấp</a:t>
            </a:r>
            <a:r>
              <a:rPr sz="1200" spc="-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080"/>
                </a:solidFill>
                <a:latin typeface="DejaVu Sans"/>
                <a:cs typeface="DejaVu Sans"/>
              </a:rPr>
              <a:t>nhất.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01246" y="5298880"/>
            <a:ext cx="274245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080"/>
                </a:solidFill>
                <a:latin typeface="DejaVu Sans"/>
                <a:cs typeface="DejaVu Sans"/>
              </a:rPr>
              <a:t>Gradient Boosting (tối ưu):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601246" y="5576615"/>
            <a:ext cx="4120895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Siêu tham số: learning_rate: 0.1, max_depth: 5, n_estimators: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200, subsample: 0.8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01246" y="5957615"/>
            <a:ext cx="4102644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Đánh giá trên</a:t>
            </a:r>
            <a:r>
              <a:rPr sz="1000" spc="10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tập </a:t>
            </a:r>
            <a:r>
              <a:rPr sz="1000" spc="-31" dirty="0">
                <a:solidFill>
                  <a:srgbClr val="004080"/>
                </a:solidFill>
                <a:latin typeface="DejaVu Sans"/>
                <a:cs typeface="DejaVu Sans"/>
              </a:rPr>
              <a:t>Test:</a:t>
            </a:r>
            <a:r>
              <a:rPr sz="1000" spc="37" dirty="0">
                <a:solidFill>
                  <a:srgbClr val="0040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MAE: 0.51, MSE: 0.66, RMSE: 0.81, R²: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004080"/>
                </a:solidFill>
                <a:latin typeface="DejaVu Sans"/>
                <a:cs typeface="DejaVu Sans"/>
              </a:rPr>
              <a:t>0.9908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647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14167" y="344543"/>
            <a:ext cx="2315869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4" dirty="0">
                <a:solidFill>
                  <a:srgbClr val="004080"/>
                </a:solidFill>
                <a:latin typeface="Liberation Sans"/>
                <a:cs typeface="Liberation Sans"/>
              </a:rPr>
              <a:t>CÂU</a:t>
            </a:r>
            <a:r>
              <a:rPr sz="4050" b="1" dirty="0">
                <a:solidFill>
                  <a:srgbClr val="004080"/>
                </a:solidFill>
                <a:latin typeface="Liberation Sans"/>
                <a:cs typeface="Liberation Sans"/>
              </a:rPr>
              <a:t> H</a:t>
            </a:r>
            <a:r>
              <a:rPr sz="4050" b="1" spc="201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4080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40500" y="3966513"/>
            <a:ext cx="3204223" cy="395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004080"/>
                </a:solidFill>
                <a:latin typeface="Liberation Sans"/>
                <a:cs typeface="Liberation Sans"/>
              </a:rPr>
              <a:t>Câu</a:t>
            </a:r>
            <a:r>
              <a:rPr sz="2500" b="1" dirty="0">
                <a:solidFill>
                  <a:srgbClr val="004080"/>
                </a:solidFill>
                <a:latin typeface="Liberation Sans"/>
                <a:cs typeface="Liberation Sans"/>
              </a:rPr>
              <a:t> h</a:t>
            </a:r>
            <a:r>
              <a:rPr sz="2500" b="1" spc="89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080"/>
                </a:solidFill>
                <a:latin typeface="Liberation Sans"/>
                <a:cs typeface="Liberation Sans"/>
              </a:rPr>
              <a:t>i</a:t>
            </a:r>
            <a:r>
              <a:rPr sz="2500" b="1" spc="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080"/>
                </a:solidFill>
                <a:latin typeface="Liberation Sans"/>
                <a:cs typeface="Liberation Sans"/>
              </a:rPr>
              <a:t>&amp;</a:t>
            </a:r>
            <a:r>
              <a:rPr sz="2500" b="1" spc="1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080"/>
                </a:solidFill>
                <a:latin typeface="Liberation Sans"/>
                <a:cs typeface="Liberation Sans"/>
              </a:rPr>
              <a:t>th</a:t>
            </a:r>
            <a:r>
              <a:rPr sz="2500" b="1" spc="88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080"/>
                </a:solidFill>
                <a:latin typeface="Liberation Sans"/>
                <a:cs typeface="Liberation Sans"/>
              </a:rPr>
              <a:t>o</a:t>
            </a:r>
            <a:r>
              <a:rPr sz="2500" b="1" spc="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080"/>
                </a:solidFill>
                <a:latin typeface="Liberation Sans"/>
                <a:cs typeface="Liberation Sans"/>
              </a:rPr>
              <a:t>lu</a:t>
            </a:r>
            <a:r>
              <a:rPr sz="2500" b="1" spc="886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21685" y="4496255"/>
            <a:ext cx="433072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7" dirty="0">
                <a:solidFill>
                  <a:srgbClr val="004080"/>
                </a:solidFill>
                <a:latin typeface="Liberation Sans"/>
                <a:cs typeface="Liberation Sans"/>
              </a:rPr>
              <a:t>M</a:t>
            </a:r>
            <a:r>
              <a:rPr sz="1700" spc="10" dirty="0">
                <a:solidFill>
                  <a:srgbClr val="004080"/>
                </a:solidFill>
                <a:latin typeface="DejaVu Sans"/>
                <a:cs typeface="DejaVu Sans"/>
              </a:rPr>
              <a:t>ọ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i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th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ắ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1700" spc="-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7" dirty="0">
                <a:solidFill>
                  <a:srgbClr val="004080"/>
                </a:solidFill>
                <a:latin typeface="Liberation Sans"/>
                <a:cs typeface="Liberation Sans"/>
              </a:rPr>
              <a:t>m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ắ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1700" spc="-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và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Liberation Sans"/>
                <a:cs typeface="Liberation Sans"/>
              </a:rPr>
              <a:t>góp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ý</a:t>
            </a:r>
            <a:r>
              <a:rPr sz="1700" spc="-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1700" spc="-27" dirty="0">
                <a:solidFill>
                  <a:srgbClr val="004080"/>
                </a:solidFill>
                <a:latin typeface="DejaVu Sans"/>
                <a:cs typeface="DejaVu Sans"/>
              </a:rPr>
              <a:t>ủ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a</a:t>
            </a:r>
            <a:r>
              <a:rPr sz="1700" spc="-17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th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ầ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y</a:t>
            </a:r>
            <a:r>
              <a:rPr sz="1700" spc="-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và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các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Liberation Sans"/>
                <a:cs typeface="Liberation Sans"/>
              </a:rPr>
              <a:t>b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ạ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2108" y="4791530"/>
            <a:ext cx="321039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xin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Liberation Sans"/>
                <a:cs typeface="Liberation Sans"/>
              </a:rPr>
              <a:t>g</a:t>
            </a:r>
            <a:r>
              <a:rPr sz="1700" spc="-27" dirty="0">
                <a:solidFill>
                  <a:srgbClr val="004080"/>
                </a:solidFill>
                <a:latin typeface="DejaVu Sans"/>
                <a:cs typeface="DejaVu Sans"/>
              </a:rPr>
              <a:t>ử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i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 v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ề</a:t>
            </a:r>
            <a:r>
              <a:rPr sz="1700" spc="46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mail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1700" spc="-27" dirty="0">
                <a:solidFill>
                  <a:srgbClr val="004080"/>
                </a:solidFill>
                <a:latin typeface="DejaVu Sans"/>
                <a:cs typeface="DejaVu Sans"/>
              </a:rPr>
              <a:t>ủ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a</a:t>
            </a:r>
            <a:r>
              <a:rPr sz="1700" spc="-17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Liberation Sans"/>
                <a:cs typeface="Liberation Sans"/>
              </a:rPr>
              <a:t>nhóm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080"/>
                </a:solidFill>
                <a:latin typeface="Liberation Sans"/>
                <a:cs typeface="Liberation Sans"/>
              </a:rPr>
              <a:t>em</a:t>
            </a:r>
            <a:r>
              <a:rPr sz="1700" spc="-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004080"/>
                </a:solidFill>
                <a:latin typeface="DejaVu Sans"/>
                <a:cs typeface="DejaVu Sans"/>
              </a:rPr>
              <a:t>ạ</a:t>
            </a:r>
            <a:r>
              <a:rPr sz="1700" spc="50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4080"/>
                </a:solidFill>
                <a:latin typeface="Liberation Sans"/>
                <a:cs typeface="Liberation Sans"/>
              </a:rPr>
              <a:t>!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28321" y="5577741"/>
            <a:ext cx="3274572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080"/>
                </a:solidFill>
                <a:latin typeface="Liberation Sans"/>
                <a:cs typeface="Liberatio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23017208@st.phenikaa-uni.edu.vn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57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04976" y="391172"/>
            <a:ext cx="4134346" cy="75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629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004080"/>
                </a:solidFill>
                <a:latin typeface="Liberation Sans"/>
                <a:cs typeface="Liberation Sans"/>
              </a:rPr>
              <a:t>L</a:t>
            </a:r>
            <a:r>
              <a:rPr sz="5050" b="1" spc="316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5050" b="1" dirty="0">
                <a:solidFill>
                  <a:srgbClr val="004080"/>
                </a:solidFill>
                <a:latin typeface="Liberation Sans"/>
                <a:cs typeface="Liberation Sans"/>
              </a:rPr>
              <a:t>I C</a:t>
            </a:r>
            <a:r>
              <a:rPr sz="5050" b="1" spc="2038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5050" b="1" dirty="0">
                <a:solidFill>
                  <a:srgbClr val="004080"/>
                </a:solidFill>
                <a:latin typeface="Liberation Sans"/>
                <a:cs typeface="Liberation Sans"/>
              </a:rPr>
              <a:t>M</a:t>
            </a:r>
            <a:r>
              <a:rPr sz="5050" b="1" spc="4563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5050" b="1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20142" y="1749878"/>
            <a:ext cx="9104034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spc="12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2500" spc="43" dirty="0">
                <a:solidFill>
                  <a:srgbClr val="004080"/>
                </a:solidFill>
                <a:latin typeface="DejaVu Sans"/>
                <a:cs typeface="DejaVu Sans"/>
              </a:rPr>
              <a:t>ả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m</a:t>
            </a:r>
            <a:r>
              <a:rPr sz="2500" spc="2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spc="44" dirty="0">
                <a:solidFill>
                  <a:srgbClr val="004080"/>
                </a:solidFill>
                <a:latin typeface="DejaVu Sans"/>
                <a:cs typeface="DejaVu Sans"/>
              </a:rPr>
              <a:t>ơ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2500" spc="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th</a:t>
            </a:r>
            <a:r>
              <a:rPr sz="2500" spc="43" dirty="0">
                <a:solidFill>
                  <a:srgbClr val="004080"/>
                </a:solidFill>
                <a:latin typeface="DejaVu Sans"/>
                <a:cs typeface="DejaVu Sans"/>
              </a:rPr>
              <a:t>ầ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y</a:t>
            </a:r>
            <a:r>
              <a:rPr sz="2500" spc="14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và </a:t>
            </a:r>
            <a:r>
              <a:rPr sz="2500" spc="10" dirty="0">
                <a:solidFill>
                  <a:srgbClr val="004080"/>
                </a:solidFill>
                <a:latin typeface="Liberation Sans"/>
                <a:cs typeface="Liberation Sans"/>
              </a:rPr>
              <a:t>các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spc="10" dirty="0">
                <a:solidFill>
                  <a:srgbClr val="004080"/>
                </a:solidFill>
                <a:latin typeface="Liberation Sans"/>
                <a:cs typeface="Liberation Sans"/>
              </a:rPr>
              <a:t>b</a:t>
            </a:r>
            <a:r>
              <a:rPr sz="2500" spc="43" dirty="0">
                <a:solidFill>
                  <a:srgbClr val="004080"/>
                </a:solidFill>
                <a:latin typeface="DejaVu Sans"/>
                <a:cs typeface="DejaVu Sans"/>
              </a:rPr>
              <a:t>ạ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2500" spc="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spc="10" dirty="0">
                <a:solidFill>
                  <a:srgbClr val="004080"/>
                </a:solidFill>
                <a:latin typeface="Liberation Sans"/>
                <a:cs typeface="Liberation Sans"/>
              </a:rPr>
              <a:t>đã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 theo </a:t>
            </a:r>
            <a:r>
              <a:rPr sz="2500" spc="10" dirty="0">
                <a:solidFill>
                  <a:srgbClr val="004080"/>
                </a:solidFill>
                <a:latin typeface="Liberation Sans"/>
                <a:cs typeface="Liberation Sans"/>
              </a:rPr>
              <a:t>dõi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spc="10" dirty="0">
                <a:solidFill>
                  <a:srgbClr val="004080"/>
                </a:solidFill>
                <a:latin typeface="Liberation Sans"/>
                <a:cs typeface="Liberation Sans"/>
              </a:rPr>
              <a:t>bài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 thuy</a:t>
            </a:r>
            <a:r>
              <a:rPr sz="2500" spc="37" dirty="0">
                <a:solidFill>
                  <a:srgbClr val="004080"/>
                </a:solidFill>
                <a:latin typeface="DejaVu Sans"/>
                <a:cs typeface="DejaVu Sans"/>
              </a:rPr>
              <a:t>ế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t</a:t>
            </a:r>
            <a:r>
              <a:rPr sz="2500" spc="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trình c</a:t>
            </a:r>
            <a:r>
              <a:rPr sz="2500" dirty="0">
                <a:solidFill>
                  <a:srgbClr val="004080"/>
                </a:solidFill>
                <a:latin typeface="DejaVu Sans"/>
                <a:cs typeface="DejaVu Sans"/>
              </a:rPr>
              <a:t>ủ</a:t>
            </a:r>
            <a:r>
              <a:rPr sz="2500" dirty="0">
                <a:solidFill>
                  <a:srgbClr val="004080"/>
                </a:solidFill>
                <a:latin typeface="Liberation Sans"/>
                <a:cs typeface="Liberation Sans"/>
              </a:rPr>
              <a:t>a</a:t>
            </a:r>
            <a:r>
              <a:rPr sz="2500" spc="15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500" spc="10" dirty="0">
                <a:solidFill>
                  <a:srgbClr val="004080"/>
                </a:solidFill>
                <a:latin typeface="Liberation Sans"/>
                <a:cs typeface="Liberation Sans"/>
              </a:rPr>
              <a:t>nhóm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29299" y="2271571"/>
            <a:ext cx="685745" cy="395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sz="2500" spc="12" dirty="0">
                <a:solidFill>
                  <a:srgbClr val="004080"/>
                </a:solidFill>
                <a:latin typeface="Liberation Sans"/>
                <a:cs typeface="Liberation Sans"/>
              </a:rPr>
              <a:t>em.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89756" y="2904579"/>
            <a:ext cx="956456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Xin chân thành c</a:t>
            </a:r>
            <a:r>
              <a:rPr sz="2000" spc="-25" dirty="0">
                <a:solidFill>
                  <a:srgbClr val="004080"/>
                </a:solidFill>
                <a:latin typeface="DejaVu Sans"/>
                <a:cs typeface="DejaVu Sans"/>
              </a:rPr>
              <a:t>ả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m</a:t>
            </a:r>
            <a:r>
              <a:rPr sz="2000" spc="17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spc="-23" dirty="0">
                <a:solidFill>
                  <a:srgbClr val="004080"/>
                </a:solidFill>
                <a:latin typeface="DejaVu Sans"/>
                <a:cs typeface="DejaVu Sans"/>
              </a:rPr>
              <a:t>ơ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2000" spc="1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s</a:t>
            </a:r>
            <a:r>
              <a:rPr sz="2000" dirty="0">
                <a:solidFill>
                  <a:srgbClr val="004080"/>
                </a:solidFill>
                <a:latin typeface="DejaVu Sans"/>
                <a:cs typeface="DejaVu Sans"/>
              </a:rPr>
              <a:t>ự</a:t>
            </a:r>
            <a:r>
              <a:rPr sz="2000" spc="67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quan tâm</a:t>
            </a:r>
            <a:r>
              <a:rPr sz="2000" spc="10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và đóng góp ý</a:t>
            </a:r>
            <a:r>
              <a:rPr sz="2000" spc="1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ki</a:t>
            </a:r>
            <a:r>
              <a:rPr sz="2000" spc="44" dirty="0">
                <a:solidFill>
                  <a:srgbClr val="004080"/>
                </a:solidFill>
                <a:latin typeface="DejaVu Sans"/>
                <a:cs typeface="DejaVu Sans"/>
              </a:rPr>
              <a:t>ế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  <a:r>
              <a:rPr sz="2000" spc="12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2000" dirty="0">
                <a:solidFill>
                  <a:srgbClr val="004080"/>
                </a:solidFill>
                <a:latin typeface="DejaVu Sans"/>
                <a:cs typeface="DejaVu Sans"/>
              </a:rPr>
              <a:t>ể</a:t>
            </a:r>
            <a:r>
              <a:rPr sz="2000" spc="10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đ</a:t>
            </a:r>
            <a:r>
              <a:rPr sz="2000" dirty="0">
                <a:solidFill>
                  <a:srgbClr val="004080"/>
                </a:solidFill>
                <a:latin typeface="DejaVu Sans"/>
                <a:cs typeface="DejaVu Sans"/>
              </a:rPr>
              <a:t>ề</a:t>
            </a:r>
            <a:r>
              <a:rPr sz="2000" spc="104" dirty="0">
                <a:solidFill>
                  <a:srgbClr val="00408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tài đ</a:t>
            </a:r>
            <a:r>
              <a:rPr sz="2000" dirty="0">
                <a:solidFill>
                  <a:srgbClr val="004080"/>
                </a:solidFill>
                <a:latin typeface="DejaVu Sans"/>
                <a:cs typeface="DejaVu Sans"/>
              </a:rPr>
              <a:t>ượ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c</a:t>
            </a:r>
            <a:r>
              <a:rPr sz="2000" spc="11" dirty="0">
                <a:solidFill>
                  <a:srgbClr val="004080"/>
                </a:solidFill>
                <a:latin typeface="Liberation Sans"/>
                <a:cs typeface="Liberation Sans"/>
              </a:rPr>
              <a:t> 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hoàn thi</a:t>
            </a:r>
            <a:r>
              <a:rPr sz="2000" spc="44" dirty="0">
                <a:solidFill>
                  <a:srgbClr val="004080"/>
                </a:solidFill>
                <a:latin typeface="DejaVu Sans"/>
                <a:cs typeface="DejaVu Sans"/>
              </a:rPr>
              <a:t>ệ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41652" y="3247479"/>
            <a:ext cx="66496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h</a:t>
            </a:r>
            <a:r>
              <a:rPr sz="2000" spc="-23" dirty="0">
                <a:solidFill>
                  <a:srgbClr val="004080"/>
                </a:solidFill>
                <a:latin typeface="DejaVu Sans"/>
                <a:cs typeface="DejaVu Sans"/>
              </a:rPr>
              <a:t>ơ</a:t>
            </a:r>
            <a:r>
              <a:rPr sz="2000" dirty="0">
                <a:solidFill>
                  <a:srgbClr val="004080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68341" y="6109265"/>
            <a:ext cx="2207481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Thank</a:t>
            </a:r>
            <a:r>
              <a:rPr sz="3000" b="1" spc="-49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-44" dirty="0">
                <a:solidFill>
                  <a:srgbClr val="4CAF50"/>
                </a:solidFill>
                <a:latin typeface="Liberation Sans"/>
                <a:cs typeface="Liberation Sans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2560</Words>
  <Application>Microsoft Office PowerPoint</Application>
  <PresentationFormat>Widescreen</PresentationFormat>
  <Paragraphs>411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9" baseType="lpstr">
      <vt:lpstr>JVNFBS+Be Vietnam Pro SemiBold</vt:lpstr>
      <vt:lpstr>Calibri</vt:lpstr>
      <vt:lpstr>TTBVDM+Be Vietnam Pro Bold</vt:lpstr>
      <vt:lpstr>Times New Roman</vt:lpstr>
      <vt:lpstr>DejaVu Sans</vt:lpstr>
      <vt:lpstr>IGNKLP+Be Vietnam Pro Regular</vt:lpstr>
      <vt:lpstr>CKJKGK+Be Vietnam Pro Regular</vt:lpstr>
      <vt:lpstr>HMFAPK+Be Vietnam Pro Bold</vt:lpstr>
      <vt:lpstr>QQAISW+Be Vietnam Pro Bold</vt:lpstr>
      <vt:lpstr>RUJULI+Be Vietnam Pro Bold</vt:lpstr>
      <vt:lpstr>Liberation Sans</vt:lpstr>
      <vt:lpstr>LPFLSU+Be Vietnam Pro SemiBold</vt:lpstr>
      <vt:lpstr>TVWQTK+Be Vietnam Pro SemiBold</vt:lpstr>
      <vt:lpstr>QQGJSQ+Be Vietnam Pro SemiBold</vt:lpstr>
      <vt:lpstr>SAMBRE+Be Vietnam Pro Regular</vt:lpstr>
      <vt:lpstr>HTGICJ+Be Vietnam Pro Regular</vt:lpstr>
      <vt:lpstr>Liberation Mono</vt:lpstr>
      <vt:lpstr>ISWTMM+Be Vietnam Pro Bold</vt:lpstr>
      <vt:lpstr>GAKIPB+Be Vietnam Pro Regular</vt:lpstr>
      <vt:lpstr>NGSAJG+Be Vietnam Pro Bold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Truong Van Dieu</cp:lastModifiedBy>
  <cp:revision>3</cp:revision>
  <dcterms:modified xsi:type="dcterms:W3CDTF">2025-10-20T06:40:13Z</dcterms:modified>
</cp:coreProperties>
</file>