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embeddedFontLst>
    <p:embeddedFont>
      <p:font typeface="JOWDEM+Liberation Sans Italic"/>
      <p:regular r:id="rId36"/>
    </p:embeddedFont>
    <p:embeddedFont>
      <p:font typeface="JRHSDR+KaTeX_Math-Italic"/>
      <p:regular r:id="rId37"/>
    </p:embeddedFont>
    <p:embeddedFont>
      <p:font typeface="PWCOME+KaTeX_Main-Regular"/>
      <p:regular r:id="rId38"/>
    </p:embeddedFont>
    <p:embeddedFont>
      <p:font typeface="SGGBWC+KaTeX_Size2-Regular"/>
      <p:regular r:id="rId39"/>
    </p:embeddedFont>
    <p:embeddedFont>
      <p:font typeface="QRVLSE+KaTeX_Math-Italic"/>
      <p:regular r:id="rId40"/>
    </p:embeddedFont>
    <p:embeddedFont>
      <p:font typeface="RJLWFV+KaTeX_Main-Regular"/>
      <p:regular r:id="rId41"/>
    </p:embeddedFont>
    <p:embeddedFont>
      <p:font typeface="LKMAGS+KaTeX_Main-Regular"/>
      <p:regular r:id="rId42"/>
    </p:embeddedFont>
    <p:embeddedFont>
      <p:font typeface="CWLVIL+KaTeX_Math-Italic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font" Target="fonts/font1.fntdata" /><Relationship Id="rId37" Type="http://schemas.openxmlformats.org/officeDocument/2006/relationships/font" Target="fonts/font2.fntdata" /><Relationship Id="rId38" Type="http://schemas.openxmlformats.org/officeDocument/2006/relationships/font" Target="fonts/font3.fntdata" /><Relationship Id="rId39" Type="http://schemas.openxmlformats.org/officeDocument/2006/relationships/font" Target="fonts/font4.fntdata" /><Relationship Id="rId4" Type="http://schemas.openxmlformats.org/officeDocument/2006/relationships/theme" Target="theme/theme1.xml" /><Relationship Id="rId40" Type="http://schemas.openxmlformats.org/officeDocument/2006/relationships/font" Target="fonts/font5.fntdata" /><Relationship Id="rId41" Type="http://schemas.openxmlformats.org/officeDocument/2006/relationships/font" Target="fonts/font6.fntdata" /><Relationship Id="rId42" Type="http://schemas.openxmlformats.org/officeDocument/2006/relationships/font" Target="fonts/font7.fntdata" /><Relationship Id="rId43" Type="http://schemas.openxmlformats.org/officeDocument/2006/relationships/font" Target="fonts/font8.fntdata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2674" y="2174867"/>
            <a:ext cx="5379798" cy="1666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4050" spc="135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405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34" b="1">
                <a:solidFill>
                  <a:srgbClr val="1f2937"/>
                </a:solidFill>
                <a:latin typeface="Liberation Sans"/>
                <a:cs typeface="Liberation Sans"/>
              </a:rPr>
              <a:t>Viêm</a:t>
            </a:r>
            <a:r>
              <a:rPr dirty="0" sz="4050" spc="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4050" spc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4050"/>
              </a:lnSpc>
              <a:spcBef>
                <a:spcPts val="50"/>
              </a:spcBef>
              <a:spcAft>
                <a:spcPts val="0"/>
              </a:spcAft>
            </a:pP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X-quang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4050" spc="133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4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  <a:p>
            <a:pPr marL="0" marR="0">
              <a:lnSpc>
                <a:spcPts val="2346"/>
              </a:lnSpc>
              <a:spcBef>
                <a:spcPts val="1924"/>
              </a:spcBef>
              <a:spcAft>
                <a:spcPts val="0"/>
              </a:spcAft>
            </a:pP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Course/H</a:t>
            </a:r>
            <a:r>
              <a:rPr dirty="0" sz="2000" spc="50">
                <a:solidFill>
                  <a:srgbClr val="6b7280"/>
                </a:solidFill>
                <a:latin typeface="DejaVu Sans"/>
                <a:cs typeface="DejaVu Sans"/>
              </a:rPr>
              <a:t>ọ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c</a:t>
            </a:r>
            <a:r>
              <a:rPr dirty="0" sz="2000" spc="11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ph</a:t>
            </a:r>
            <a:r>
              <a:rPr dirty="0" sz="2000" spc="49">
                <a:solidFill>
                  <a:srgbClr val="6b7280"/>
                </a:solidFill>
                <a:latin typeface="DejaVu Sans"/>
                <a:cs typeface="DejaVu Sans"/>
              </a:rPr>
              <a:t>ầ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n: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2000" spc="10">
                <a:solidFill>
                  <a:srgbClr val="6b7280"/>
                </a:solidFill>
                <a:latin typeface="Liberation Sans"/>
                <a:cs typeface="Liberation Sans"/>
              </a:rPr>
              <a:t>X</a:t>
            </a:r>
            <a:r>
              <a:rPr dirty="0" sz="2000">
                <a:solidFill>
                  <a:srgbClr val="6b7280"/>
                </a:solidFill>
                <a:latin typeface="DejaVu Sans"/>
                <a:cs typeface="DejaVu Sans"/>
              </a:rPr>
              <a:t>ử</a:t>
            </a:r>
            <a:r>
              <a:rPr dirty="0" sz="2000" spc="6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lý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2000" spc="49">
                <a:solidFill>
                  <a:srgbClr val="6b7280"/>
                </a:solidFill>
                <a:latin typeface="DejaVu Sans"/>
                <a:cs typeface="DejaVu Sans"/>
              </a:rPr>
              <a:t>ả</a:t>
            </a:r>
            <a:r>
              <a:rPr dirty="0" sz="2000">
                <a:solidFill>
                  <a:srgbClr val="6b7280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2674" y="4364429"/>
            <a:ext cx="492928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6b7280"/>
                </a:solidFill>
                <a:latin typeface="Liberation Sans"/>
                <a:cs typeface="Liberation Sans"/>
              </a:rPr>
              <a:t>Nhóm:</a:t>
            </a:r>
            <a:r>
              <a:rPr dirty="0" sz="1700" spc="-28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40">
                <a:solidFill>
                  <a:srgbClr val="6b7280"/>
                </a:solidFill>
                <a:latin typeface="Liberation Sans"/>
                <a:cs typeface="Liberation Sans"/>
              </a:rPr>
              <a:t>Tr</a:t>
            </a:r>
            <a:r>
              <a:rPr dirty="0" sz="1700" spc="-46">
                <a:solidFill>
                  <a:srgbClr val="6b7280"/>
                </a:solidFill>
                <a:latin typeface="DejaVu Sans"/>
                <a:cs typeface="DejaVu Sans"/>
              </a:rPr>
              <a:t>ươ</a:t>
            </a:r>
            <a:r>
              <a:rPr dirty="0" sz="1700" spc="-11">
                <a:solidFill>
                  <a:srgbClr val="6b7280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2">
                <a:solidFill>
                  <a:srgbClr val="6b7280"/>
                </a:solidFill>
                <a:latin typeface="Liberation Sans"/>
                <a:cs typeface="Liberation Sans"/>
              </a:rPr>
              <a:t>Văn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6b7280"/>
                </a:solidFill>
                <a:latin typeface="Liberation Sans"/>
                <a:cs typeface="Liberation Sans"/>
              </a:rPr>
              <a:t>Di</a:t>
            </a:r>
            <a:r>
              <a:rPr dirty="0" sz="1700">
                <a:solidFill>
                  <a:srgbClr val="6b7280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u</a:t>
            </a:r>
            <a:r>
              <a:rPr dirty="0" sz="1700" spc="-17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-</a:t>
            </a:r>
            <a:r>
              <a:rPr dirty="0" sz="1700" spc="-12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7">
                <a:solidFill>
                  <a:srgbClr val="6b7280"/>
                </a:solidFill>
                <a:latin typeface="Liberation Sans"/>
                <a:cs typeface="Liberation Sans"/>
              </a:rPr>
              <a:t>Mã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sinh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viên: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6b7280"/>
                </a:solidFill>
                <a:latin typeface="Liberation Sans"/>
                <a:cs typeface="Liberation Sans"/>
              </a:rPr>
              <a:t>23017208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374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9742" y="374707"/>
            <a:ext cx="360480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3000" spc="192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3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3000" spc="10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3000" spc="2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3000" spc="189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f4f4f"/>
                </a:solidFill>
                <a:latin typeface="Liberation Sans"/>
                <a:cs typeface="Liberation Sans"/>
              </a:rPr>
              <a:t>TÀI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252597"/>
            <a:ext cx="279150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B</a:t>
            </a:r>
            <a:r>
              <a:rPr dirty="0" sz="2000" spc="73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và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l</a:t>
            </a:r>
            <a:r>
              <a:rPr dirty="0" sz="2000" spc="72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687135"/>
            <a:ext cx="5198697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 spc="15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nghiêm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thúc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2824222"/>
            <a:ext cx="294692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m</a:t>
            </a:r>
            <a:r>
              <a:rPr dirty="0" sz="2000" spc="1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quan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tr</a:t>
            </a:r>
            <a:r>
              <a:rPr dirty="0" sz="2000" spc="719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a</a:t>
            </a:r>
            <a:r>
              <a:rPr dirty="0" sz="2000" spc="-6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AI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3268285"/>
            <a:ext cx="5231970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3">
                <a:solidFill>
                  <a:srgbClr val="374151"/>
                </a:solidFill>
                <a:latin typeface="Liberation Sans"/>
                <a:cs typeface="Liberation Sans"/>
              </a:rPr>
              <a:t>Trí</a:t>
            </a:r>
            <a:r>
              <a:rPr dirty="0" sz="1500" spc="2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72509" y="3520076"/>
            <a:ext cx="214640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58" b="1">
                <a:solidFill>
                  <a:srgbClr val="008080"/>
                </a:solidFill>
                <a:latin typeface="Liberation Sans"/>
                <a:cs typeface="Liberation Sans"/>
              </a:rPr>
              <a:t>Vai</a:t>
            </a:r>
            <a:r>
              <a:rPr dirty="0" sz="1700" spc="47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trò</a:t>
            </a:r>
            <a:r>
              <a:rPr dirty="0" sz="1700" spc="-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008080"/>
                </a:solidFill>
                <a:latin typeface="Liberation Sans"/>
                <a:cs typeface="Liberation Sans"/>
              </a:rPr>
              <a:t>X-quang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72509" y="3859589"/>
            <a:ext cx="53136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pháp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lõi,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72509" y="4116764"/>
            <a:ext cx="428041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89656" y="4420810"/>
            <a:ext cx="4832790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ẩ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đoán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viêm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ằ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X-quang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công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ụ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vào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kinh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nghi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500" spc="12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chuyên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gia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nh,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ra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thách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4b5563"/>
                </a:solidFill>
                <a:latin typeface="DejaVu Sans"/>
                <a:cs typeface="DejaVu Sans"/>
              </a:rPr>
              <a:t>ứ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72509" y="4548776"/>
            <a:ext cx="329165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08080"/>
                </a:solidFill>
                <a:latin typeface="Liberation Sans"/>
                <a:cs typeface="Liberation Sans"/>
              </a:rPr>
              <a:t>Thách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th</a:t>
            </a:r>
            <a:r>
              <a:rPr dirty="0" sz="1700" spc="571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008080"/>
                </a:solidFill>
                <a:latin typeface="Liberation Sans"/>
                <a:cs typeface="Liberation Sans"/>
              </a:rPr>
              <a:t>trong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đ</a:t>
            </a:r>
            <a:r>
              <a:rPr dirty="0" sz="1700" spc="49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th</a:t>
            </a:r>
            <a:r>
              <a:rPr dirty="0" sz="1700" spc="1039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008080"/>
                </a:solidFill>
                <a:latin typeface="Liberation Sans"/>
                <a:cs typeface="Liberation Sans"/>
              </a:rPr>
              <a:t>công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72509" y="4888289"/>
            <a:ext cx="565394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đòi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cao,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gây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sai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72509" y="5145464"/>
            <a:ext cx="354793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sót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gia.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53484" y="5567951"/>
            <a:ext cx="259235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d</a:t>
            </a:r>
            <a:r>
              <a:rPr dirty="0" sz="1700" spc="56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008080"/>
                </a:solidFill>
                <a:latin typeface="Liberation Sans"/>
                <a:cs typeface="Liberation Sans"/>
              </a:rPr>
              <a:t>CNN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08080"/>
                </a:solidFill>
                <a:latin typeface="Liberation Sans"/>
                <a:cs typeface="Liberation Sans"/>
              </a:rPr>
              <a:t>gi</a:t>
            </a:r>
            <a:r>
              <a:rPr dirty="0" sz="1700" spc="509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08080"/>
                </a:solidFill>
                <a:latin typeface="Liberation Sans"/>
                <a:cs typeface="Liberation Sans"/>
              </a:rPr>
              <a:t>quy</a:t>
            </a:r>
            <a:r>
              <a:rPr dirty="0" sz="1700" spc="57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72509" y="5907464"/>
            <a:ext cx="5549446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-ron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(CNN)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nhanh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chóng,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khách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670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33403" y="375723"/>
            <a:ext cx="4077544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3000" spc="106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Tiêu</a:t>
            </a:r>
            <a:r>
              <a:rPr dirty="0" sz="3000" spc="2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212121"/>
                </a:solidFill>
                <a:latin typeface="Liberation Sans"/>
                <a:cs typeface="Liberation Sans"/>
              </a:rPr>
              <a:t>Nghiên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253613"/>
            <a:ext cx="2619008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Tiêu</a:t>
            </a:r>
            <a:r>
              <a:rPr dirty="0" sz="2000" spc="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2000" spc="72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Quát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9656" y="1688151"/>
            <a:ext cx="548623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Xây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 spc="21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phát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viêm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X-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992951"/>
            <a:ext cx="341891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quang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757575"/>
                </a:solidFill>
                <a:latin typeface="Liberation Sans"/>
                <a:cs typeface="Liberation Sans"/>
              </a:rPr>
              <a:t>sâu.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2615688"/>
            <a:ext cx="206443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Tiêu</a:t>
            </a:r>
            <a:r>
              <a:rPr dirty="0" sz="2000" spc="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2000" spc="129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1312" y="3145476"/>
            <a:ext cx="27530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1.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1312" y="3697926"/>
            <a:ext cx="3058826" cy="13665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2.</a:t>
            </a:r>
            <a:r>
              <a:rPr dirty="0" sz="1500" spc="-2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-23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760"/>
              </a:lnSpc>
              <a:spcBef>
                <a:spcPts val="2539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3.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Xây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  <a:p>
            <a:pPr marL="0" marR="0">
              <a:lnSpc>
                <a:spcPts val="1760"/>
              </a:lnSpc>
              <a:spcBef>
                <a:spcPts val="2589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4.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80999" y="6073793"/>
            <a:ext cx="299518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0" b="1">
                <a:solidFill>
                  <a:srgbClr val="212121"/>
                </a:solidFill>
                <a:latin typeface="Liberation Sans"/>
                <a:cs typeface="Liberation Sans"/>
              </a:rPr>
              <a:t>Tiêu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212121"/>
                </a:solidFill>
                <a:latin typeface="Liberation Sans"/>
                <a:cs typeface="Liberation Sans"/>
              </a:rPr>
              <a:t>Chí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Hoàn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Thành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Đ</a:t>
            </a:r>
            <a:r>
              <a:rPr dirty="0" sz="1700" spc="102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Tài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0999" y="6422076"/>
            <a:ext cx="9118375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ỉ</a:t>
            </a:r>
            <a:r>
              <a:rPr dirty="0" sz="1500" spc="77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quan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(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&gt;85%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)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12789" y="204781"/>
            <a:ext cx="531870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Đóng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Góp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Báo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Cáo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55750" y="1476845"/>
            <a:ext cx="554960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374151"/>
                </a:solidFill>
                <a:latin typeface="Liberation Sans"/>
                <a:cs typeface="Liberation Sans"/>
              </a:rPr>
              <a:t>Xây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pipeline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2000" spc="6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2000" spc="6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hoàn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2000" spc="43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55750" y="2581745"/>
            <a:ext cx="6969990" cy="25554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2000" spc="10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khai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 spc="1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2000" spc="-3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TensorFlow/Keras</a:t>
            </a:r>
          </a:p>
          <a:p>
            <a:pPr marL="0" marR="0">
              <a:lnSpc>
                <a:spcPts val="2346"/>
              </a:lnSpc>
              <a:spcBef>
                <a:spcPts val="6478"/>
              </a:spcBef>
              <a:spcAft>
                <a:spcPts val="0"/>
              </a:spcAft>
            </a:pP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2000" spc="1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2000" spc="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phù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2000" spc="5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2346"/>
              </a:lnSpc>
              <a:spcBef>
                <a:spcPts val="6353"/>
              </a:spcBef>
              <a:spcAft>
                <a:spcPts val="0"/>
              </a:spcAft>
            </a:pPr>
            <a:r>
              <a:rPr dirty="0" sz="2000" spc="1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khách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20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test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55750" y="5915495"/>
            <a:ext cx="686586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2000" spc="109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2000" spc="1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nghi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2000" spc="17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200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2000" spc="10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2000" spc="28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2000" spc="49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2000" spc="44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20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166681"/>
            <a:ext cx="463330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B</a:t>
            </a:r>
            <a:r>
              <a:rPr dirty="0" sz="3000" spc="182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12121"/>
                </a:solidFill>
                <a:latin typeface="Liberation Sans"/>
                <a:cs typeface="Liberation Sans"/>
              </a:rPr>
              <a:t>Bài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12121"/>
                </a:solidFill>
                <a:latin typeface="Liberation Sans"/>
                <a:cs typeface="Liberation Sans"/>
              </a:rPr>
              <a:t>Thuy</a:t>
            </a:r>
            <a:r>
              <a:rPr dirty="0" sz="3000" spc="1039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-25" b="1">
                <a:solidFill>
                  <a:srgbClr val="212121"/>
                </a:solidFill>
                <a:latin typeface="Liberation Sans"/>
                <a:cs typeface="Liberation Sans"/>
              </a:rPr>
              <a:t>Trình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40808" y="1988340"/>
            <a:ext cx="167141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Gi</a:t>
            </a:r>
            <a:r>
              <a:rPr dirty="0" sz="1500" spc="47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1500" spc="48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chung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40808" y="2416965"/>
            <a:ext cx="181331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bi</a:t>
            </a:r>
            <a:r>
              <a:rPr dirty="0" sz="1500" spc="4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bài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40808" y="2845590"/>
            <a:ext cx="153006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9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500" spc="9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thuy</a:t>
            </a:r>
            <a:r>
              <a:rPr dirty="0" sz="1500" spc="4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40808" y="3274215"/>
            <a:ext cx="2770509" cy="23862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Nghiên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liên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</a:p>
          <a:p>
            <a:pPr marL="0" marR="0">
              <a:lnSpc>
                <a:spcPts val="1689"/>
              </a:lnSpc>
              <a:spcBef>
                <a:spcPts val="1685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9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4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4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500" spc="98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</a:p>
          <a:p>
            <a:pPr marL="0" marR="0">
              <a:lnSpc>
                <a:spcPts val="1689"/>
              </a:lnSpc>
              <a:spcBef>
                <a:spcPts val="161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1500" spc="14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pháp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9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xu</a:t>
            </a:r>
            <a:r>
              <a:rPr dirty="0" sz="1500" spc="4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689"/>
              </a:lnSpc>
              <a:spcBef>
                <a:spcPts val="1635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1500" spc="4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1500" spc="9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500" spc="56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nghi</a:t>
            </a:r>
            <a:r>
              <a:rPr dirty="0" sz="1500" spc="4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</a:p>
          <a:p>
            <a:pPr marL="0" marR="0">
              <a:lnSpc>
                <a:spcPts val="1689"/>
              </a:lnSpc>
              <a:spcBef>
                <a:spcPts val="1685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1500" spc="49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dirty="0" sz="1500" spc="90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</a:p>
          <a:p>
            <a:pPr marL="0" marR="0">
              <a:lnSpc>
                <a:spcPts val="1689"/>
              </a:lnSpc>
              <a:spcBef>
                <a:spcPts val="1685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1500" spc="49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lu</a:t>
            </a:r>
            <a:r>
              <a:rPr dirty="0" sz="1500" spc="4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146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tri</a:t>
            </a:r>
            <a:r>
              <a:rPr dirty="0" sz="1500" spc="4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4704" y="4240604"/>
            <a:ext cx="3653625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"B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700" spc="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-27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-15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rõ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ràng,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7" i="1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-15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logic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</a:p>
          <a:p>
            <a:pPr marL="30063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700" spc="-17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700" spc="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1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-11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lõi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700" spc="-17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i="1">
                <a:solidFill>
                  <a:srgbClr val="374151"/>
                </a:solidFill>
                <a:latin typeface="Liberation Sans"/>
                <a:cs typeface="Liberation Sans"/>
              </a:rPr>
              <a:t>nên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700" spc="1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thành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công</a:t>
            </a:r>
          </a:p>
          <a:p>
            <a:pPr marL="702022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i="1">
                <a:solidFill>
                  <a:srgbClr val="374151"/>
                </a:solidFill>
                <a:latin typeface="Liberation Sans"/>
                <a:cs typeface="Liberation Sans"/>
              </a:rPr>
              <a:t>bu</a:t>
            </a:r>
            <a:r>
              <a:rPr dirty="0" sz="1700" spc="1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i="1">
                <a:solidFill>
                  <a:srgbClr val="374151"/>
                </a:solidFill>
                <a:latin typeface="Liberation Sans"/>
                <a:cs typeface="Liberation Sans"/>
              </a:rPr>
              <a:t>thuy</a:t>
            </a:r>
            <a:r>
              <a:rPr dirty="0" sz="17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-11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i="1">
                <a:solidFill>
                  <a:srgbClr val="374151"/>
                </a:solidFill>
                <a:latin typeface="Liberation Sans"/>
                <a:cs typeface="Liberation Sans"/>
              </a:rPr>
              <a:t>trình."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79304" y="376231"/>
            <a:ext cx="298577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89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Bài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1f2937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8091" y="1939921"/>
            <a:ext cx="3036494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1.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lo</a:t>
            </a:r>
            <a:r>
              <a:rPr dirty="0" sz="2000" spc="7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2000" spc="12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(Image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Classification)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83647" y="2073271"/>
            <a:ext cx="431710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2.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2000" spc="7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Viêm</a:t>
            </a:r>
            <a:r>
              <a:rPr dirty="0" sz="2000" spc="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2000" spc="71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2000" spc="128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X-quang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98740" y="2698308"/>
            <a:ext cx="4990154" cy="8807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tiêu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này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3184" y="2822133"/>
            <a:ext cx="4937936" cy="8807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nhãn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toàn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H</a:t>
            </a:r>
            <a:r>
              <a:rPr dirty="0" sz="1500" spc="492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sâu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8740" y="4397371"/>
            <a:ext cx="186438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2000" spc="73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bài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3184" y="4435471"/>
            <a:ext cx="207837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50" b="1">
                <a:solidFill>
                  <a:srgbClr val="1f2937"/>
                </a:solidFill>
                <a:latin typeface="Liberation Sans"/>
                <a:cs typeface="Liberation Sans"/>
              </a:rPr>
              <a:t>Va</a:t>
            </a:r>
            <a:r>
              <a:rPr dirty="0" sz="2000" spc="-54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trò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2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8740" y="4927158"/>
            <a:ext cx="4773248" cy="8902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Phân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lo</a:t>
            </a:r>
            <a:r>
              <a:rPr dirty="0" sz="1500" spc="486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nh</a:t>
            </a:r>
            <a:r>
              <a:rPr dirty="0" sz="1500" spc="453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phân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có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giám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sát:</a:t>
            </a:r>
            <a:r>
              <a:rPr dirty="0" sz="15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nhãn.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'có</a:t>
            </a:r>
          </a:p>
          <a:p>
            <a:pPr marL="0" marR="0">
              <a:lnSpc>
                <a:spcPts val="1760"/>
              </a:lnSpc>
              <a:spcBef>
                <a:spcPts val="7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i'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'không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i'.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3184" y="4974783"/>
            <a:ext cx="5082325" cy="8807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(CNN)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lõi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580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05596" y="376231"/>
            <a:ext cx="613324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Vào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-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Ra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3000" spc="9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184" y="1339846"/>
            <a:ext cx="206323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Vào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(Input)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96870" y="1339846"/>
            <a:ext cx="213422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Ra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(Output)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1822008"/>
            <a:ext cx="462312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3347" y="1822008"/>
            <a:ext cx="460779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Cung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nhãn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1847" y="2288733"/>
            <a:ext cx="2030485" cy="1033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</a:p>
          <a:p>
            <a:pPr marL="0" marR="0">
              <a:lnSpc>
                <a:spcPts val="1689"/>
              </a:lnSpc>
              <a:spcBef>
                <a:spcPts val="1224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Kênh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màu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(grayscale)</a:t>
            </a:r>
          </a:p>
          <a:p>
            <a:pPr marL="0" marR="0">
              <a:lnSpc>
                <a:spcPts val="1760"/>
              </a:lnSpc>
              <a:spcBef>
                <a:spcPts val="1301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pixel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85569" y="2293140"/>
            <a:ext cx="257434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Nhãn: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Normal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/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Pneumonia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88423" y="2669733"/>
            <a:ext cx="304272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Softmax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556" y="6255275"/>
            <a:ext cx="491879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Quy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33" b="1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dirty="0" sz="1700" spc="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dirty="0" sz="1700" spc="50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Quát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56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6641658"/>
            <a:ext cx="980574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nh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X-quang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ng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c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→</a:t>
            </a:r>
            <a:r>
              <a:rPr dirty="0" sz="1500" spc="15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spc="1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Mô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hình</a:t>
            </a:r>
            <a:r>
              <a:rPr dirty="0" sz="1500" spc="-51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AI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(YOLOv11)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→</a:t>
            </a:r>
            <a:r>
              <a:rPr dirty="0" sz="1500" spc="15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Phân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i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tình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i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(Bình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/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Viêm</a:t>
            </a:r>
            <a:r>
              <a:rPr dirty="0" sz="1500" spc="15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i)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i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xác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 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374151"/>
                </a:solidFill>
                <a:latin typeface="JOWDEM+Liberation Sans Italic"/>
                <a:cs typeface="JOWDEM+Liberation Sans Italic"/>
              </a:rPr>
              <a:t>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2418" y="376231"/>
            <a:ext cx="745949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212121"/>
                </a:solidFill>
                <a:latin typeface="Liberation Sans"/>
                <a:cs typeface="Liberation Sans"/>
              </a:rPr>
              <a:t>Bi</a:t>
            </a:r>
            <a:r>
              <a:rPr dirty="0" sz="3000" spc="103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212121"/>
                </a:solidFill>
                <a:latin typeface="Liberation Sans"/>
                <a:cs typeface="Liberation Sans"/>
              </a:rPr>
              <a:t>Di</a:t>
            </a:r>
            <a:r>
              <a:rPr dirty="0" sz="3000" spc="103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212121"/>
                </a:solidFill>
                <a:latin typeface="Liberation Sans"/>
                <a:cs typeface="Liberation Sans"/>
              </a:rPr>
              <a:t>Toán</a:t>
            </a:r>
            <a:r>
              <a:rPr dirty="0" sz="3000" spc="6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H</a:t>
            </a:r>
            <a:r>
              <a:rPr dirty="0" sz="3000" spc="98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12121"/>
                </a:solidFill>
                <a:latin typeface="Liberation Sans"/>
                <a:cs typeface="Liberation Sans"/>
              </a:rPr>
              <a:t>Bài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212121"/>
                </a:solidFill>
                <a:latin typeface="Liberation Sans"/>
                <a:cs typeface="Liberation Sans"/>
              </a:rPr>
              <a:t>Toán</a:t>
            </a:r>
            <a:r>
              <a:rPr dirty="0" sz="3000" spc="6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12121"/>
                </a:solidFill>
                <a:latin typeface="Liberation Sans"/>
                <a:cs typeface="Liberation Sans"/>
              </a:rPr>
              <a:t>Phân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12121"/>
                </a:solidFill>
                <a:latin typeface="Liberation Sans"/>
                <a:cs typeface="Liberation Sans"/>
              </a:rPr>
              <a:t>Lo</a:t>
            </a:r>
            <a:r>
              <a:rPr dirty="0" sz="3000" spc="104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5641" y="1349900"/>
            <a:ext cx="292509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1.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212121"/>
                </a:solidFill>
                <a:latin typeface="Liberation Sans"/>
                <a:cs typeface="Liberation Sans"/>
              </a:rPr>
              <a:t>Bi</a:t>
            </a:r>
            <a:r>
              <a:rPr dirty="0" sz="1700" spc="586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di</a:t>
            </a:r>
            <a:r>
              <a:rPr dirty="0" sz="1700" spc="58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d</a:t>
            </a:r>
            <a:r>
              <a:rPr dirty="0" sz="1700" spc="103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li</a:t>
            </a:r>
            <a:r>
              <a:rPr dirty="0" sz="1700" spc="57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nhãn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40919" y="1349900"/>
            <a:ext cx="2468860" cy="5717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3.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Hàm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1700" spc="48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mát: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Cross</a:t>
            </a:r>
          </a:p>
          <a:p>
            <a:pPr marL="0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Entropy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36197" y="1349900"/>
            <a:ext cx="283533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4.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Lan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truy</a:t>
            </a:r>
            <a:r>
              <a:rPr dirty="0" sz="1700" spc="575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ng</a:t>
            </a:r>
            <a:r>
              <a:rPr dirty="0" sz="1700" spc="155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1700" spc="49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6197" y="1645175"/>
            <a:ext cx="135450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nh</a:t>
            </a:r>
            <a:r>
              <a:rPr dirty="0" sz="1700" spc="503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tham</a:t>
            </a:r>
            <a:r>
              <a:rPr dirty="0" sz="1700" spc="-1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5641" y="1727513"/>
            <a:ext cx="3056547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Chuy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thô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nh,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văn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n)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(vectors,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tensors).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Nhãn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mong</a:t>
            </a:r>
          </a:p>
          <a:p>
            <a:pPr marL="0" marR="0">
              <a:lnSpc>
                <a:spcPts val="1564"/>
              </a:lnSpc>
              <a:spcBef>
                <a:spcPts val="385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0919" y="2022788"/>
            <a:ext cx="3018724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khác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350" spc="3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nhãn.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tiêu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hóa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 spc="-37">
                <a:solidFill>
                  <a:srgbClr val="757575"/>
                </a:solidFill>
                <a:latin typeface="Liberation Sans"/>
                <a:cs typeface="Liberation Sans"/>
              </a:rPr>
              <a:t>này.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36197" y="2022788"/>
            <a:ext cx="2930815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mát.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Adam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optimizer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learning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rate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cách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tính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moment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hai.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29348" y="3407671"/>
            <a:ext cx="282961" cy="190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11451" y="3447819"/>
            <a:ext cx="268557" cy="3110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994397" y="3600219"/>
            <a:ext cx="549983" cy="3110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L</a:t>
            </a:r>
            <a:r>
              <a:rPr dirty="0" sz="1850" spc="-15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=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56657" y="3606024"/>
            <a:ext cx="333140" cy="3110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−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38265" y="3494051"/>
            <a:ext cx="487862" cy="554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212121"/>
                </a:solidFill>
                <a:latin typeface="SGGBWC+KaTeX_Size2-Regular"/>
                <a:cs typeface="SGGBWC+KaTeX_Size2-Regular"/>
              </a:rPr>
              <a:t>∑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271640" y="3600219"/>
            <a:ext cx="3284926" cy="3168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[</a:t>
            </a:r>
            <a:r>
              <a:rPr dirty="0" sz="1850" spc="1293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 spc="-15">
                <a:solidFill>
                  <a:srgbClr val="212121"/>
                </a:solidFill>
                <a:latin typeface="PWCOME+KaTeX_Main-Regular"/>
                <a:cs typeface="PWCOME+KaTeX_Main-Regular"/>
              </a:rPr>
              <a:t>log(</a:t>
            </a:r>
            <a:r>
              <a:rPr dirty="0" sz="1850" spc="-778" i="1">
                <a:solidFill>
                  <a:srgbClr val="212121"/>
                </a:solidFill>
                <a:latin typeface="JRHSDR+KaTeX_Math-Italic"/>
                <a:cs typeface="JRHSDR+KaTeX_Math-Italic"/>
              </a:rPr>
              <a:t>y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^</a:t>
            </a:r>
            <a:r>
              <a:rPr dirty="0" sz="1850" spc="-74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)</a:t>
            </a:r>
            <a:r>
              <a:rPr dirty="0" sz="1850" spc="-101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+</a:t>
            </a:r>
            <a:r>
              <a:rPr dirty="0" sz="1850" spc="-70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 spc="-44">
                <a:solidFill>
                  <a:srgbClr val="212121"/>
                </a:solidFill>
                <a:latin typeface="PWCOME+KaTeX_Main-Regular"/>
                <a:cs typeface="PWCOME+KaTeX_Main-Regular"/>
              </a:rPr>
              <a:t>(1</a:t>
            </a:r>
            <a:r>
              <a:rPr dirty="0" sz="1850" spc="-37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−</a:t>
            </a:r>
            <a:r>
              <a:rPr dirty="0" sz="1850" spc="-70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y</a:t>
            </a:r>
            <a:r>
              <a:rPr dirty="0" sz="1850" spc="72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)</a:t>
            </a:r>
            <a:r>
              <a:rPr dirty="0" sz="1850" spc="-201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 spc="-11">
                <a:solidFill>
                  <a:srgbClr val="212121"/>
                </a:solidFill>
                <a:latin typeface="PWCOME+KaTeX_Main-Regular"/>
                <a:cs typeface="PWCOME+KaTeX_Main-Regular"/>
              </a:rPr>
              <a:t>log(1</a:t>
            </a:r>
            <a:r>
              <a:rPr dirty="0" sz="1850" spc="-69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−</a:t>
            </a:r>
            <a:r>
              <a:rPr dirty="0" sz="1850" spc="-70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 spc="-778" i="1">
                <a:solidFill>
                  <a:srgbClr val="212121"/>
                </a:solidFill>
                <a:latin typeface="JRHSDR+KaTeX_Math-Italic"/>
                <a:cs typeface="JRHSDR+KaTeX_Math-Italic"/>
              </a:rPr>
              <a:t>y</a:t>
            </a:r>
            <a:r>
              <a:rPr dirty="0" sz="1850">
                <a:solidFill>
                  <a:srgbClr val="212121"/>
                </a:solidFill>
                <a:latin typeface="PWCOME+KaTeX_Main-Regular"/>
                <a:cs typeface="PWCOME+KaTeX_Main-Regular"/>
              </a:rPr>
              <a:t>^</a:t>
            </a:r>
            <a:r>
              <a:rPr dirty="0" sz="1850" spc="-74">
                <a:solidFill>
                  <a:srgbClr val="212121"/>
                </a:solidFill>
                <a:latin typeface="PWCOME+KaTeX_Main-Regular"/>
                <a:cs typeface="PWCOME+KaTeX_Main-Regular"/>
              </a:rPr>
              <a:t> </a:t>
            </a:r>
            <a:r>
              <a:rPr dirty="0" sz="1850" spc="-44">
                <a:solidFill>
                  <a:srgbClr val="212121"/>
                </a:solidFill>
                <a:latin typeface="PWCOME+KaTeX_Main-Regular"/>
                <a:cs typeface="PWCOME+KaTeX_Main-Regular"/>
              </a:rPr>
              <a:t>)]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338315" y="3643430"/>
            <a:ext cx="322794" cy="2782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y</a:t>
            </a:r>
          </a:p>
          <a:p>
            <a:pPr marL="11430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58494" y="3731521"/>
            <a:ext cx="208494" cy="190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95231" y="3731521"/>
            <a:ext cx="208494" cy="190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185099" y="3731521"/>
            <a:ext cx="208494" cy="190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665463" y="3805355"/>
            <a:ext cx="338948" cy="255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45641" y="3969275"/>
            <a:ext cx="276172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2.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212121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hình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d</a:t>
            </a:r>
            <a:r>
              <a:rPr dirty="0" sz="1700" spc="103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đoán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(CNN)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971603" y="3969646"/>
            <a:ext cx="208494" cy="190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212121"/>
                </a:solidFill>
                <a:latin typeface="JRHSDR+KaTeX_Math-Italic"/>
                <a:cs typeface="JRHSDR+KaTeX_Math-Italic"/>
              </a:rPr>
              <a:t>i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028753" y="3939404"/>
            <a:ext cx="360192" cy="229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spc="-36">
                <a:solidFill>
                  <a:srgbClr val="212121"/>
                </a:solidFill>
                <a:latin typeface="PWCOME+KaTeX_Main-Regular"/>
                <a:cs typeface="PWCOME+KaTeX_Main-Regular"/>
              </a:rPr>
              <a:t>=1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636197" y="4197875"/>
            <a:ext cx="301181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5.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Các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ch</a:t>
            </a:r>
            <a:r>
              <a:rPr dirty="0" sz="1700" spc="44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s</a:t>
            </a:r>
            <a:r>
              <a:rPr dirty="0" sz="1700" spc="95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đánh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giá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45641" y="4346888"/>
            <a:ext cx="2855983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CNN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ánh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x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 spc="33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thành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p.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tích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p,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pooling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fully-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connected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trích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xu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863904" y="4585013"/>
            <a:ext cx="202016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chính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(Accuracy)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863904" y="4880288"/>
            <a:ext cx="1954895" cy="8327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(Recall)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(Precision)</a:t>
            </a:r>
          </a:p>
          <a:p>
            <a:pPr marL="0" marR="0">
              <a:lnSpc>
                <a:spcPts val="1501"/>
              </a:lnSpc>
              <a:spcBef>
                <a:spcPts val="866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F1-Score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863904" y="5779555"/>
            <a:ext cx="92957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ROC</a:t>
            </a:r>
            <a:r>
              <a:rPr dirty="0" sz="1350" spc="-75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AUC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162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43721" y="376231"/>
            <a:ext cx="5656943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Thách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3000" spc="104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Bài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1f2937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984" y="1435625"/>
            <a:ext cx="434969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115e59"/>
                </a:solidFill>
                <a:latin typeface="Liberation Sans"/>
                <a:cs typeface="Liberation Sans"/>
              </a:rPr>
              <a:t>Ch</a:t>
            </a:r>
            <a:r>
              <a:rPr dirty="0" sz="1700" spc="50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</a:t>
            </a:r>
            <a:r>
              <a:rPr dirty="0" sz="1700" spc="1547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ng</a:t>
            </a:r>
            <a:r>
              <a:rPr dirty="0" sz="1700" spc="96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X-quang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không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đ</a:t>
            </a:r>
            <a:r>
              <a:rPr dirty="0" sz="1700" spc="49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đ</a:t>
            </a:r>
            <a:r>
              <a:rPr dirty="0" sz="1700" spc="56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435625"/>
            <a:ext cx="432554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Sai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</a:t>
            </a:r>
            <a:r>
              <a:rPr dirty="0" sz="1700" spc="571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ch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ph</a:t>
            </a:r>
            <a:r>
              <a:rPr dirty="0" sz="1700" spc="503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d</a:t>
            </a:r>
            <a:r>
              <a:rPr dirty="0" sz="1700" spc="1031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li</a:t>
            </a:r>
            <a:r>
              <a:rPr dirty="0" sz="1700" spc="57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(Domain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Shift)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1860108"/>
            <a:ext cx="50643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1860108"/>
            <a:ext cx="507020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2164908"/>
            <a:ext cx="104999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ở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2540" y="2164908"/>
            <a:ext cx="43796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khai.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984" y="2797700"/>
            <a:ext cx="338959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S</a:t>
            </a:r>
            <a:r>
              <a:rPr dirty="0" sz="1700" spc="103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đa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d</a:t>
            </a:r>
            <a:r>
              <a:rPr dirty="0" sz="1700" spc="49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v</a:t>
            </a:r>
            <a:r>
              <a:rPr dirty="0" sz="1700" spc="1032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hình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thái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b</a:t>
            </a:r>
            <a:r>
              <a:rPr dirty="0" sz="1700" spc="56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lý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22540" y="2797700"/>
            <a:ext cx="491448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Yêu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c</a:t>
            </a:r>
            <a:r>
              <a:rPr dirty="0" sz="1700" spc="49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tính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gi</a:t>
            </a:r>
            <a:r>
              <a:rPr dirty="0" sz="1700" spc="509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thích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(Explainability)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trong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y</a:t>
            </a:r>
            <a:r>
              <a:rPr dirty="0" sz="1700" spc="-17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3231708"/>
            <a:ext cx="491413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thái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nhau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22540" y="3231708"/>
            <a:ext cx="51060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rõ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ràng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6984" y="3526983"/>
            <a:ext cx="325234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3526983"/>
            <a:ext cx="466089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6984" y="4159775"/>
            <a:ext cx="416263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M</a:t>
            </a:r>
            <a:r>
              <a:rPr dirty="0" sz="1700" spc="484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cân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d</a:t>
            </a:r>
            <a:r>
              <a:rPr dirty="0" sz="1700" spc="1031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li</a:t>
            </a:r>
            <a:r>
              <a:rPr dirty="0" sz="1700" spc="57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(Class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Imbalance)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22540" y="4159775"/>
            <a:ext cx="308728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ch</a:t>
            </a:r>
            <a:r>
              <a:rPr dirty="0" sz="1700" spc="1043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tài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nguyên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tính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6984" y="4593783"/>
            <a:ext cx="487792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ít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22540" y="4593783"/>
            <a:ext cx="5174057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yêu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tài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ở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6984" y="4889058"/>
            <a:ext cx="37173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36984" y="5531375"/>
            <a:ext cx="430182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Nguy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c</a:t>
            </a:r>
            <a:r>
              <a:rPr dirty="0" sz="1700" spc="957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Overfitting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hình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h</a:t>
            </a:r>
            <a:r>
              <a:rPr dirty="0" sz="1700" spc="49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6984" y="5955858"/>
            <a:ext cx="50032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6984" y="6260658"/>
            <a:ext cx="408533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5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63427" y="164896"/>
            <a:ext cx="7017538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2500" spc="89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Liberation Sans"/>
                <a:cs typeface="Liberation Sans"/>
              </a:rPr>
              <a:t>Quan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dirty="0" sz="2500" spc="89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Sâu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-20" b="1">
                <a:solidFill>
                  <a:srgbClr val="ffffff"/>
                </a:solidFill>
                <a:latin typeface="Liberation Sans"/>
                <a:cs typeface="Liberation Sans"/>
              </a:rPr>
              <a:t>Trong</a:t>
            </a:r>
            <a:r>
              <a:rPr dirty="0" sz="2500" spc="36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dirty="0" sz="2500" spc="68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Giác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Liberation Sans"/>
                <a:cs typeface="Liberation Sans"/>
              </a:rPr>
              <a:t>Máy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Tính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21128" y="1080534"/>
            <a:ext cx="338768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44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giác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Máy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347" y="1251984"/>
            <a:ext cx="206883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Khái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08255" y="1466917"/>
            <a:ext cx="2800578" cy="6045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ninh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khuôn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t)</a:t>
            </a:r>
          </a:p>
          <a:p>
            <a:pPr marL="729108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 spc="-15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5347" y="1638367"/>
            <a:ext cx="5290632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(Deep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Learning)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nhánh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spc="-23" i="1">
                <a:solidFill>
                  <a:srgbClr val="374151"/>
                </a:solidFill>
                <a:latin typeface="Liberation Sans"/>
                <a:cs typeface="Liberation Sans"/>
              </a:rPr>
              <a:t>máy,</a:t>
            </a:r>
            <a:r>
              <a:rPr dirty="0" sz="1500" spc="28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-ron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nhân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siêu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40700" y="2152717"/>
            <a:ext cx="2768182" cy="6045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ng)</a:t>
            </a:r>
          </a:p>
          <a:p>
            <a:pPr marL="816471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(xe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lái)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2723" y="2838517"/>
            <a:ext cx="300613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(giám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16322" y="3128409"/>
            <a:ext cx="148243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28842" y="3385584"/>
            <a:ext cx="358010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700" spc="50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1700" spc="11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700" spc="-3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Y</a:t>
            </a:r>
            <a:r>
              <a:rPr dirty="0" sz="1700" spc="-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khoa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4010" y="3514792"/>
            <a:ext cx="4900192" cy="947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khoanh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vùng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theo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44542" y="3771967"/>
            <a:ext cx="5364362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155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</a:p>
          <a:p>
            <a:pPr marL="195575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nhanh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chóng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5347" y="5090559"/>
            <a:ext cx="258869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700" spc="57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5347" y="5476942"/>
            <a:ext cx="5097843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-ron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12169" y="376231"/>
            <a:ext cx="5719976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3000" spc="106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9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-ron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Tích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(CNN)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184" y="1501771"/>
            <a:ext cx="405329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Ki</a:t>
            </a:r>
            <a:r>
              <a:rPr dirty="0" sz="2000" spc="711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trúc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</a:t>
            </a:r>
            <a:r>
              <a:rPr dirty="0" sz="2000" spc="725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i</a:t>
            </a:r>
            <a:r>
              <a:rPr dirty="0" sz="2000" spc="128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cho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d</a:t>
            </a:r>
            <a:r>
              <a:rPr dirty="0" sz="2000" spc="128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li</a:t>
            </a:r>
            <a:r>
              <a:rPr dirty="0" sz="2000" spc="71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u</a:t>
            </a:r>
            <a:r>
              <a:rPr dirty="0" sz="2000" spc="128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501771"/>
            <a:ext cx="451491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c107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Chính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trong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c107"/>
                </a:solidFill>
                <a:latin typeface="Liberation Sans"/>
                <a:cs typeface="Liberation Sans"/>
              </a:rPr>
              <a:t>Ki</a:t>
            </a:r>
            <a:r>
              <a:rPr dirty="0" sz="2000" spc="711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trúc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c10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1993458"/>
            <a:ext cx="4796254" cy="852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2026175"/>
            <a:ext cx="304180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Tích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700" spc="50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(Convolution)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2374458"/>
            <a:ext cx="493085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Kernel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c)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quét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2540" y="2669733"/>
            <a:ext cx="32830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184" y="3130546"/>
            <a:ext cx="504330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Quá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trình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h</a:t>
            </a:r>
            <a:r>
              <a:rPr dirty="0" sz="2000" spc="72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đ</a:t>
            </a:r>
            <a:r>
              <a:rPr dirty="0" sz="2000" spc="72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tr</a:t>
            </a:r>
            <a:r>
              <a:rPr dirty="0" sz="2000" spc="71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</a:t>
            </a:r>
            <a:r>
              <a:rPr dirty="0" sz="2000" spc="256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X-quang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22540" y="3140600"/>
            <a:ext cx="277594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Pooling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(MaxPooling)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22540" y="3479358"/>
            <a:ext cx="4880442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tham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MaxPooling.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3184" y="3612708"/>
            <a:ext cx="5094417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môn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do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22540" y="5312300"/>
            <a:ext cx="322656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Flatten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Fully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Connected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5651058"/>
            <a:ext cx="4901545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Flatten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vector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1D.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Fully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Connected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cùng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21841" y="5728013"/>
            <a:ext cx="465963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CNN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cung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pháp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hóa,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tăng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1841" y="5985188"/>
            <a:ext cx="438326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xác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tích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y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,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là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viêm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i.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38275" y="376231"/>
            <a:ext cx="706757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Hàm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Kích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(Activation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Functions)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1254121"/>
            <a:ext cx="228567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50" b="1">
                <a:solidFill>
                  <a:srgbClr val="1f2937"/>
                </a:solidFill>
                <a:latin typeface="Liberation Sans"/>
                <a:cs typeface="Liberation Sans"/>
              </a:rPr>
              <a:t>Va</a:t>
            </a:r>
            <a:r>
              <a:rPr dirty="0" sz="2000" spc="-54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trò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0640" y="1254121"/>
            <a:ext cx="208168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Sigmoid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-30" b="1">
                <a:solidFill>
                  <a:srgbClr val="1f2937"/>
                </a:solidFill>
                <a:latin typeface="Liberation Sans"/>
                <a:cs typeface="Liberation Sans"/>
              </a:rPr>
              <a:t>Tanh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3747" y="1736283"/>
            <a:ext cx="3009381" cy="1023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phi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tuy</a:t>
            </a:r>
            <a:r>
              <a:rPr dirty="0" sz="1500" spc="48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tính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phép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ph</a:t>
            </a:r>
            <a:r>
              <a:rPr dirty="0" sz="1500" spc="557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t</a:t>
            </a:r>
            <a:r>
              <a:rPr dirty="0" sz="1500" spc="486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-ron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sinh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19303" y="1740690"/>
            <a:ext cx="472005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Nh</a:t>
            </a:r>
            <a:r>
              <a:rPr dirty="0" sz="1500" spc="1456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đi</a:t>
            </a:r>
            <a:r>
              <a:rPr dirty="0" sz="1500" spc="47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m: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vanishing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gradient,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Sigmoid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2035965"/>
            <a:ext cx="133717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zero-centered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19303" y="2422083"/>
            <a:ext cx="32233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Ít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dùng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60640" y="2959096"/>
            <a:ext cx="178832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Hàm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Softmax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5084" y="3216271"/>
            <a:ext cx="1446855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Hàm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ReLU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60640" y="3441258"/>
            <a:ext cx="504884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bài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5672" y="3698433"/>
            <a:ext cx="490903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đi</a:t>
            </a:r>
            <a:r>
              <a:rPr dirty="0" sz="1500" spc="47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m:</a:t>
            </a:r>
            <a:r>
              <a:rPr dirty="0" sz="1500" spc="-3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nhanh,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vanishing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gradient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60640" y="3736533"/>
            <a:ext cx="275150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5672" y="4079433"/>
            <a:ext cx="408996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d</a:t>
            </a:r>
            <a:r>
              <a:rPr dirty="0" sz="1500" spc="565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ng: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60640" y="4283071"/>
            <a:ext cx="321253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2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2000" spc="71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Hàm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Kích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dirty="0" sz="2000" spc="7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19303" y="4765233"/>
            <a:ext cx="160819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ReLU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36006" y="4853260"/>
            <a:ext cx="2076402" cy="341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88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 spc="187" i="1">
                <a:solidFill>
                  <a:srgbClr val="1f2937"/>
                </a:solidFill>
                <a:latin typeface="QRVLSE+KaTeX_Math-Italic"/>
                <a:cs typeface="QRVLSE+KaTeX_Math-Italic"/>
              </a:rPr>
              <a:t>f</a:t>
            </a:r>
            <a:r>
              <a:rPr dirty="0" sz="2050" spc="28">
                <a:solidFill>
                  <a:srgbClr val="1f2937"/>
                </a:solidFill>
                <a:latin typeface="RJLWFV+KaTeX_Main-Regular"/>
                <a:cs typeface="RJLWFV+KaTeX_Main-Regular"/>
              </a:rPr>
              <a:t>(</a:t>
            </a:r>
            <a:r>
              <a:rPr dirty="0" sz="2050" spc="-47" i="1">
                <a:solidFill>
                  <a:srgbClr val="1f2937"/>
                </a:solidFill>
                <a:latin typeface="QRVLSE+KaTeX_Math-Italic"/>
                <a:cs typeface="QRVLSE+KaTeX_Math-Italic"/>
              </a:rPr>
              <a:t>x</a:t>
            </a:r>
            <a:r>
              <a:rPr dirty="0" sz="2050">
                <a:solidFill>
                  <a:srgbClr val="1f2937"/>
                </a:solidFill>
                <a:latin typeface="RJLWFV+KaTeX_Main-Regular"/>
                <a:cs typeface="RJLWFV+KaTeX_Main-Regular"/>
              </a:rPr>
              <a:t>)</a:t>
            </a:r>
            <a:r>
              <a:rPr dirty="0" sz="2050" spc="79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1f2937"/>
                </a:solidFill>
                <a:latin typeface="RJLWFV+KaTeX_Main-Regular"/>
                <a:cs typeface="RJLWFV+KaTeX_Main-Regular"/>
              </a:rPr>
              <a:t>=</a:t>
            </a:r>
            <a:r>
              <a:rPr dirty="0" sz="2050" spc="3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1f2937"/>
                </a:solidFill>
                <a:latin typeface="RJLWFV+KaTeX_Main-Regular"/>
                <a:cs typeface="RJLWFV+KaTeX_Main-Regular"/>
              </a:rPr>
              <a:t>max(0,</a:t>
            </a:r>
            <a:r>
              <a:rPr dirty="0" sz="2050" spc="-14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2050" spc="-47" i="1">
                <a:solidFill>
                  <a:srgbClr val="1f2937"/>
                </a:solidFill>
                <a:latin typeface="QRVLSE+KaTeX_Math-Italic"/>
                <a:cs typeface="QRVLSE+KaTeX_Math-Italic"/>
              </a:rPr>
              <a:t>x</a:t>
            </a:r>
            <a:r>
              <a:rPr dirty="0" sz="2050">
                <a:solidFill>
                  <a:srgbClr val="1f2937"/>
                </a:solidFill>
                <a:latin typeface="RJLWFV+KaTeX_Main-Regular"/>
                <a:cs typeface="RJLWFV+KaTeX_Main-Regular"/>
              </a:rPr>
              <a:t>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19303" y="5146233"/>
            <a:ext cx="316316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Softmax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24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94134" y="688967"/>
            <a:ext cx="3339581" cy="610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212121"/>
                </a:solidFill>
                <a:latin typeface="Liberation Sans"/>
                <a:cs typeface="Liberation Sans"/>
              </a:rPr>
              <a:t>Hàm</a:t>
            </a:r>
            <a:r>
              <a:rPr dirty="0" sz="4050" spc="-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4050" spc="133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4050" spc="-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4050" spc="-12" b="1">
                <a:solidFill>
                  <a:srgbClr val="212121"/>
                </a:solidFill>
                <a:latin typeface="Liberation Sans"/>
                <a:cs typeface="Liberation Sans"/>
              </a:rPr>
              <a:t>Mát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8616" y="692146"/>
            <a:ext cx="2324558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Đ</a:t>
            </a:r>
            <a:r>
              <a:rPr dirty="0" sz="2000" spc="56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nghĩa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tiêu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60791" y="692146"/>
            <a:ext cx="2447724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Hàm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Mát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Phân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lo</a:t>
            </a:r>
            <a:r>
              <a:rPr dirty="0" sz="2000" spc="725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4134" y="1329612"/>
            <a:ext cx="2356590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>
                <a:solidFill>
                  <a:srgbClr val="212121"/>
                </a:solidFill>
                <a:latin typeface="Liberation Sans"/>
                <a:cs typeface="Liberation Sans"/>
              </a:rPr>
              <a:t>(Loss</a:t>
            </a:r>
            <a:r>
              <a:rPr dirty="0" sz="2500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500">
                <a:solidFill>
                  <a:srgbClr val="212121"/>
                </a:solidFill>
                <a:latin typeface="Liberation Sans"/>
                <a:cs typeface="Liberation Sans"/>
              </a:rPr>
              <a:t>Function)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33169" y="1546538"/>
            <a:ext cx="212075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sai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95344" y="1550455"/>
            <a:ext cx="2332462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Binary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Cross-Entropy: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33169" y="1803713"/>
            <a:ext cx="138599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95344" y="1803713"/>
            <a:ext cx="21543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(2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0999" y="2174433"/>
            <a:ext cx="4662534" cy="11950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Hàm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Mát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đóng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vai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trò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then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máy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Deep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Learning,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đó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hóa</a:t>
            </a:r>
          </a:p>
          <a:p>
            <a:pPr marL="0" marR="0">
              <a:lnSpc>
                <a:spcPts val="1760"/>
              </a:lnSpc>
              <a:spcBef>
                <a:spcPts val="714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xác.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33169" y="2194238"/>
            <a:ext cx="237853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tiêu:</a:t>
            </a:r>
            <a:r>
              <a:rPr dirty="0" sz="1350" spc="-25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95344" y="2198155"/>
            <a:ext cx="2370104" cy="737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Categorical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Cross-Entropy:</a:t>
            </a:r>
          </a:p>
          <a:p>
            <a:pPr marL="0" marR="0">
              <a:lnSpc>
                <a:spcPts val="1564"/>
              </a:lnSpc>
              <a:spcBef>
                <a:spcPts val="492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(nhi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2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p).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33169" y="2451413"/>
            <a:ext cx="82576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mát.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33169" y="2832413"/>
            <a:ext cx="246093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ẫ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33169" y="3089588"/>
            <a:ext cx="119687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98616" y="4397371"/>
            <a:ext cx="2390599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50" b="1">
                <a:solidFill>
                  <a:srgbClr val="212121"/>
                </a:solidFill>
                <a:latin typeface="Liberation Sans"/>
                <a:cs typeface="Liberation Sans"/>
              </a:rPr>
              <a:t>Va</a:t>
            </a:r>
            <a:r>
              <a:rPr dirty="0" sz="2000" spc="-546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trò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trong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Hu</a:t>
            </a:r>
            <a:r>
              <a:rPr dirty="0" sz="2000" spc="71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luy</a:t>
            </a:r>
            <a:r>
              <a:rPr dirty="0" sz="2000" spc="72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960791" y="4397371"/>
            <a:ext cx="2287722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2000" spc="73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nh</a:t>
            </a:r>
            <a:r>
              <a:rPr dirty="0" sz="2000" spc="719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-101" b="1">
                <a:solidFill>
                  <a:srgbClr val="212121"/>
                </a:solidFill>
                <a:latin typeface="Liberation Sans"/>
                <a:cs typeface="Liberation Sans"/>
              </a:rPr>
              <a:t>Tr</a:t>
            </a:r>
            <a:r>
              <a:rPr dirty="0" sz="2000" spc="82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s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833169" y="5261288"/>
            <a:ext cx="250615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ồ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t,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ứ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195344" y="5261288"/>
            <a:ext cx="232510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ơ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ở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33169" y="5518463"/>
            <a:ext cx="72999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'sai'.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195344" y="5518463"/>
            <a:ext cx="120493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mát.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833169" y="5899463"/>
            <a:ext cx="221295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ẫ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757575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195344" y="5899463"/>
            <a:ext cx="210748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833169" y="6156638"/>
            <a:ext cx="128129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195344" y="6156638"/>
            <a:ext cx="130078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833169" y="6537638"/>
            <a:ext cx="229738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195344" y="6537638"/>
            <a:ext cx="228721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truy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350" spc="-15">
                <a:solidFill>
                  <a:srgbClr val="757575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833169" y="6794813"/>
            <a:ext cx="172820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 spc="3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195344" y="7055905"/>
            <a:ext cx="1575660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57575"/>
                </a:solidFill>
                <a:latin typeface="Liberation Sans"/>
                <a:cs typeface="Liberation Sans"/>
              </a:rPr>
              <a:t>(backpropagation).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1601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48892" y="364040"/>
            <a:ext cx="6246481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Thu</a:t>
            </a:r>
            <a:r>
              <a:rPr dirty="0" sz="3000" spc="104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1f2937"/>
                </a:solidFill>
                <a:latin typeface="Liberation Sans"/>
                <a:cs typeface="Liberation Sans"/>
              </a:rPr>
              <a:t>Toán</a:t>
            </a:r>
            <a:r>
              <a:rPr dirty="0" sz="3000" spc="6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98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3000" spc="256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(Optimization)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756" y="1413909"/>
            <a:ext cx="2193419" cy="5812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55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tiêu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14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876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Hóa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16044" y="1413909"/>
            <a:ext cx="2229331" cy="5812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Adam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Optimizer:</a:t>
            </a:r>
            <a:r>
              <a:rPr dirty="0" sz="1700" spc="142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876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7756" y="2096322"/>
            <a:ext cx="2277363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mát,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(tr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ch)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6044" y="2100239"/>
            <a:ext cx="2381649" cy="12615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Adaptive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rates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</a:p>
          <a:p>
            <a:pPr marL="0" marR="0">
              <a:lnSpc>
                <a:spcPts val="1564"/>
              </a:lnSpc>
              <a:spcBef>
                <a:spcPts val="492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350" spc="-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AdaGrad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RMSprop.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ẽ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7756" y="4366659"/>
            <a:ext cx="2202696" cy="5717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Gradient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Descent: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16044" y="4623834"/>
            <a:ext cx="213972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700" spc="50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Optimizer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16044" y="5001447"/>
            <a:ext cx="2325568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optimizer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dataset,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trúc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7756" y="5049072"/>
            <a:ext cx="2269196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theo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</a:p>
          <a:p>
            <a:pPr marL="0" marR="0">
              <a:lnSpc>
                <a:spcPts val="1564"/>
              </a:lnSpc>
              <a:spcBef>
                <a:spcPts val="38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mát.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73052" y="5662059"/>
            <a:ext cx="210773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SGD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Momentum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73052" y="6039672"/>
            <a:ext cx="462077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SGD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dùng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batch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Momentum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73052" y="6296847"/>
            <a:ext cx="376885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dao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119056"/>
            <a:ext cx="5845782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ffff"/>
                </a:solidFill>
                <a:latin typeface="Liberation Sans"/>
                <a:cs typeface="Liberation Sans"/>
              </a:rPr>
              <a:t>Các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3000" spc="182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Thu</a:t>
            </a:r>
            <a:r>
              <a:rPr dirty="0" sz="3000" spc="104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-23" b="1">
                <a:solidFill>
                  <a:srgbClr val="ffffff"/>
                </a:solidFill>
                <a:latin typeface="Liberation Sans"/>
                <a:cs typeface="Liberation Sans"/>
              </a:rPr>
              <a:t>Tránh</a:t>
            </a:r>
            <a:r>
              <a:rPr dirty="0" sz="3000" spc="4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ffffff"/>
                </a:solidFill>
                <a:latin typeface="Liberation Sans"/>
                <a:cs typeface="Liberation Sans"/>
              </a:rPr>
              <a:t>Overfitting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262" y="1292221"/>
            <a:ext cx="449813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1.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2000" spc="7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2000" spc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Overfitting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Tác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2000" spc="7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1262" y="1822008"/>
            <a:ext cx="565936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1262" y="2117283"/>
            <a:ext cx="420769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kém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spc="-105">
                <a:solidFill>
                  <a:srgbClr val="374151"/>
                </a:solidFill>
                <a:latin typeface="Liberation Sans"/>
                <a:cs typeface="Liberation Sans"/>
              </a:rPr>
              <a:t>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9919" y="2584008"/>
            <a:ext cx="53731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có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chính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xác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cao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trên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500" spc="23">
                <a:solidFill>
                  <a:srgbClr val="4b5563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9919" y="2888808"/>
            <a:ext cx="160793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trên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500" spc="12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tra.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6572" y="4626500"/>
            <a:ext cx="216707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2.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L2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Regularization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92028" y="4626500"/>
            <a:ext cx="121868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3.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Dropout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4469" y="4626500"/>
            <a:ext cx="233670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4.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Data</a:t>
            </a:r>
            <a:r>
              <a:rPr dirty="0" sz="1700" spc="-6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Augmentation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636917" y="4626500"/>
            <a:ext cx="189444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5.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Early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Stopping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2307" y="5004113"/>
            <a:ext cx="2315033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308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Thêm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mát,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</a:p>
          <a:p>
            <a:pPr marL="52238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tránh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  <a:p>
            <a:pPr marL="32459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(Weight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Decay).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562944" y="5004113"/>
            <a:ext cx="2277032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9784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nhiên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neuron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13841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</a:p>
          <a:p>
            <a:pPr marL="59248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86375" y="5004113"/>
            <a:ext cx="2312740" cy="10042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49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40778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phép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23">
                <a:solidFill>
                  <a:srgbClr val="374151"/>
                </a:solidFill>
                <a:latin typeface="Liberation Sans"/>
                <a:cs typeface="Liberation Sans"/>
              </a:rPr>
              <a:t>(xoay,</a:t>
            </a:r>
            <a:r>
              <a:rPr dirty="0" sz="1350" spc="1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t,</a:t>
            </a:r>
          </a:p>
          <a:p>
            <a:pPr marL="908148" marR="0">
              <a:lnSpc>
                <a:spcPts val="1501"/>
              </a:lnSpc>
              <a:spcBef>
                <a:spcPts val="491"/>
              </a:spcBef>
              <a:spcAft>
                <a:spcPts val="0"/>
              </a:spcAft>
            </a:pPr>
            <a:r>
              <a:rPr dirty="0" sz="1350" spc="-43">
                <a:solidFill>
                  <a:srgbClr val="374151"/>
                </a:solidFill>
                <a:latin typeface="Liberation Sans"/>
                <a:cs typeface="Liberation Sans"/>
              </a:rPr>
              <a:t>v.v.).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402960" y="5004113"/>
            <a:ext cx="2362489" cy="10042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2634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  <a:p>
            <a:pPr marL="7530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ngăn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overfitting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  <a:p>
            <a:pPr marL="360610" marR="0">
              <a:lnSpc>
                <a:spcPts val="1501"/>
              </a:lnSpc>
              <a:spcBef>
                <a:spcPts val="491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lãng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tài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nguyên.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1993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7756" y="374707"/>
            <a:ext cx="690784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3000" spc="8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3000" spc="182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(Evaluation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Metrics)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9656" y="1091201"/>
            <a:ext cx="323920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700" spc="103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1700" spc="5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đa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700" spc="44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5213" y="1091201"/>
            <a:ext cx="314396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Precision,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Recall:</a:t>
            </a:r>
            <a:r>
              <a:rPr dirty="0" sz="1700" spc="112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700" spc="-3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Y</a:t>
            </a:r>
            <a:r>
              <a:rPr dirty="0" sz="1700" spc="-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khoa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468814"/>
            <a:ext cx="548625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duy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toàn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9656" y="1725989"/>
            <a:ext cx="532316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rõ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khía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nhau.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9656" y="2243726"/>
            <a:ext cx="341471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Accuracy: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-3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nghĩa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9656" y="2621339"/>
            <a:ext cx="5333482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Accuracy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ỷ</a:t>
            </a:r>
            <a:r>
              <a:rPr dirty="0" sz="1350" spc="62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đúng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gây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(imbalanced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data),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5213" y="3259514"/>
            <a:ext cx="5427311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5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Precision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tính,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Recall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tìm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89656" y="3643901"/>
            <a:ext cx="415198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F1-score: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Cân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Precision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Recall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9656" y="4031039"/>
            <a:ext cx="5305075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F1-score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trung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hòa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Precision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Recall.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này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cung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False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Positives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False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Negatives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cao.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75213" y="4291601"/>
            <a:ext cx="378652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Confusion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Matrix: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4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700" spc="67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hóa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49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75213" y="4669214"/>
            <a:ext cx="5454738" cy="7470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Confusion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Matrix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spc="-25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Liberation Sans"/>
                <a:cs typeface="Liberation Sans"/>
              </a:rPr>
              <a:t>True</a:t>
            </a:r>
            <a:r>
              <a:rPr dirty="0" sz="1350" spc="1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Positives,</a:t>
            </a:r>
            <a:r>
              <a:rPr dirty="0" sz="1350" spc="-25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Liberation Sans"/>
                <a:cs typeface="Liberation Sans"/>
              </a:rPr>
              <a:t>True</a:t>
            </a:r>
            <a:r>
              <a:rPr dirty="0" sz="1350" spc="1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Negatives,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False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Positives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  <a:p>
            <a:pPr marL="0" marR="0">
              <a:lnSpc>
                <a:spcPts val="1501"/>
              </a:lnSpc>
              <a:spcBef>
                <a:spcPts val="491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False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Negatives.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13040" y="5625631"/>
            <a:ext cx="1517362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2891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350" spc="4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350" spc="821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Âm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tính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350" spc="818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đoán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Âm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tính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19652" y="5625631"/>
            <a:ext cx="1717843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350" spc="4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350" spc="821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350" spc="1269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tính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48823" y="6054256"/>
            <a:ext cx="3410005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TN</a:t>
            </a: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350" spc="-21" b="1">
                <a:solidFill>
                  <a:srgbClr val="166534"/>
                </a:solidFill>
                <a:latin typeface="Liberation Sans"/>
                <a:cs typeface="Liberation Sans"/>
              </a:rPr>
              <a:t>(True</a:t>
            </a:r>
            <a:r>
              <a:rPr dirty="0" sz="1350" spc="15" b="1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Negative)</a:t>
            </a:r>
            <a:r>
              <a:rPr dirty="0" sz="1350" spc="1493" b="1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FP</a:t>
            </a:r>
            <a:r>
              <a:rPr dirty="0" sz="1350" spc="-27" b="1">
                <a:solidFill>
                  <a:srgbClr val="991b1b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(False</a:t>
            </a: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Positive)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790229" y="6084720"/>
            <a:ext cx="1967797" cy="625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715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spc="-20">
                <a:solidFill>
                  <a:srgbClr val="1f2937"/>
                </a:solidFill>
                <a:latin typeface="LKMAGS+KaTeX_Main-Regular"/>
                <a:cs typeface="LKMAGS+KaTeX_Main-Regular"/>
              </a:rPr>
              <a:t>Precision</a:t>
            </a:r>
            <a:r>
              <a:rPr dirty="0" sz="1850" spc="-91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⋅</a:t>
            </a:r>
            <a:r>
              <a:rPr dirty="0" sz="1850" spc="-46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Recall</a:t>
            </a:r>
          </a:p>
          <a:p>
            <a:pPr marL="0" marR="0">
              <a:lnSpc>
                <a:spcPts val="2149"/>
              </a:lnSpc>
              <a:spcBef>
                <a:spcPts val="375"/>
              </a:spcBef>
              <a:spcAft>
                <a:spcPts val="0"/>
              </a:spcAft>
            </a:pPr>
            <a:r>
              <a:rPr dirty="0" sz="1850" spc="-20">
                <a:solidFill>
                  <a:srgbClr val="1f2937"/>
                </a:solidFill>
                <a:latin typeface="LKMAGS+KaTeX_Main-Regular"/>
                <a:cs typeface="LKMAGS+KaTeX_Main-Regular"/>
              </a:rPr>
              <a:t>Precision</a:t>
            </a:r>
            <a:r>
              <a:rPr dirty="0" sz="1850" spc="-91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+</a:t>
            </a:r>
            <a:r>
              <a:rPr dirty="0" sz="1850" spc="-70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Recall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79252" y="6237120"/>
            <a:ext cx="981960" cy="311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spc="188" i="1">
                <a:solidFill>
                  <a:srgbClr val="1f2937"/>
                </a:solidFill>
                <a:latin typeface="CWLVIL+KaTeX_Math-Italic"/>
                <a:cs typeface="CWLVIL+KaTeX_Math-Italic"/>
              </a:rPr>
              <a:t>F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1</a:t>
            </a:r>
            <a:r>
              <a:rPr dirty="0" sz="1850" spc="20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=</a:t>
            </a:r>
            <a:r>
              <a:rPr dirty="0" sz="1850" spc="31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2</a:t>
            </a:r>
            <a:r>
              <a:rPr dirty="0" sz="1850" spc="-81">
                <a:solidFill>
                  <a:srgbClr val="1f2937"/>
                </a:solidFill>
                <a:latin typeface="LKMAGS+KaTeX_Main-Regular"/>
                <a:cs typeface="LKMAGS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LKMAGS+KaTeX_Main-Regular"/>
                <a:cs typeface="LKMAGS+KaTeX_Main-Regular"/>
              </a:rPr>
              <a:t>⋅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79988" y="6492406"/>
            <a:ext cx="5240980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350" spc="818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đoán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350" spc="1269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tính</a:t>
            </a:r>
            <a:r>
              <a:rPr dirty="0" sz="1350" spc="1196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a3412"/>
                </a:solidFill>
                <a:latin typeface="Liberation Sans"/>
                <a:cs typeface="Liberation Sans"/>
              </a:rPr>
              <a:t>FN</a:t>
            </a:r>
            <a:r>
              <a:rPr dirty="0" sz="1350" b="1">
                <a:solidFill>
                  <a:srgbClr val="9a3412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a3412"/>
                </a:solidFill>
                <a:latin typeface="Liberation Sans"/>
                <a:cs typeface="Liberation Sans"/>
              </a:rPr>
              <a:t>(False</a:t>
            </a:r>
            <a:r>
              <a:rPr dirty="0" sz="1350" b="1">
                <a:solidFill>
                  <a:srgbClr val="9a3412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a3412"/>
                </a:solidFill>
                <a:latin typeface="Liberation Sans"/>
                <a:cs typeface="Liberation Sans"/>
              </a:rPr>
              <a:t>Negative)</a:t>
            </a:r>
            <a:r>
              <a:rPr dirty="0" sz="1350" spc="1494" b="1">
                <a:solidFill>
                  <a:srgbClr val="9a3412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TP</a:t>
            </a:r>
            <a:r>
              <a:rPr dirty="0" sz="1350" spc="-27" b="1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350" spc="-21" b="1">
                <a:solidFill>
                  <a:srgbClr val="166534"/>
                </a:solidFill>
                <a:latin typeface="Liberation Sans"/>
                <a:cs typeface="Liberation Sans"/>
              </a:rPr>
              <a:t>(True</a:t>
            </a:r>
            <a:r>
              <a:rPr dirty="0" sz="1350" spc="15" b="1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Positive)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39899" y="376231"/>
            <a:ext cx="9664441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Nghiên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Liên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Quan: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3000" spc="28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Pháp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31" b="1">
                <a:solidFill>
                  <a:srgbClr val="1f2937"/>
                </a:solidFill>
                <a:latin typeface="Liberation Sans"/>
                <a:cs typeface="Liberation Sans"/>
              </a:rPr>
              <a:t>Truy</a:t>
            </a:r>
            <a:r>
              <a:rPr dirty="0" sz="3000" spc="10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3000" spc="96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2176" y="1416046"/>
            <a:ext cx="4085425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1.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-20" b="1">
                <a:solidFill>
                  <a:srgbClr val="00796b"/>
                </a:solidFill>
                <a:latin typeface="Liberation Sans"/>
                <a:cs typeface="Liberation Sans"/>
              </a:rPr>
              <a:t>Trích</a:t>
            </a:r>
            <a:r>
              <a:rPr dirty="0" sz="2000" spc="3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xu</a:t>
            </a:r>
            <a:r>
              <a:rPr dirty="0" sz="2000" spc="71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đ</a:t>
            </a:r>
            <a:r>
              <a:rPr dirty="0" sz="2000" spc="72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tr</a:t>
            </a:r>
            <a:r>
              <a:rPr dirty="0" sz="2000" spc="71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th</a:t>
            </a:r>
            <a:r>
              <a:rPr dirty="0" sz="2000" spc="128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công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1532" y="1425571"/>
            <a:ext cx="3721511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3.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H</a:t>
            </a:r>
            <a:r>
              <a:rPr dirty="0" sz="2000" spc="73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ch</a:t>
            </a:r>
            <a:r>
              <a:rPr dirty="0" sz="2000" spc="128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a</a:t>
            </a:r>
            <a:r>
              <a:rPr dirty="0" sz="2000" spc="12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Ph</a:t>
            </a:r>
            <a:r>
              <a:rPr dirty="0" sz="2000" spc="1993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Pháp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spc="-21" b="1">
                <a:solidFill>
                  <a:srgbClr val="ff5722"/>
                </a:solidFill>
                <a:latin typeface="Liberation Sans"/>
                <a:cs typeface="Liberation Sans"/>
              </a:rPr>
              <a:t>Truy</a:t>
            </a:r>
            <a:r>
              <a:rPr dirty="0" sz="2000" spc="75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Th</a:t>
            </a:r>
            <a:r>
              <a:rPr dirty="0" sz="2000" spc="719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1847" y="1945833"/>
            <a:ext cx="442950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HOG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gradient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3184" y="2241108"/>
            <a:ext cx="6330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1197" y="2260158"/>
            <a:ext cx="4866925" cy="1156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Đòi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kém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khái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quát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i,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tác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71847" y="2631633"/>
            <a:ext cx="448531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LBP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184" y="2926908"/>
            <a:ext cx="201259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pixel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71847" y="3307908"/>
            <a:ext cx="457492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SIFT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3184" y="3612708"/>
            <a:ext cx="202849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theo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ỷ</a:t>
            </a:r>
            <a:r>
              <a:rPr dirty="0" sz="1500" spc="5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21">
                <a:solidFill>
                  <a:srgbClr val="374151"/>
                </a:solidFill>
                <a:latin typeface="Liberation Sans"/>
                <a:cs typeface="Liberation Sans"/>
              </a:rPr>
              <a:t>xoay.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31532" y="3663946"/>
            <a:ext cx="2980125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4.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So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sánh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v</a:t>
            </a:r>
            <a:r>
              <a:rPr dirty="0" sz="2000" spc="728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H</a:t>
            </a:r>
            <a:r>
              <a:rPr dirty="0" sz="2000" spc="73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22176" y="4016371"/>
            <a:ext cx="3022932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2.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Phân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lo</a:t>
            </a:r>
            <a:r>
              <a:rPr dirty="0" sz="2000" spc="725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2" b="1">
                <a:solidFill>
                  <a:srgbClr val="00796b"/>
                </a:solidFill>
                <a:latin typeface="Liberation Sans"/>
                <a:cs typeface="Liberation Sans"/>
              </a:rPr>
              <a:t>ML</a:t>
            </a:r>
            <a:r>
              <a:rPr dirty="0" sz="2000" spc="-36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2000" spc="128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đi</a:t>
            </a:r>
            <a:r>
              <a:rPr dirty="0" sz="2000" spc="713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81203" y="4193733"/>
            <a:ext cx="464907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49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thô,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22540" y="4489008"/>
            <a:ext cx="331195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71847" y="4546158"/>
            <a:ext cx="48129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SVM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Tìm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siêu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81203" y="4879533"/>
            <a:ext cx="442850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1" b="1">
                <a:solidFill>
                  <a:srgbClr val="1f2937"/>
                </a:solidFill>
                <a:latin typeface="Liberation Sans"/>
                <a:cs typeface="Liberation Sans"/>
              </a:rPr>
              <a:t>Truy</a:t>
            </a:r>
            <a:r>
              <a:rPr dirty="0" sz="1500" spc="5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500" spc="4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công,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71847" y="4927158"/>
            <a:ext cx="45745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22540" y="5174808"/>
            <a:ext cx="46153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3184" y="5231958"/>
            <a:ext cx="226717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láng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943128" y="5555808"/>
            <a:ext cx="446432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500" spc="4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5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71847" y="5612958"/>
            <a:ext cx="470175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Logistic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Regression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kê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22540" y="5860608"/>
            <a:ext cx="461127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13184" y="5908233"/>
            <a:ext cx="286338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96566" y="376231"/>
            <a:ext cx="7751237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2" b="1">
                <a:solidFill>
                  <a:srgbClr val="212121"/>
                </a:solidFill>
                <a:latin typeface="Liberation Sans"/>
                <a:cs typeface="Liberation Sans"/>
              </a:rPr>
              <a:t>Nghiên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212121"/>
                </a:solidFill>
                <a:latin typeface="Liberation Sans"/>
                <a:cs typeface="Liberation Sans"/>
              </a:rPr>
              <a:t>Liên</a:t>
            </a:r>
            <a:r>
              <a:rPr dirty="0" sz="3000" spc="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12121"/>
                </a:solidFill>
                <a:latin typeface="Liberation Sans"/>
                <a:cs typeface="Liberation Sans"/>
              </a:rPr>
              <a:t>Quan: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H</a:t>
            </a:r>
            <a:r>
              <a:rPr dirty="0" sz="3000" spc="98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12121"/>
                </a:solidFill>
                <a:latin typeface="Liberation Sans"/>
                <a:cs typeface="Liberation Sans"/>
              </a:rPr>
              <a:t>Sâu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212121"/>
                </a:solidFill>
                <a:latin typeface="Liberation Sans"/>
                <a:cs typeface="Liberation Sans"/>
              </a:rPr>
              <a:t>Hi</a:t>
            </a:r>
            <a:r>
              <a:rPr dirty="0" sz="3000" spc="103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Đ</a:t>
            </a:r>
            <a:r>
              <a:rPr dirty="0" sz="3000" spc="105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1212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8541" y="1463671"/>
            <a:ext cx="2128808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CNN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End-to-end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4097" y="1463671"/>
            <a:ext cx="307924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Backbone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ph</a:t>
            </a:r>
            <a:r>
              <a:rPr dirty="0" sz="2000" spc="127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041083"/>
            <a:ext cx="5149338" cy="8856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ng,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can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ủ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công,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giác</a:t>
            </a:r>
          </a:p>
          <a:p>
            <a:pPr marL="0" marR="0">
              <a:lnSpc>
                <a:spcPts val="1689"/>
              </a:lnSpc>
              <a:spcBef>
                <a:spcPts val="799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tính.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81203" y="2035965"/>
            <a:ext cx="57920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VGG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81203" y="2426490"/>
            <a:ext cx="792698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ResNet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81203" y="2807490"/>
            <a:ext cx="1134272" cy="633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MobileNet</a:t>
            </a:r>
          </a:p>
          <a:p>
            <a:pPr marL="0" marR="0">
              <a:lnSpc>
                <a:spcPts val="1689"/>
              </a:lnSpc>
              <a:spcBef>
                <a:spcPts val="131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EfficientNet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8541" y="4302121"/>
            <a:ext cx="231466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Transfer</a:t>
            </a:r>
            <a:r>
              <a:rPr dirty="0" sz="2000" spc="1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Learning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50297" y="4368796"/>
            <a:ext cx="394487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Đ</a:t>
            </a:r>
            <a:r>
              <a:rPr dirty="0" sz="2000" spc="56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h</a:t>
            </a:r>
            <a:r>
              <a:rPr dirty="0" sz="2000" spc="200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12121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ti</a:t>
            </a:r>
            <a:r>
              <a:rPr dirty="0" sz="2000" spc="71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a</a:t>
            </a:r>
            <a:r>
              <a:rPr dirty="0" sz="2000" spc="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đ</a:t>
            </a:r>
            <a:r>
              <a:rPr dirty="0" sz="2000" spc="1289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12121"/>
                </a:solidFill>
                <a:latin typeface="Liberation Sans"/>
                <a:cs typeface="Liberation Sans"/>
              </a:rPr>
              <a:t>tài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4879533"/>
            <a:ext cx="5042550" cy="5759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Khái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ni</a:t>
            </a:r>
            <a:r>
              <a:rPr dirty="0" sz="1500" spc="4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m:</a:t>
            </a:r>
            <a:r>
              <a:rPr dirty="0" sz="1500" spc="-3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98740" y="4946208"/>
            <a:ext cx="5039536" cy="8807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Áp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757575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(U-Net)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 spc="-23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Transfer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Learning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i,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6984" y="5498658"/>
            <a:ext cx="4911459" cy="5759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5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ích:</a:t>
            </a:r>
            <a:r>
              <a:rPr dirty="0" sz="1500" spc="-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-23">
                <a:solidFill>
                  <a:srgbClr val="757575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gian,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tài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nguyên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757575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757575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757575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757575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757575"/>
                </a:solidFill>
                <a:latin typeface="Liberation Sans"/>
                <a:cs typeface="Liberation Sans"/>
              </a:rPr>
              <a:t>ít.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1968" y="566731"/>
            <a:ext cx="5895580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1f2937"/>
                </a:solidFill>
                <a:latin typeface="Liberation Sans"/>
                <a:cs typeface="Liberation Sans"/>
              </a:rPr>
              <a:t>Gi</a:t>
            </a:r>
            <a:r>
              <a:rPr dirty="0" sz="3000" spc="95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3000" spc="10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3000" spc="182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3000" spc="10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3000" spc="189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1968" y="1368950"/>
            <a:ext cx="175114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Ngu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u: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1968" y="1712115"/>
            <a:ext cx="372725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Kaggle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Chest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X-Ray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Images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4b5563"/>
                </a:solidFill>
                <a:latin typeface="Liberation Sans"/>
                <a:cs typeface="Liberation Sans"/>
              </a:rPr>
              <a:t>(Pneumonia)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1968" y="2264300"/>
            <a:ext cx="253852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95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u: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960" y="2774508"/>
            <a:ext cx="24758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5,863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(JPEG)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9960" y="3422208"/>
            <a:ext cx="542831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2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 spc="15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(Pneumonia)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(Normal)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1968" y="4093100"/>
            <a:ext cx="320535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41" b="1">
                <a:solidFill>
                  <a:srgbClr val="1f2937"/>
                </a:solidFill>
                <a:latin typeface="Liberation Sans"/>
                <a:cs typeface="Liberation Sans"/>
              </a:rPr>
              <a:t>Trúc</a:t>
            </a:r>
            <a:r>
              <a:rPr dirty="0" sz="1700" spc="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95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700" spc="58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104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55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9960" y="4612833"/>
            <a:ext cx="347702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3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chính:</a:t>
            </a:r>
            <a:r>
              <a:rPr dirty="0" sz="1500" spc="-27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Train,</a:t>
            </a:r>
            <a:r>
              <a:rPr dirty="0" sz="1500" spc="-15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28">
                <a:solidFill>
                  <a:srgbClr val="374151"/>
                </a:solidFill>
                <a:latin typeface="Liberation Sans"/>
                <a:cs typeface="Liberation Sans"/>
              </a:rPr>
              <a:t>Test,</a:t>
            </a:r>
            <a:r>
              <a:rPr dirty="0" sz="1500" spc="3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Validation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9960" y="5251008"/>
            <a:ext cx="45698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con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'Pneumonia'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'Normal'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926436" y="5556563"/>
            <a:ext cx="36031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3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X-quang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i: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Bình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spc="-10">
                <a:solidFill>
                  <a:srgbClr val="4b5563"/>
                </a:solidFill>
                <a:latin typeface="Liberation Sans"/>
                <a:cs typeface="Liberation Sans"/>
              </a:rPr>
              <a:t>Viêm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9960" y="5889183"/>
            <a:ext cx="30835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TensorFlow/Keras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2000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49984" y="128447"/>
            <a:ext cx="5444397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dirty="0" sz="2500" spc="88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Liberation Sans"/>
                <a:cs typeface="Liberation Sans"/>
              </a:rPr>
              <a:t>Kê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dirty="0" sz="2500" spc="166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dirty="0" sz="2500" spc="87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Phân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dirty="0" sz="2500" spc="159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dirty="0" sz="2500" spc="89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7247" y="1263160"/>
            <a:ext cx="339357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1.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700" spc="95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154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spc="96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theo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49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103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700" spc="5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263160"/>
            <a:ext cx="409745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2.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193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nh: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Normal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vs.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Pneumonia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5239" y="1873025"/>
            <a:ext cx="1208678" cy="814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 spc="49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p</a:t>
            </a:r>
            <a:r>
              <a:rPr dirty="0" sz="1500" spc="1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 spc="986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li</a:t>
            </a:r>
            <a:r>
              <a:rPr dirty="0" sz="1500" spc="482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689"/>
              </a:lnSpc>
              <a:spcBef>
                <a:spcPts val="2735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Train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17354" y="1873025"/>
            <a:ext cx="1376319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S</a:t>
            </a:r>
            <a:r>
              <a:rPr dirty="0" sz="1500" spc="91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 spc="1461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 spc="902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14180" y="2435000"/>
            <a:ext cx="579578" cy="814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4000</a:t>
            </a:r>
          </a:p>
          <a:p>
            <a:pPr marL="106709" marR="0">
              <a:lnSpc>
                <a:spcPts val="1689"/>
              </a:lnSpc>
              <a:spcBef>
                <a:spcPts val="2735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500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5239" y="2996975"/>
            <a:ext cx="995786" cy="814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Validation</a:t>
            </a:r>
          </a:p>
          <a:p>
            <a:pPr marL="0" marR="0">
              <a:lnSpc>
                <a:spcPts val="1689"/>
              </a:lnSpc>
              <a:spcBef>
                <a:spcPts val="2735"/>
              </a:spcBef>
              <a:spcAft>
                <a:spcPts val="0"/>
              </a:spcAft>
            </a:pPr>
            <a:r>
              <a:rPr dirty="0" sz="1500" spc="-37">
                <a:solidFill>
                  <a:srgbClr val="000000"/>
                </a:solidFill>
                <a:latin typeface="Liberation Sans"/>
                <a:cs typeface="Liberation Sans"/>
              </a:rPr>
              <a:t>Test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20890" y="3558950"/>
            <a:ext cx="47278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500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347" y="5435110"/>
            <a:ext cx="307469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3.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Ki</a:t>
            </a:r>
            <a:r>
              <a:rPr dirty="0" sz="1700" spc="5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tra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4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cân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49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60640" y="5739910"/>
            <a:ext cx="412980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4.</a:t>
            </a:r>
            <a:r>
              <a:rPr dirty="0" sz="1700" spc="11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15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quá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700" spc="57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5347" y="5869118"/>
            <a:ext cx="476683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chênh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5347" y="6178325"/>
            <a:ext cx="323612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Normal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(80%)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Pneumonia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(20%).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60640" y="6173918"/>
            <a:ext cx="516848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sai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60640" y="6469193"/>
            <a:ext cx="2870965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61888" y="6717597"/>
            <a:ext cx="261849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11827"/>
                </a:solidFill>
                <a:latin typeface="DejaVu Sans"/>
                <a:cs typeface="DejaVu Sans"/>
              </a:rPr>
              <a:t>Class</a:t>
            </a:r>
            <a:r>
              <a:rPr dirty="0" sz="1350" b="1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11827"/>
                </a:solidFill>
                <a:latin typeface="DejaVu Sans"/>
                <a:cs typeface="DejaVu Sans"/>
              </a:rPr>
              <a:t>Imbalance</a:t>
            </a:r>
            <a:r>
              <a:rPr dirty="0" sz="1350" b="1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11827"/>
                </a:solidFill>
                <a:latin typeface="DejaVu Sans"/>
                <a:cs typeface="DejaVu Sans"/>
              </a:rPr>
              <a:t>detected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05596" y="166681"/>
            <a:ext cx="6133138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-40" b="1">
                <a:solidFill>
                  <a:srgbClr val="ffffff"/>
                </a:solidFill>
                <a:latin typeface="Liberation Sans"/>
                <a:cs typeface="Liberation Sans"/>
              </a:rPr>
              <a:t>Ti</a:t>
            </a:r>
            <a:r>
              <a:rPr dirty="0" sz="3000" spc="108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X</a:t>
            </a:r>
            <a:r>
              <a:rPr dirty="0" sz="3000" spc="1896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Lý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dirty="0" sz="3000" spc="189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dirty="0" sz="3000" spc="103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3000" spc="204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ffffff"/>
                </a:solidFill>
                <a:latin typeface="Liberation Sans"/>
                <a:cs typeface="Liberation Sans"/>
              </a:rPr>
              <a:t>X-quang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262" y="1120771"/>
            <a:ext cx="276070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Khái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Ni</a:t>
            </a:r>
            <a:r>
              <a:rPr dirty="0" sz="2000" spc="7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2000" spc="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120771"/>
            <a:ext cx="177901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Ích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6090" y="1959765"/>
            <a:ext cx="257099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Chu</a:t>
            </a:r>
            <a:r>
              <a:rPr dirty="0" sz="1500" spc="482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hóa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kích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th</a:t>
            </a:r>
            <a:r>
              <a:rPr dirty="0" sz="1500" spc="1461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c</a:t>
            </a:r>
            <a:r>
              <a:rPr dirty="0" sz="1500" spc="91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6090" y="2279963"/>
            <a:ext cx="45739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180x180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6090" y="2541055"/>
            <a:ext cx="683716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pixels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6090" y="3645690"/>
            <a:ext cx="222255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Chu</a:t>
            </a:r>
            <a:r>
              <a:rPr dirty="0" sz="1500" spc="482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hóa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giá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tr</a:t>
            </a:r>
            <a:r>
              <a:rPr dirty="0" sz="1500" spc="453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pixel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06090" y="3975413"/>
            <a:ext cx="469443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Đưa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khoảng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0-1,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tăng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cường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quả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học,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06090" y="4232588"/>
            <a:ext cx="179465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ví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dụ: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chia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1./255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93097" y="4575488"/>
            <a:ext cx="31996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u,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ỏ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ễ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93097" y="4966013"/>
            <a:ext cx="4346302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Tăng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 spc="-15">
                <a:solidFill>
                  <a:srgbClr val="1f2937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đoán.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350" spc="-76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AI.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06090" y="5331615"/>
            <a:ext cx="212921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X</a:t>
            </a:r>
            <a:r>
              <a:rPr dirty="0" sz="1500" spc="985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lý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kênh</a:t>
            </a:r>
            <a:r>
              <a:rPr dirty="0" sz="1500" spc="903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nh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(RGB)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06090" y="5661338"/>
            <a:ext cx="445363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dạng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phù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kiến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trúc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hình,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nếu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06090" y="5918513"/>
            <a:ext cx="327474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đổi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từ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ảnh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DejaVu Sans"/>
                <a:cs typeface="DejaVu Sans"/>
              </a:rPr>
              <a:t>grayscale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428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72009" y="165666"/>
            <a:ext cx="7800172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Tăng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28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3000" spc="10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(Data</a:t>
            </a:r>
            <a:r>
              <a:rPr dirty="0" sz="3000" spc="-1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Augmentation)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447" y="1376930"/>
            <a:ext cx="202099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đích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453130"/>
            <a:ext cx="365895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Phép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Bi</a:t>
            </a:r>
            <a:r>
              <a:rPr dirty="0" sz="2000" spc="711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Ph</a:t>
            </a:r>
            <a:r>
              <a:rPr dirty="0" sz="2000" spc="1277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5722"/>
                </a:solidFill>
                <a:latin typeface="Liberation Sans"/>
                <a:cs typeface="Liberation Sans"/>
              </a:rPr>
              <a:t>Bi</a:t>
            </a:r>
            <a:r>
              <a:rPr dirty="0" sz="2000" spc="711" b="1">
                <a:solidFill>
                  <a:srgbClr val="ff5722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5722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2110" y="1906718"/>
            <a:ext cx="4056027" cy="1414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overfitting,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hóa.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Nâng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96335" y="2578140"/>
            <a:ext cx="45577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Flip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23424" y="2578140"/>
            <a:ext cx="844486" cy="124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Rotation</a:t>
            </a:r>
          </a:p>
          <a:p>
            <a:pPr marL="156269" marR="0">
              <a:lnSpc>
                <a:spcPts val="1501"/>
              </a:lnSpc>
              <a:spcBef>
                <a:spcPts val="6523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Shift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15670" y="3597315"/>
            <a:ext cx="61695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Zoom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3447" y="4701155"/>
            <a:ext cx="254721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Ý</a:t>
            </a:r>
            <a:r>
              <a:rPr dirty="0" sz="2000" spc="15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nghĩa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Tác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c107"/>
                </a:solidFill>
                <a:latin typeface="Liberation Sans"/>
                <a:cs typeface="Liberation Sans"/>
              </a:rPr>
              <a:t>d</a:t>
            </a:r>
            <a:r>
              <a:rPr dirty="0" sz="2000" spc="728" b="1">
                <a:solidFill>
                  <a:srgbClr val="ffc10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c10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22540" y="5044055"/>
            <a:ext cx="2970173" cy="65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Áp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d</a:t>
            </a:r>
            <a:r>
              <a:rPr dirty="0" sz="2000" spc="728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cho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d</a:t>
            </a:r>
            <a:r>
              <a:rPr dirty="0" sz="2000" spc="128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li</a:t>
            </a:r>
            <a:r>
              <a:rPr dirty="0" sz="2000" spc="719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796b"/>
                </a:solidFill>
                <a:latin typeface="Liberation Sans"/>
                <a:cs typeface="Liberation Sans"/>
              </a:rPr>
              <a:t>X-</a:t>
            </a:r>
          </a:p>
          <a:p>
            <a:pPr marL="0" marR="0">
              <a:lnSpc>
                <a:spcPts val="2252"/>
              </a:lnSpc>
              <a:spcBef>
                <a:spcPts val="322"/>
              </a:spcBef>
              <a:spcAft>
                <a:spcPts val="0"/>
              </a:spcAft>
            </a:pPr>
            <a:r>
              <a:rPr dirty="0" sz="2000" b="1">
                <a:solidFill>
                  <a:srgbClr val="00796b"/>
                </a:solidFill>
                <a:latin typeface="Liberation Sans"/>
                <a:cs typeface="Liberation Sans"/>
              </a:rPr>
              <a:t>quang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32110" y="5221418"/>
            <a:ext cx="290790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2110" y="5611943"/>
            <a:ext cx="4066526" cy="1023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Nâng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22540" y="5869118"/>
            <a:ext cx="3412386" cy="8521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5990" y="376231"/>
            <a:ext cx="8392170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3000" spc="28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Pháp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Xu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t: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Ý</a:t>
            </a:r>
            <a:r>
              <a:rPr dirty="0" sz="3000" spc="2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285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Ki</a:t>
            </a:r>
            <a:r>
              <a:rPr dirty="0" sz="3000" spc="103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31" b="1">
                <a:solidFill>
                  <a:srgbClr val="1f2937"/>
                </a:solidFill>
                <a:latin typeface="Liberation Sans"/>
                <a:cs typeface="Liberation Sans"/>
              </a:rPr>
              <a:t>Trúc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184" y="1435625"/>
            <a:ext cx="356960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Ý</a:t>
            </a:r>
            <a:r>
              <a:rPr dirty="0" sz="1700" spc="-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15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Quát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56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trên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3880" y="1511825"/>
            <a:ext cx="312891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Quy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33" b="1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dirty="0" sz="1700" spc="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5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700" spc="5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Xu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1851338"/>
            <a:ext cx="5009893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pháp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lõi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giác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máy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tính,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đóng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vai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trò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then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50570" y="2074065"/>
            <a:ext cx="119478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Giai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đo</a:t>
            </a:r>
            <a:r>
              <a:rPr dirty="0" sz="1500" spc="48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50570" y="2360080"/>
            <a:ext cx="2511662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350" spc="4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 spc="36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spc="-28" b="1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350" spc="47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350" spc="8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350" spc="8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350" spc="4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50570" y="2651438"/>
            <a:ext cx="465056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p,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làm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tăng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X-quang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184" y="2883425"/>
            <a:ext cx="306300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Ki</a:t>
            </a:r>
            <a:r>
              <a:rPr dirty="0" sz="1700" spc="5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41" b="1">
                <a:solidFill>
                  <a:srgbClr val="1f2937"/>
                </a:solidFill>
                <a:latin typeface="Liberation Sans"/>
                <a:cs typeface="Liberation Sans"/>
              </a:rPr>
              <a:t>Trúc</a:t>
            </a:r>
            <a:r>
              <a:rPr dirty="0" sz="1700" spc="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Xu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50570" y="2908613"/>
            <a:ext cx="17476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40891" y="3308663"/>
            <a:ext cx="409965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pooling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50570" y="3521865"/>
            <a:ext cx="119478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Giai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đo</a:t>
            </a:r>
            <a:r>
              <a:rPr dirty="0" sz="1500" spc="48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0891" y="3642038"/>
            <a:ext cx="476483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50570" y="3807880"/>
            <a:ext cx="220944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350" spc="45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350" spc="44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4159" y="3902600"/>
            <a:ext cx="168267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700" spc="58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50570" y="4108763"/>
            <a:ext cx="459970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Áp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trúc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CNN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tiên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(ví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: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Faster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R-CNN)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40891" y="4327838"/>
            <a:ext cx="349151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50570" y="4365938"/>
            <a:ext cx="290497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viêm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40891" y="4670738"/>
            <a:ext cx="450637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tích,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950570" y="4969665"/>
            <a:ext cx="119478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Giai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đo</a:t>
            </a:r>
            <a:r>
              <a:rPr dirty="0" sz="1500" spc="48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3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950570" y="5265205"/>
            <a:ext cx="1811339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Suy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lu</a:t>
            </a:r>
            <a:r>
              <a:rPr dirty="0" sz="1350" spc="44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50570" y="5556563"/>
            <a:ext cx="440388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950570" y="5813738"/>
            <a:ext cx="285673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khai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ứ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đoán.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994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4170" y="374707"/>
            <a:ext cx="8476033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Pipeline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TensorFlow/Keras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1186716"/>
            <a:ext cx="79608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B</a:t>
            </a:r>
            <a:r>
              <a:rPr dirty="0" sz="1500" spc="1467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1510301"/>
            <a:ext cx="185580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700" spc="5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43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700" spc="5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076" y="1897439"/>
            <a:ext cx="10261492" cy="241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spc="333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Liberation Mono"/>
                <a:cs typeface="Liberation Mono"/>
              </a:rPr>
              <a:t>image_dataset_from_directory</a:t>
            </a:r>
            <a:r>
              <a:rPr dirty="0" sz="1200" spc="409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chia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076" y="2501166"/>
            <a:ext cx="79608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B</a:t>
            </a:r>
            <a:r>
              <a:rPr dirty="0" sz="1500" spc="1467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4076" y="2834276"/>
            <a:ext cx="251318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Xây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076" y="3221414"/>
            <a:ext cx="94554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trúc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Convolutional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Neural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Network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(CNN)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Keras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Sequential</a:t>
            </a:r>
            <a:r>
              <a:rPr dirty="0" sz="1350" spc="-7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API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(tích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pooling,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dày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c).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076" y="3825141"/>
            <a:ext cx="79608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B</a:t>
            </a:r>
            <a:r>
              <a:rPr dirty="0" sz="1500" spc="1467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84076" y="4158251"/>
            <a:ext cx="198668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Biên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-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84076" y="4535864"/>
            <a:ext cx="825801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mát,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(Adam),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14">
                <a:solidFill>
                  <a:srgbClr val="374151"/>
                </a:solidFill>
                <a:latin typeface="Liberation Sans"/>
                <a:cs typeface="Liberation Sans"/>
              </a:rPr>
              <a:t>(accuracy,</a:t>
            </a:r>
            <a:r>
              <a:rPr dirty="0" sz="135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precision).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4076" y="5149116"/>
            <a:ext cx="79608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B</a:t>
            </a:r>
            <a:r>
              <a:rPr dirty="0" sz="1500" spc="1467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4076" y="5482226"/>
            <a:ext cx="219837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700" spc="50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700" spc="57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84076" y="5859839"/>
            <a:ext cx="729740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8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hành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  <a:r>
              <a:rPr dirty="0" sz="1350" spc="-2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Theo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dõi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epoch.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84076" y="6473091"/>
            <a:ext cx="79608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B</a:t>
            </a:r>
            <a:r>
              <a:rPr dirty="0" sz="1500" spc="1467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00796b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796b"/>
                </a:solidFill>
                <a:latin typeface="Liberation Sans"/>
                <a:cs typeface="Liberation Sans"/>
              </a:rPr>
              <a:t>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84076" y="6806201"/>
            <a:ext cx="218160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đoán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4076" y="7183814"/>
            <a:ext cx="728813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9342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76231"/>
            <a:ext cx="575093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82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3000" spc="182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(Baseline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CNN)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235071"/>
            <a:ext cx="282274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Ki</a:t>
            </a:r>
            <a:r>
              <a:rPr dirty="0" sz="2000" spc="7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trúc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2000" spc="7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45944" y="1235071"/>
            <a:ext cx="223137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2000" spc="199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2000" spc="7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47457" y="1764858"/>
            <a:ext cx="399250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đi</a:t>
            </a:r>
            <a:r>
              <a:rPr dirty="0" sz="1500" spc="478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spc="10" b="1">
                <a:solidFill>
                  <a:srgbClr val="111827"/>
                </a:solidFill>
                <a:latin typeface="Liberation Sans"/>
                <a:cs typeface="Liberation Sans"/>
              </a:rPr>
              <a:t>m: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Nhanh,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khai.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992" y="1888683"/>
            <a:ext cx="489201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Conv2D:</a:t>
            </a:r>
            <a:r>
              <a:rPr dirty="0" sz="1500" spc="-27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 spc="1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5532" y="2145858"/>
            <a:ext cx="46592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Nh</a:t>
            </a:r>
            <a:r>
              <a:rPr dirty="0" sz="1500" spc="1456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đi</a:t>
            </a:r>
            <a:r>
              <a:rPr dirty="0" sz="1500" spc="478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 spc="10" b="1">
                <a:solidFill>
                  <a:srgbClr val="111827"/>
                </a:solidFill>
                <a:latin typeface="Liberation Sans"/>
                <a:cs typeface="Liberation Sans"/>
              </a:rPr>
              <a:t>m: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26869" y="2450658"/>
            <a:ext cx="96687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8992" y="2574483"/>
            <a:ext cx="499402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MaxPooling: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trung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8992" y="2869758"/>
            <a:ext cx="167563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26869" y="3073396"/>
            <a:ext cx="4259795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1" b="1">
                <a:solidFill>
                  <a:srgbClr val="1f2937"/>
                </a:solidFill>
                <a:latin typeface="Liberation Sans"/>
                <a:cs typeface="Liberation Sans"/>
              </a:rPr>
              <a:t>Vai</a:t>
            </a:r>
            <a:r>
              <a:rPr dirty="0" sz="2000" spc="3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trò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làm</a:t>
            </a:r>
            <a:r>
              <a:rPr dirty="0" sz="2000" spc="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tiêu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2000" spc="71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tham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chi</a:t>
            </a:r>
            <a:r>
              <a:rPr dirty="0" sz="2000" spc="7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08992" y="3555558"/>
            <a:ext cx="490979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Dense:</a:t>
            </a: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35526" y="3593658"/>
            <a:ext cx="497830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c,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dùng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làm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tiêu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so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sánh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8992" y="3850833"/>
            <a:ext cx="138291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35526" y="3898458"/>
            <a:ext cx="407335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trúc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25418" y="4484420"/>
            <a:ext cx="949899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ffff"/>
                </a:solidFill>
                <a:latin typeface="Liberation Sans"/>
                <a:cs typeface="Liberation Sans"/>
              </a:rPr>
              <a:t>Tiêu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Liberation Sans"/>
                <a:cs typeface="Liberation Sans"/>
              </a:rPr>
              <a:t>chu</a:t>
            </a:r>
            <a:r>
              <a:rPr dirty="0" sz="1200" spc="4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08992" y="4536633"/>
            <a:ext cx="491471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11827"/>
                </a:solidFill>
                <a:latin typeface="Liberation Sans"/>
                <a:cs typeface="Liberation Sans"/>
              </a:rPr>
              <a:t>Softmax:</a:t>
            </a:r>
            <a:r>
              <a:rPr dirty="0" sz="1500" spc="-25" b="1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thành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8992" y="4831908"/>
            <a:ext cx="177920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80999" y="5517708"/>
            <a:ext cx="50536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hình:</a:t>
            </a:r>
            <a:r>
              <a:rPr dirty="0" sz="1500" spc="-27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hai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hai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80999" y="5812983"/>
            <a:ext cx="382505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ReLU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9549" y="6313220"/>
            <a:ext cx="616710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  <a:r>
              <a:rPr dirty="0" sz="1200" spc="725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200" spc="409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40991" y="6313220"/>
            <a:ext cx="844701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00000"/>
                </a:solidFill>
                <a:latin typeface="Liberation Sans"/>
                <a:cs typeface="Liberation Sans"/>
              </a:rPr>
              <a:t>Kích</a:t>
            </a:r>
            <a:r>
              <a:rPr dirty="0" sz="12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200" spc="-15" b="1">
                <a:solidFill>
                  <a:srgbClr val="000000"/>
                </a:solidFill>
                <a:latin typeface="Liberation Sans"/>
                <a:cs typeface="Liberation Sans"/>
              </a:rPr>
              <a:t>ho</a:t>
            </a:r>
            <a:r>
              <a:rPr dirty="0" sz="1200" spc="417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22997" y="158037"/>
            <a:ext cx="3898180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ffffff"/>
                </a:solidFill>
                <a:latin typeface="Liberation Sans"/>
                <a:cs typeface="Liberation Sans"/>
              </a:rPr>
              <a:t>Chi</a:t>
            </a:r>
            <a:r>
              <a:rPr dirty="0" sz="2500" spc="87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dirty="0" sz="2500" spc="254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Liberation Sans"/>
                <a:cs typeface="Liberation Sans"/>
              </a:rPr>
              <a:t>Hu</a:t>
            </a:r>
            <a:r>
              <a:rPr dirty="0" sz="2500" spc="87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Luy</a:t>
            </a:r>
            <a:r>
              <a:rPr dirty="0" sz="2500" spc="87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447" y="1302275"/>
            <a:ext cx="291066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L</a:t>
            </a:r>
            <a:r>
              <a:rPr dirty="0" sz="1700" spc="565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ch</a:t>
            </a:r>
            <a:r>
              <a:rPr dirty="0" sz="1700" spc="501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Hyperparameters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8740" y="1302275"/>
            <a:ext cx="252083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K</a:t>
            </a:r>
            <a:r>
              <a:rPr dirty="0" sz="1700" spc="953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thu</a:t>
            </a:r>
            <a:r>
              <a:rPr dirty="0" sz="1700" spc="5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EarlyStopping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154" y="1727513"/>
            <a:ext cx="457545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Batch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size: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spc="-23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350" spc="-15">
                <a:solidFill>
                  <a:srgbClr val="1f2937"/>
                </a:solidFill>
                <a:latin typeface="DejaVu Sans"/>
                <a:cs typeface="DejaVu Sans"/>
              </a:rPr>
              <a:t>ưở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quá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26447" y="1727513"/>
            <a:ext cx="466886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tránh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 spc="-15">
                <a:solidFill>
                  <a:srgbClr val="1f2937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overfitting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447" y="1984688"/>
            <a:ext cx="144287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98740" y="1988605"/>
            <a:ext cx="532030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1154" y="2327588"/>
            <a:ext cx="461270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Epochs: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toàn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26447" y="2327588"/>
            <a:ext cx="477212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Theo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dõi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validation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447" y="2584763"/>
            <a:ext cx="61795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98740" y="2584763"/>
            <a:ext cx="100655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3447" y="3102500"/>
            <a:ext cx="347449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Optimizer</a:t>
            </a:r>
            <a:r>
              <a:rPr dirty="0" sz="1700" spc="-64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Adam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Rate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98740" y="3102500"/>
            <a:ext cx="285248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K</a:t>
            </a:r>
            <a:r>
              <a:rPr dirty="0" sz="1700" spc="953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12121"/>
                </a:solidFill>
                <a:latin typeface="Liberation Sans"/>
                <a:cs typeface="Liberation Sans"/>
              </a:rPr>
              <a:t>thu</a:t>
            </a:r>
            <a:r>
              <a:rPr dirty="0" sz="1700" spc="500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12121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21212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12121"/>
                </a:solidFill>
                <a:latin typeface="Liberation Sans"/>
                <a:cs typeface="Liberation Sans"/>
              </a:rPr>
              <a:t>ModelCheckpoint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01154" y="3518213"/>
            <a:ext cx="486039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Adam: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linh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26447" y="3518213"/>
            <a:ext cx="480156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phiên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350" spc="448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  <a:r>
              <a:rPr dirty="0" sz="1350" spc="4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quá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8740" y="3775388"/>
            <a:ext cx="61795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1154" y="3861113"/>
            <a:ext cx="467548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Learning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Rate:</a:t>
            </a:r>
            <a:r>
              <a:rPr dirty="0" sz="1350" spc="-23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then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3447" y="4118288"/>
            <a:ext cx="119670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26447" y="4118288"/>
            <a:ext cx="489696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ễ</a:t>
            </a:r>
            <a:r>
              <a:rPr dirty="0" sz="1350" spc="3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dàng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ph</a:t>
            </a:r>
            <a:r>
              <a:rPr dirty="0" sz="1350" spc="4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h</a:t>
            </a:r>
            <a:r>
              <a:rPr dirty="0" sz="1350" spc="446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1262" y="6169815"/>
            <a:ext cx="156681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dirty="0" sz="1500" spc="56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tiêu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chính: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1262" y="6451913"/>
            <a:ext cx="707058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quá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trình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ffffff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Sans"/>
                <a:cs typeface="Liberation Sans"/>
              </a:rPr>
              <a:t>đoán.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1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56953" y="376231"/>
            <a:ext cx="823023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3000" spc="10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3000" spc="104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Nghi</a:t>
            </a:r>
            <a:r>
              <a:rPr dirty="0" sz="3000" spc="103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3000" spc="2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(Experimental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Setup)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2556" y="1501771"/>
            <a:ext cx="310362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Môi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2000" spc="199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2000" spc="7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nghi</a:t>
            </a:r>
            <a:r>
              <a:rPr dirty="0" sz="2000" spc="7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03540" y="1501771"/>
            <a:ext cx="245328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2000" spc="12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vi</a:t>
            </a:r>
            <a:r>
              <a:rPr dirty="0" sz="2000" spc="7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663" y="2079183"/>
            <a:ext cx="498587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Google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Colab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Pro/Premium: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Môi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10646" y="2079183"/>
            <a:ext cx="525694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TensorFlow:</a:t>
            </a:r>
            <a:r>
              <a:rPr dirty="0" sz="1500" spc="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Framework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999" y="2374458"/>
            <a:ext cx="134411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GPU.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51983" y="2378865"/>
            <a:ext cx="57948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9663" y="2803083"/>
            <a:ext cx="504026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GPU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(Graphics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Processing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Unit):</a:t>
            </a:r>
            <a:r>
              <a:rPr dirty="0" sz="1500" spc="-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10646" y="2803083"/>
            <a:ext cx="522440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Keras:</a:t>
            </a:r>
            <a:r>
              <a:rPr dirty="0" sz="1500" spc="-8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API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nghĩa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0999" y="3098358"/>
            <a:ext cx="199563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51983" y="3098358"/>
            <a:ext cx="130935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-ron.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10646" y="3526983"/>
            <a:ext cx="503824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NumPy:</a:t>
            </a:r>
            <a:r>
              <a:rPr dirty="0" sz="1500" spc="-2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51983" y="3822258"/>
            <a:ext cx="51600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610646" y="4250883"/>
            <a:ext cx="46386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Matplotlib:</a:t>
            </a:r>
            <a:r>
              <a:rPr dirty="0" sz="1500" spc="-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-23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(loss,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51983" y="4550565"/>
            <a:ext cx="103807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accuracy).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32556" y="5216521"/>
            <a:ext cx="270538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2000" spc="7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2000" spc="7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2000" spc="71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2000" spc="72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03540" y="5216521"/>
            <a:ext cx="400876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Baseline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2000" spc="5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2000" spc="200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so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sánh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9663" y="5793933"/>
            <a:ext cx="475979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Input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Size: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(ví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10646" y="5793933"/>
            <a:ext cx="524646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Baseline: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(VGG16,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0999" y="6093615"/>
            <a:ext cx="155051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224x224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pixels).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51983" y="6089208"/>
            <a:ext cx="256755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ResNet50)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fine-tuning.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39663" y="6517833"/>
            <a:ext cx="529630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Batch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Size: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(ví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32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610646" y="6517833"/>
            <a:ext cx="509763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4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146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so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sánh: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spc="-8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Accuracy,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80999" y="6813108"/>
            <a:ext cx="96041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64).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51983" y="6817515"/>
            <a:ext cx="249967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Precision,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Recall,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F1-score.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39663" y="7241733"/>
            <a:ext cx="520107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Epochs: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toàn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80999" y="7537008"/>
            <a:ext cx="119389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(ví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100).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39663" y="7965633"/>
            <a:ext cx="515947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Learning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Rate:</a:t>
            </a:r>
            <a:r>
              <a:rPr dirty="0" sz="1500" spc="-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(ví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0.001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80999" y="8265315"/>
            <a:ext cx="160338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Adam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optimizer).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2269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64040"/>
            <a:ext cx="6352931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8" b="1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dirty="0" sz="3000" spc="18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79426" y="1413909"/>
            <a:ext cx="234482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Curve: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Loss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36642" y="1413909"/>
            <a:ext cx="331641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700" spc="953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49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49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40" b="1">
                <a:solidFill>
                  <a:srgbClr val="374151"/>
                </a:solidFill>
                <a:latin typeface="Liberation Sans"/>
                <a:cs typeface="Liberation Sans"/>
              </a:rPr>
              <a:t>Test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5206" y="1860345"/>
            <a:ext cx="1059587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92.5%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6930" y="2947434"/>
            <a:ext cx="228555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Classification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Report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82208" y="3424214"/>
            <a:ext cx="607873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Class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8567" y="3424214"/>
            <a:ext cx="920829" cy="647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Precision</a:t>
            </a:r>
          </a:p>
          <a:p>
            <a:pPr marL="0" marR="0">
              <a:lnSpc>
                <a:spcPts val="1501"/>
              </a:lnSpc>
              <a:spcBef>
                <a:spcPts val="1798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0.91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434660" y="3424214"/>
            <a:ext cx="655296" cy="647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Recall</a:t>
            </a:r>
          </a:p>
          <a:p>
            <a:pPr marL="0" marR="0">
              <a:lnSpc>
                <a:spcPts val="1501"/>
              </a:lnSpc>
              <a:spcBef>
                <a:spcPts val="1798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0.95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414544" y="3424214"/>
            <a:ext cx="882824" cy="647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F1-Score</a:t>
            </a:r>
          </a:p>
          <a:p>
            <a:pPr marL="0" marR="0">
              <a:lnSpc>
                <a:spcPts val="1501"/>
              </a:lnSpc>
              <a:spcBef>
                <a:spcPts val="1798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0.93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82208" y="3843314"/>
            <a:ext cx="1072348" cy="666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Pneumonia</a:t>
            </a:r>
          </a:p>
          <a:p>
            <a:pPr marL="0" marR="0">
              <a:lnSpc>
                <a:spcPts val="1501"/>
              </a:lnSpc>
              <a:spcBef>
                <a:spcPts val="1998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Normal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68567" y="4281464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0.94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34660" y="4281464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0.90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14544" y="4281464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0.92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52165" y="4452384"/>
            <a:ext cx="279948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Curve:</a:t>
            </a:r>
            <a:r>
              <a:rPr dirty="0" sz="1700" spc="-6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Accuracy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96930" y="5223909"/>
            <a:ext cx="189412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Confusion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Matrix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945635" y="5691164"/>
            <a:ext cx="1090884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Predicted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85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827566" y="5691164"/>
            <a:ext cx="1100303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Predicted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82208" y="6119789"/>
            <a:ext cx="844300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Actual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Actual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827566" y="6119789"/>
            <a:ext cx="24732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945635" y="6548414"/>
            <a:ext cx="24732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827566" y="6548414"/>
            <a:ext cx="342257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72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36103" y="7277167"/>
            <a:ext cx="1087206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cho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y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năng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phát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viêm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X-quang,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chính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xác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cao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năng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rõ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04504" y="7581967"/>
            <a:ext cx="6935298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ràng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p.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ầ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xem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xét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thêm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ợ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ỗ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4b5563"/>
                </a:solidFill>
                <a:latin typeface="Liberation Sans"/>
                <a:cs typeface="Liberation Sans"/>
              </a:rPr>
              <a:t>năng.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772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16684" y="376231"/>
            <a:ext cx="4672670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Tích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3000" spc="98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60640" y="1339846"/>
            <a:ext cx="220066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Nguyên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nhân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sai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6984" y="1377946"/>
            <a:ext cx="314974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2000" spc="12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đoán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ĐÚNG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tiêu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95193" y="1860108"/>
            <a:ext cx="276140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95193" y="2288733"/>
            <a:ext cx="2939411" cy="11142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rõ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ràng.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  <a:p>
            <a:pPr marL="0" marR="0">
              <a:lnSpc>
                <a:spcPts val="1689"/>
              </a:lnSpc>
              <a:spcBef>
                <a:spcPts val="169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Dataset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bias.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5121271"/>
            <a:ext cx="277157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2000" spc="73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2000" spc="128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2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4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984" y="5159371"/>
            <a:ext cx="282276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2000" spc="12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đoán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SAI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tiêu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95193" y="5651058"/>
            <a:ext cx="249428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Baseline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95193" y="6079683"/>
            <a:ext cx="2978062" cy="6807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  <a:p>
            <a:pPr marL="0" marR="0">
              <a:lnSpc>
                <a:spcPts val="1760"/>
              </a:lnSpc>
              <a:spcBef>
                <a:spcPts val="15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Khó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khăn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thích.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29433" y="376231"/>
            <a:ext cx="5685336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Lu</a:t>
            </a:r>
            <a:r>
              <a:rPr dirty="0" sz="3000" spc="104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3000" spc="28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75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3000" spc="-8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3000" spc="104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2262" y="1339846"/>
            <a:ext cx="124409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T</a:t>
            </a:r>
            <a:r>
              <a:rPr dirty="0" sz="2000" spc="728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f766e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k</a:t>
            </a:r>
            <a:r>
              <a:rPr dirty="0" sz="2000" spc="728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1983" y="1339846"/>
            <a:ext cx="230209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H</a:t>
            </a:r>
            <a:r>
              <a:rPr dirty="0" sz="2000" spc="2005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f766e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f766e"/>
                </a:solidFill>
                <a:latin typeface="Liberation Sans"/>
                <a:cs typeface="Liberation Sans"/>
              </a:rPr>
              <a:t>Phát</a:t>
            </a: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spc="-31" b="1">
                <a:solidFill>
                  <a:srgbClr val="0f766e"/>
                </a:solidFill>
                <a:latin typeface="Liberation Sans"/>
                <a:cs typeface="Liberation Sans"/>
              </a:rPr>
              <a:t>Tri</a:t>
            </a:r>
            <a:r>
              <a:rPr dirty="0" sz="2000" spc="755" b="1">
                <a:solidFill>
                  <a:srgbClr val="0f766e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766e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08575" y="1945833"/>
            <a:ext cx="45492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(Augmentation,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Class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8575" y="2255040"/>
            <a:ext cx="81398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Weight)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08575" y="2717358"/>
            <a:ext cx="486301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Nâng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 spc="-2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Transfer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Learning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(MobileNetV2,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08575" y="3017040"/>
            <a:ext cx="107023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ResNet50)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63525" y="3488883"/>
            <a:ext cx="449916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minh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08575" y="3488883"/>
            <a:ext cx="40342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(EarlyStopping,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3525" y="3803208"/>
            <a:ext cx="424829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08575" y="3788565"/>
            <a:ext cx="296971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ModelCheckpoint,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LR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Scheduler)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63525" y="4117533"/>
            <a:ext cx="444664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08575" y="4250883"/>
            <a:ext cx="488690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sung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nâng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(ROC-AUC,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PR-AUC,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Error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08575" y="4550565"/>
            <a:ext cx="93137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Analysis)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08575" y="5022408"/>
            <a:ext cx="487565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thích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(Grad-CAM)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khai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0999" y="6213033"/>
            <a:ext cx="332041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b7280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b7280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6b7280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vì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đã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b7280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nghe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góp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ý.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29971" y="6217440"/>
            <a:ext cx="3133929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b7280"/>
                </a:solidFill>
                <a:latin typeface="Liberation Sans"/>
                <a:cs typeface="Liberation Sans"/>
              </a:rPr>
              <a:t>23017208@st.phenikaa-uni.edu.vn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2026-01-19T08:02:14+00:00</dcterms:modified>
</cp:coreProperties>
</file>