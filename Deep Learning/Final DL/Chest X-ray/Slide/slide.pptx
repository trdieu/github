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embeddedFontLst>
    <p:embeddedFont>
      <p:font typeface="IAWBQT+KaTeX_Math-Italic"/>
      <p:regular r:id="rId36"/>
    </p:embeddedFont>
    <p:embeddedFont>
      <p:font typeface="CEIUSC+KaTeX_Main-Regular"/>
      <p:regular r:id="rId37"/>
    </p:embeddedFont>
    <p:embeddedFont>
      <p:font typeface="TDBIGQ+KaTeX_Size2-Regular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font" Target="fonts/font1.fntdata" /><Relationship Id="rId37" Type="http://schemas.openxmlformats.org/officeDocument/2006/relationships/font" Target="fonts/font2.fntdata" /><Relationship Id="rId38" Type="http://schemas.openxmlformats.org/officeDocument/2006/relationships/font" Target="fonts/font3.fntdata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4153" y="1917692"/>
            <a:ext cx="4060933" cy="16388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4050" spc="135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405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34" b="1">
                <a:solidFill>
                  <a:srgbClr val="1f2937"/>
                </a:solidFill>
                <a:latin typeface="Liberation Sans"/>
                <a:cs typeface="Liberation Sans"/>
              </a:rPr>
              <a:t>Viêm</a:t>
            </a:r>
          </a:p>
          <a:p>
            <a:pPr marL="0" marR="0">
              <a:lnSpc>
                <a:spcPts val="4050"/>
              </a:lnSpc>
              <a:spcBef>
                <a:spcPts val="50"/>
              </a:spcBef>
              <a:spcAft>
                <a:spcPts val="0"/>
              </a:spcAft>
            </a:pP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4050" spc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4050" spc="253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X-quang</a:t>
            </a:r>
          </a:p>
          <a:p>
            <a:pPr marL="0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4050" spc="133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40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4050" spc="-14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4153" y="3762845"/>
            <a:ext cx="492118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Course/H</a:t>
            </a:r>
            <a:r>
              <a:rPr dirty="0" sz="2000" spc="50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2000" spc="1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2000" spc="49">
                <a:solidFill>
                  <a:srgbClr val="4b5563"/>
                </a:solidFill>
                <a:latin typeface="DejaVu Sans"/>
                <a:cs typeface="DejaVu Sans"/>
              </a:rPr>
              <a:t>ầ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n: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2000" spc="1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2000" spc="50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2000" spc="1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2000" spc="10">
                <a:solidFill>
                  <a:srgbClr val="4b5563"/>
                </a:solidFill>
                <a:latin typeface="Liberation Sans"/>
                <a:cs typeface="Liberation Sans"/>
              </a:rPr>
              <a:t>Sâu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-</a:t>
            </a:r>
            <a:r>
              <a:rPr dirty="0" sz="2000" spc="1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4b5563"/>
                </a:solidFill>
                <a:latin typeface="Liberation Sans"/>
                <a:cs typeface="Liberation Sans"/>
              </a:rPr>
              <a:t>EEE703035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4153" y="4621604"/>
            <a:ext cx="492928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6b7280"/>
                </a:solidFill>
                <a:latin typeface="Liberation Sans"/>
                <a:cs typeface="Liberation Sans"/>
              </a:rPr>
              <a:t>Nhóm:</a:t>
            </a:r>
            <a:r>
              <a:rPr dirty="0" sz="1700" spc="-28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40">
                <a:solidFill>
                  <a:srgbClr val="6b7280"/>
                </a:solidFill>
                <a:latin typeface="Liberation Sans"/>
                <a:cs typeface="Liberation Sans"/>
              </a:rPr>
              <a:t>Tr</a:t>
            </a:r>
            <a:r>
              <a:rPr dirty="0" sz="1700" spc="-46">
                <a:solidFill>
                  <a:srgbClr val="6b7280"/>
                </a:solidFill>
                <a:latin typeface="DejaVu Sans"/>
                <a:cs typeface="DejaVu Sans"/>
              </a:rPr>
              <a:t>ươ</a:t>
            </a:r>
            <a:r>
              <a:rPr dirty="0" sz="1700" spc="-11">
                <a:solidFill>
                  <a:srgbClr val="6b7280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2">
                <a:solidFill>
                  <a:srgbClr val="6b7280"/>
                </a:solidFill>
                <a:latin typeface="Liberation Sans"/>
                <a:cs typeface="Liberation Sans"/>
              </a:rPr>
              <a:t>Văn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6b7280"/>
                </a:solidFill>
                <a:latin typeface="Liberation Sans"/>
                <a:cs typeface="Liberation Sans"/>
              </a:rPr>
              <a:t>Di</a:t>
            </a:r>
            <a:r>
              <a:rPr dirty="0" sz="1700">
                <a:solidFill>
                  <a:srgbClr val="6b7280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-</a:t>
            </a:r>
            <a:r>
              <a:rPr dirty="0" sz="1700" spc="-12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6b7280"/>
                </a:solidFill>
                <a:latin typeface="Liberation Sans"/>
                <a:cs typeface="Liberation Sans"/>
              </a:rPr>
              <a:t>Mã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sinh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viên:</a:t>
            </a:r>
            <a:r>
              <a:rPr dirty="0" sz="170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6b7280"/>
                </a:solidFill>
                <a:latin typeface="Liberation Sans"/>
                <a:cs typeface="Liberation Sans"/>
              </a:rPr>
              <a:t>23017208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166681"/>
            <a:ext cx="4895975" cy="7408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dirty="0" sz="3000" spc="95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dirty="0" sz="3000" spc="103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3000" spc="189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Tài</a:t>
            </a:r>
          </a:p>
          <a:p>
            <a:pPr marL="0" marR="0">
              <a:lnSpc>
                <a:spcPts val="1955"/>
              </a:lnSpc>
              <a:spcBef>
                <a:spcPts val="149"/>
              </a:spcBef>
              <a:spcAft>
                <a:spcPts val="0"/>
              </a:spcAft>
            </a:pPr>
            <a:r>
              <a:rPr dirty="0" sz="1700" spc="-33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dirty="0" sz="1700" spc="-1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dirty="0" sz="1700" spc="-27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dirty="0" sz="1700" spc="-1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1700" spc="-98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4">
                <a:solidFill>
                  <a:srgbClr val="ffffff"/>
                </a:solidFill>
                <a:latin typeface="Liberation Sans"/>
                <a:cs typeface="Liberation Sans"/>
              </a:rPr>
              <a:t>AI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trong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2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dirty="0" sz="1700" spc="-67">
                <a:solidFill>
                  <a:srgbClr val="ffffff"/>
                </a:solidFill>
                <a:latin typeface="DejaVu Sans"/>
                <a:cs typeface="DejaVu Sans"/>
              </a:rPr>
              <a:t>ẩ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ffffff"/>
                </a:solidFill>
                <a:latin typeface="Liberation Sans"/>
                <a:cs typeface="Liberation Sans"/>
              </a:rPr>
              <a:t>đoán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Liberation Sans"/>
                <a:cs typeface="Liberation Sans"/>
              </a:rPr>
              <a:t>X-quang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Liberation Sans"/>
                <a:cs typeface="Liberation Sans"/>
              </a:rPr>
              <a:t>Viêm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ffffff"/>
                </a:solidFill>
                <a:latin typeface="Liberation Sans"/>
                <a:cs typeface="Liberation Sans"/>
              </a:rPr>
              <a:t>ph</a:t>
            </a:r>
            <a:r>
              <a:rPr dirty="0" sz="1700" spc="-64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dirty="0" sz="170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2199" y="1777996"/>
            <a:ext cx="269163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B</a:t>
            </a:r>
            <a:r>
              <a:rPr dirty="0" sz="2000" spc="73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l</a:t>
            </a:r>
            <a:r>
              <a:rPr dirty="0" sz="2000" spc="72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85542" y="1777996"/>
            <a:ext cx="3110745" cy="65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1" b="1">
                <a:solidFill>
                  <a:srgbClr val="008080"/>
                </a:solidFill>
                <a:latin typeface="Liberation Sans"/>
                <a:cs typeface="Liberation Sans"/>
              </a:rPr>
              <a:t>Vai</a:t>
            </a:r>
            <a:r>
              <a:rPr dirty="0" sz="2000" spc="3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X-quang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Thách</a:t>
            </a:r>
          </a:p>
          <a:p>
            <a:pPr marL="0" marR="0">
              <a:lnSpc>
                <a:spcPts val="2252"/>
              </a:lnSpc>
              <a:spcBef>
                <a:spcPts val="322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th</a:t>
            </a:r>
            <a:r>
              <a:rPr dirty="0" sz="2000" spc="72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8886" y="1777996"/>
            <a:ext cx="2728604" cy="65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08080"/>
                </a:solidFill>
                <a:latin typeface="Liberation Sans"/>
                <a:cs typeface="Liberation Sans"/>
              </a:rPr>
              <a:t>Gi</a:t>
            </a:r>
            <a:r>
              <a:rPr dirty="0" sz="2000" spc="711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pháp:</a:t>
            </a:r>
            <a:r>
              <a:rPr dirty="0" sz="2000" spc="172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d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2252"/>
              </a:lnSpc>
              <a:spcBef>
                <a:spcPts val="322"/>
              </a:spcBef>
              <a:spcAft>
                <a:spcPts val="0"/>
              </a:spcAft>
            </a:pP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199" y="2298258"/>
            <a:ext cx="2966849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AI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đang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bùng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giúp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phí,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đoán.</a:t>
            </a:r>
            <a:r>
              <a:rPr dirty="0" sz="1500" spc="-27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quy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1500" spc="33">
                <a:solidFill>
                  <a:srgbClr val="2f4f4f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85542" y="2641158"/>
            <a:ext cx="3088766" cy="11523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X-quang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viêm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i.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gian,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ễ</a:t>
            </a:r>
            <a:r>
              <a:rPr dirty="0" sz="1500" spc="21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sót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gia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áp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lên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</a:p>
          <a:p>
            <a:pPr marL="0" marR="0">
              <a:lnSpc>
                <a:spcPts val="1689"/>
              </a:lnSpc>
              <a:spcBef>
                <a:spcPts val="599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bác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sĩ.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78886" y="2641158"/>
            <a:ext cx="2971751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-ron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(CNN)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X-quang,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(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96.2%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)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79091" y="5893855"/>
            <a:ext cx="106526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AI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  <a:r>
              <a:rPr dirty="0" sz="1350" spc="-2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350" spc="-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71045" y="5893855"/>
            <a:ext cx="197291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Thách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350" spc="44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350" spc="4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đoán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49816" y="5893855"/>
            <a:ext cx="1802006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350" spc="8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xác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33403" y="166681"/>
            <a:ext cx="4077544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M</a:t>
            </a:r>
            <a:r>
              <a:rPr dirty="0" sz="3000" spc="106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Tiêu</a:t>
            </a:r>
            <a:r>
              <a:rPr dirty="0" sz="3000" spc="28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f0f8ff"/>
                </a:solidFill>
                <a:latin typeface="Liberation Sans"/>
                <a:cs typeface="Liberation Sans"/>
              </a:rPr>
              <a:t>Nghiên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447" y="1377946"/>
            <a:ext cx="261900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Tiêu</a:t>
            </a:r>
            <a:r>
              <a:rPr dirty="0" sz="2000" spc="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Quát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8889" y="1377946"/>
            <a:ext cx="206443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Tiêu</a:t>
            </a:r>
            <a:r>
              <a:rPr dirty="0" sz="2000" spc="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98889" y="1907733"/>
            <a:ext cx="3457695" cy="1414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1.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X-quang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2.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23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3.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trúc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4.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8354" y="1955358"/>
            <a:ext cx="411666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Xây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ự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8354" y="2250633"/>
            <a:ext cx="419054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nh,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phát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8354" y="2545908"/>
            <a:ext cx="9388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ẫ</a:t>
            </a:r>
            <a:r>
              <a:rPr dirty="0" sz="1500" i="1">
                <a:solidFill>
                  <a:srgbClr val="1f2937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98018" y="5698683"/>
            <a:ext cx="273961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cao.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4533" y="5864750"/>
            <a:ext cx="228120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 b="1">
                <a:solidFill>
                  <a:srgbClr val="2f4f4f"/>
                </a:solidFill>
                <a:latin typeface="Liberation Sans"/>
                <a:cs typeface="Liberation Sans"/>
              </a:rPr>
              <a:t>Tiêu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2f4f4f"/>
                </a:solidFill>
                <a:latin typeface="Liberation Sans"/>
                <a:cs typeface="Liberation Sans"/>
              </a:rPr>
              <a:t>Chí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Hoàn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Thành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98018" y="6032058"/>
            <a:ext cx="23660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Báo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cáo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khoa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chi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12789" y="547681"/>
            <a:ext cx="531870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Đóng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Góp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Báo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Cáo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90342" y="1578500"/>
            <a:ext cx="348018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1.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Xây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d</a:t>
            </a:r>
            <a:r>
              <a:rPr dirty="0" sz="1700" spc="56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Pipeline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li</a:t>
            </a:r>
            <a:r>
              <a:rPr dirty="0" sz="1700" spc="57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u</a:t>
            </a:r>
            <a:r>
              <a:rPr dirty="0" sz="1700" spc="1106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90342" y="1926783"/>
            <a:ext cx="680720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hoàn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0342" y="2222058"/>
            <a:ext cx="3729339" cy="566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ẵ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sàng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  <a:p>
            <a:pPr marL="0" marR="0">
              <a:lnSpc>
                <a:spcPts val="1876"/>
              </a:lnSpc>
              <a:spcBef>
                <a:spcPts val="522"/>
              </a:spcBef>
              <a:spcAft>
                <a:spcPts val="0"/>
              </a:spcAft>
            </a:pP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2.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Thi</a:t>
            </a:r>
            <a:r>
              <a:rPr dirty="0" sz="1700" spc="584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k</a:t>
            </a:r>
            <a:r>
              <a:rPr dirty="0" sz="1700" spc="1032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56" b="1">
                <a:solidFill>
                  <a:srgbClr val="115e59"/>
                </a:solidFill>
                <a:latin typeface="Liberation Sans"/>
                <a:cs typeface="Liberation Sans"/>
              </a:rPr>
              <a:t>Tri</a:t>
            </a:r>
            <a:r>
              <a:rPr dirty="0" sz="1700" spc="62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khai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15e59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90342" y="2860233"/>
            <a:ext cx="6813354" cy="871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spc="-23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Liberation Sans"/>
                <a:cs typeface="Liberation Sans"/>
              </a:rPr>
              <a:t>TensorFlow</a:t>
            </a:r>
            <a:r>
              <a:rPr dirty="0" sz="1500" spc="23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Keras,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khai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thác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Conv2D,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MaxPooling2D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Dropout.</a:t>
            </a:r>
          </a:p>
          <a:p>
            <a:pPr marL="0" marR="0">
              <a:lnSpc>
                <a:spcPts val="1876"/>
              </a:lnSpc>
              <a:spcBef>
                <a:spcPts val="522"/>
              </a:spcBef>
              <a:spcAft>
                <a:spcPts val="0"/>
              </a:spcAft>
            </a:pP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15e59"/>
                </a:solidFill>
                <a:latin typeface="Liberation Sans"/>
                <a:cs typeface="Liberation Sans"/>
              </a:rPr>
              <a:t>Hu</a:t>
            </a:r>
            <a:r>
              <a:rPr dirty="0" sz="1700" spc="50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luy</a:t>
            </a:r>
            <a:r>
              <a:rPr dirty="0" sz="1700" spc="575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115e59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90342" y="3803208"/>
            <a:ext cx="7071481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3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hành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tham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phù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dõi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sát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90342" y="4397900"/>
            <a:ext cx="256987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4.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giá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Khách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quan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890342" y="4736658"/>
            <a:ext cx="6646217" cy="871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quát.</a:t>
            </a:r>
          </a:p>
          <a:p>
            <a:pPr marL="0" marR="0">
              <a:lnSpc>
                <a:spcPts val="1876"/>
              </a:lnSpc>
              <a:spcBef>
                <a:spcPts val="522"/>
              </a:spcBef>
              <a:spcAft>
                <a:spcPts val="0"/>
              </a:spcAft>
            </a:pP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5.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15e59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tích</a:t>
            </a:r>
            <a:r>
              <a:rPr dirty="0" sz="1700" spc="-1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Đ</a:t>
            </a:r>
            <a:r>
              <a:rPr dirty="0" sz="1700" spc="1028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15e59"/>
                </a:solidFill>
                <a:latin typeface="Liberation Sans"/>
                <a:cs typeface="Liberation Sans"/>
              </a:rPr>
              <a:t>xu</a:t>
            </a:r>
            <a:r>
              <a:rPr dirty="0" sz="1700" spc="501" b="1">
                <a:solidFill>
                  <a:srgbClr val="115e59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15e59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90342" y="5679633"/>
            <a:ext cx="70003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890342" y="5974908"/>
            <a:ext cx="461187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5300128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2f4f4f"/>
                </a:solidFill>
                <a:latin typeface="DejaVu Sans"/>
                <a:cs typeface="DejaVu Sans"/>
              </a:rPr>
              <a:t>Bố</a:t>
            </a:r>
            <a:r>
              <a:rPr dirty="0" sz="3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DejaVu Sans"/>
                <a:cs typeface="DejaVu Sans"/>
              </a:rPr>
              <a:t>Cục</a:t>
            </a:r>
            <a:r>
              <a:rPr dirty="0" sz="3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DejaVu Sans"/>
                <a:cs typeface="DejaVu Sans"/>
              </a:rPr>
              <a:t>Bài</a:t>
            </a:r>
            <a:r>
              <a:rPr dirty="0" sz="3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2f4f4f"/>
                </a:solidFill>
                <a:latin typeface="DejaVu Sans"/>
                <a:cs typeface="DejaVu Sans"/>
              </a:rPr>
              <a:t>Thuyết</a:t>
            </a:r>
            <a:r>
              <a:rPr dirty="0" sz="3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3000" spc="-56" b="1">
                <a:solidFill>
                  <a:srgbClr val="2f4f4f"/>
                </a:solidFill>
                <a:latin typeface="DejaVu Sans"/>
                <a:cs typeface="DejaVu Sans"/>
              </a:rPr>
              <a:t>Trình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2540" y="1572095"/>
            <a:ext cx="4493158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2f4f4f"/>
                </a:solidFill>
                <a:latin typeface="DejaVu Sans"/>
                <a:cs typeface="DejaVu Sans"/>
              </a:rPr>
              <a:t>Nội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dung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chính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bài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thuyết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trình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31416" y="1657820"/>
            <a:ext cx="375646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2f4f4f"/>
                </a:solidFill>
                <a:latin typeface="DejaVu Sans"/>
                <a:cs typeface="DejaVu Sans"/>
              </a:rPr>
              <a:t>CNN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7066" y="2364933"/>
            <a:ext cx="4982101" cy="15094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46">
                <a:solidFill>
                  <a:srgbClr val="696969"/>
                </a:solidFill>
                <a:latin typeface="DejaVu Sans"/>
                <a:cs typeface="DejaVu Sans"/>
              </a:rPr>
              <a:t>Trong</a:t>
            </a:r>
            <a:r>
              <a:rPr dirty="0" sz="1500" spc="56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thời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đại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AI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bùng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nổ,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khả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năng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diện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giác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đã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trở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nền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tảng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nghệ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đột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phá.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CNN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tự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1760"/>
              </a:lnSpc>
              <a:spcBef>
                <a:spcPts val="714"/>
              </a:spcBef>
              <a:spcAft>
                <a:spcPts val="0"/>
              </a:spcAft>
            </a:pP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trích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xuất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đặc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DejaVu Sans"/>
                <a:cs typeface="DejaVu Sans"/>
              </a:rPr>
              <a:t>trưng</a:t>
            </a:r>
            <a:r>
              <a:rPr dirty="0" sz="1500" spc="-40" b="1">
                <a:solidFill>
                  <a:srgbClr val="00808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can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thiệp</a:t>
            </a:r>
          </a:p>
          <a:p>
            <a:pPr marL="0" marR="0">
              <a:lnSpc>
                <a:spcPts val="1760"/>
              </a:lnSpc>
              <a:spcBef>
                <a:spcPts val="714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thủ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công.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2526858"/>
            <a:ext cx="197417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1.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Giới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thiệu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chung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2945958"/>
            <a:ext cx="2150043" cy="6902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2.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bài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toán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3.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Cơ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sở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thuyết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540" y="3803208"/>
            <a:ext cx="3154888" cy="2395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4.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Nghiên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cứu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5.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tiền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lý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6.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Phương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pháp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đề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xuất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7.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Thiết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kế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nghiệm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8.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đánh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giá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9.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luận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triển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148342"/>
            <a:ext cx="3410992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3" b="1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ffff"/>
                </a:solidFill>
                <a:latin typeface="DejaVu Sans"/>
                <a:cs typeface="DejaVu Sans"/>
              </a:rPr>
              <a:t>Tả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fffff"/>
                </a:solidFill>
                <a:latin typeface="DejaVu Sans"/>
                <a:cs typeface="DejaVu Sans"/>
              </a:rPr>
              <a:t>Bài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-87" b="1">
                <a:solidFill>
                  <a:srgbClr val="ffffff"/>
                </a:solidFill>
                <a:latin typeface="DejaVu Sans"/>
                <a:cs typeface="DejaVu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1210145"/>
            <a:ext cx="458803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Phân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loại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ảnh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sử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1f2937"/>
                </a:solidFill>
                <a:latin typeface="DejaVu Sans"/>
                <a:cs typeface="DejaVu Sans"/>
              </a:rPr>
              <a:t>Học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sâu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690" y="1650558"/>
            <a:ext cx="6060372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Mạng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nơron</a:t>
            </a:r>
            <a:r>
              <a:rPr dirty="0" sz="1500" spc="12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chập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(CNN)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học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phân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ảnh,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đặc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trưng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0666" y="2631633"/>
            <a:ext cx="348380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Phân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loại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nhị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phân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có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giám</a:t>
            </a:r>
            <a:r>
              <a:rPr dirty="0" sz="1500" spc="1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sát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6690" y="3305645"/>
            <a:ext cx="241192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49" b="1">
                <a:solidFill>
                  <a:srgbClr val="1f2937"/>
                </a:solidFill>
                <a:latin typeface="DejaVu Sans"/>
                <a:cs typeface="DejaVu Sans"/>
              </a:rPr>
              <a:t>Va</a:t>
            </a:r>
            <a:r>
              <a:rPr dirty="0" sz="2000" spc="-686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i</a:t>
            </a: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trò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1f2937"/>
                </a:solidFill>
                <a:latin typeface="DejaVu Sans"/>
                <a:cs typeface="DejaVu Sans"/>
              </a:rPr>
              <a:t>CNN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6690" y="3746058"/>
            <a:ext cx="610330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chọn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đặc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trưng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X-quang,</a:t>
            </a:r>
            <a:r>
              <a:rPr dirty="0" sz="1500" spc="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phân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loại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trường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bất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thường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ở</a:t>
            </a:r>
            <a:r>
              <a:rPr dirty="0" sz="1500" spc="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phổi.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56275" y="4324820"/>
            <a:ext cx="227155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1f2937"/>
                </a:solidFill>
                <a:latin typeface="DejaVu Sans"/>
                <a:cs typeface="DejaVu Sans"/>
              </a:rPr>
              <a:t>Mục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tiêu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56275" y="4765233"/>
            <a:ext cx="4384978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bệnh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Viêm</a:t>
            </a:r>
            <a:r>
              <a:rPr dirty="0" sz="1500" spc="2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phổi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 spc="-67">
                <a:solidFill>
                  <a:srgbClr val="374151"/>
                </a:solidFill>
                <a:latin typeface="DejaVu Sans"/>
                <a:cs typeface="DejaVu Sans"/>
              </a:rPr>
              <a:t>X-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quang,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biệt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phổi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bình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thường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dấu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bệnh.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035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05596" y="364547"/>
            <a:ext cx="613324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Vào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-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Ra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9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76747" y="1328162"/>
            <a:ext cx="234784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1.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55e75"/>
                </a:solidFill>
                <a:latin typeface="Liberation Sans"/>
                <a:cs typeface="Liberation Sans"/>
              </a:rPr>
              <a:t>Vào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(Input)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84169" y="1328162"/>
            <a:ext cx="241883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2.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55e75"/>
                </a:solidFill>
                <a:latin typeface="Liberation Sans"/>
                <a:cs typeface="Liberation Sans"/>
              </a:rPr>
              <a:t>Ra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55e75"/>
                </a:solidFill>
                <a:latin typeface="Liberation Sans"/>
                <a:cs typeface="Liberation Sans"/>
              </a:rPr>
              <a:t>(Output)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87529" y="3519706"/>
            <a:ext cx="341227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Nhãn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 spc="985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đoán: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Normal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/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Pneumonia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54026" y="4072156"/>
            <a:ext cx="172665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X-quang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 spc="557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976" y="4110521"/>
            <a:ext cx="2437918" cy="609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Softmax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dirty="0" sz="1350" spc="45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di</a:t>
            </a:r>
            <a:r>
              <a:rPr dirty="0" sz="1350" spc="45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xác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su</a:t>
            </a:r>
            <a:r>
              <a:rPr dirty="0" sz="1350" spc="4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t:</a:t>
            </a:r>
          </a:p>
          <a:p>
            <a:pPr marL="799504" marR="0">
              <a:lnSpc>
                <a:spcPts val="1501"/>
              </a:lnSpc>
              <a:spcBef>
                <a:spcPts val="1498"/>
              </a:spcBef>
              <a:spcAft>
                <a:spcPts val="0"/>
              </a:spcAft>
            </a:pP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Normal: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66534"/>
                </a:solidFill>
                <a:latin typeface="Liberation Sans"/>
                <a:cs typeface="Liberation Sans"/>
              </a:rPr>
              <a:t>95%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0862" y="4487604"/>
            <a:ext cx="3102679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Kích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000000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c: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Chu</a:t>
            </a:r>
            <a:r>
              <a:rPr dirty="0" sz="1350">
                <a:solidFill>
                  <a:srgbClr val="000000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224x224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pixels</a:t>
            </a:r>
          </a:p>
          <a:p>
            <a:pPr marL="0" marR="0">
              <a:lnSpc>
                <a:spcPts val="1501"/>
              </a:lnSpc>
              <a:spcBef>
                <a:spcPts val="1116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Kênh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màu: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1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(Grayscale)</a:t>
            </a:r>
          </a:p>
          <a:p>
            <a:pPr marL="0" marR="0">
              <a:lnSpc>
                <a:spcPts val="1564"/>
              </a:lnSpc>
              <a:spcBef>
                <a:spcPts val="1167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pixel: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0-255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98681" y="4491521"/>
            <a:ext cx="142245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Pneumonia: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991b1b"/>
                </a:solidFill>
                <a:latin typeface="Liberation Sans"/>
                <a:cs typeface="Liberation Sans"/>
              </a:rPr>
              <a:t>5%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83086" y="5928737"/>
            <a:ext cx="437820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3.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Quy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-20" b="1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dirty="0" sz="2000" spc="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dirty="0" sz="2000" spc="7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2000" spc="73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1f2937"/>
                </a:solidFill>
                <a:latin typeface="Liberation Sans"/>
                <a:cs typeface="Liberation Sans"/>
              </a:rPr>
              <a:t>Quát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7739" y="6843931"/>
            <a:ext cx="92808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Vào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61692" y="6843931"/>
            <a:ext cx="113374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0" b="1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50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500" spc="98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26001" y="6843931"/>
            <a:ext cx="137878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91401" y="6843931"/>
            <a:ext cx="82140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Ra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38572" y="7126784"/>
            <a:ext cx="140649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X-quang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28628" y="7126784"/>
            <a:ext cx="16000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Liberation Sans"/>
                <a:cs typeface="Liberation Sans"/>
              </a:rPr>
              <a:t>Chu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ẩ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hóa,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Liberation Sans"/>
                <a:cs typeface="Liberation Sans"/>
              </a:rPr>
              <a:t>nhi</a:t>
            </a:r>
            <a:r>
              <a:rPr dirty="0" sz="1200" spc="11">
                <a:solidFill>
                  <a:srgbClr val="4b5563"/>
                </a:solidFill>
                <a:latin typeface="DejaVu Sans"/>
                <a:cs typeface="DejaVu Sans"/>
              </a:rPr>
              <a:t>ễ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59772" y="7126784"/>
            <a:ext cx="151110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4b5563"/>
                </a:solidFill>
                <a:latin typeface="Liberation Sans"/>
                <a:cs typeface="Liberation Sans"/>
              </a:rPr>
              <a:t>Trích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xu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ư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650907" y="7126784"/>
            <a:ext cx="11025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Liberation Sans"/>
                <a:cs typeface="Liberation Sans"/>
              </a:rPr>
              <a:t>Nhãn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200" spc="15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42418" y="423856"/>
            <a:ext cx="745949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3000" spc="10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Liberation Sans"/>
                <a:cs typeface="Liberation Sans"/>
              </a:rPr>
              <a:t>Di</a:t>
            </a:r>
            <a:r>
              <a:rPr dirty="0" sz="3000" spc="10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f4f4f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3000" spc="98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f4f4f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Phân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Lo</a:t>
            </a:r>
            <a:r>
              <a:rPr dirty="0" sz="3000" spc="104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347" y="1130825"/>
            <a:ext cx="306734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1.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700" spc="58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Di</a:t>
            </a:r>
            <a:r>
              <a:rPr dirty="0" sz="1700" spc="58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700" spc="58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5213" y="1130825"/>
            <a:ext cx="283294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2.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Đoán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(CNN)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5347" y="1517963"/>
            <a:ext cx="5239374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video)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tensor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u.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Nhãn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vector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one-hot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5213" y="1517963"/>
            <a:ext cx="539883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CNN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-ron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đóng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vai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trò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ánh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 spc="33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tensor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5347" y="2540525"/>
            <a:ext cx="338086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Hàm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700" spc="48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2f4f4f"/>
                </a:solidFill>
                <a:latin typeface="Liberation Sans"/>
                <a:cs typeface="Liberation Sans"/>
              </a:rPr>
              <a:t>Mát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(Cross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Entropy)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5347" y="2927663"/>
            <a:ext cx="537377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Cross-Entropy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sai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5213" y="2940575"/>
            <a:ext cx="416126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4.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Lan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41" b="1">
                <a:solidFill>
                  <a:srgbClr val="2f4f4f"/>
                </a:solidFill>
                <a:latin typeface="Liberation Sans"/>
                <a:cs typeface="Liberation Sans"/>
              </a:rPr>
              <a:t>Truy</a:t>
            </a:r>
            <a:r>
              <a:rPr dirty="0" sz="1700" spc="60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 spc="15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1700" spc="-8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Adam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Optimizer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347" y="3175313"/>
            <a:ext cx="47731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nhãn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bài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75213" y="3318188"/>
            <a:ext cx="479097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Lan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mát.</a:t>
            </a:r>
            <a:r>
              <a:rPr dirty="0" sz="1350" spc="-74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Adam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75213" y="3575363"/>
            <a:ext cx="52284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optimizer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này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66304" y="3771669"/>
            <a:ext cx="1111065" cy="311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spc="110" i="1">
                <a:solidFill>
                  <a:srgbClr val="1f2937"/>
                </a:solidFill>
                <a:latin typeface="IAWBQT+KaTeX_Math-Italic"/>
                <a:cs typeface="IAWBQT+KaTeX_Math-Italic"/>
              </a:rPr>
              <a:t>H</a:t>
            </a:r>
            <a:r>
              <a:rPr dirty="0" sz="1850" spc="-44">
                <a:solidFill>
                  <a:srgbClr val="1f2937"/>
                </a:solidFill>
                <a:latin typeface="CEIUSC+KaTeX_Main-Regular"/>
                <a:cs typeface="CEIUSC+KaTeX_Main-Regular"/>
              </a:rPr>
              <a:t>(</a:t>
            </a:r>
            <a:r>
              <a:rPr dirty="0" sz="1850" spc="-31" i="1">
                <a:solidFill>
                  <a:srgbClr val="1f2937"/>
                </a:solidFill>
                <a:latin typeface="IAWBQT+KaTeX_Math-Italic"/>
                <a:cs typeface="IAWBQT+KaTeX_Math-Italic"/>
              </a:rPr>
              <a:t>p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,</a:t>
            </a:r>
            <a:r>
              <a:rPr dirty="0" sz="1850" spc="-147">
                <a:solidFill>
                  <a:srgbClr val="1f2937"/>
                </a:solidFill>
                <a:latin typeface="CEIUSC+KaTeX_Main-Regular"/>
                <a:cs typeface="CEIUSC+KaTeX_Main-Regular"/>
              </a:rPr>
              <a:t> </a:t>
            </a:r>
            <a:r>
              <a:rPr dirty="0" sz="1850" spc="66" i="1">
                <a:solidFill>
                  <a:srgbClr val="1f2937"/>
                </a:solidFill>
                <a:latin typeface="IAWBQT+KaTeX_Math-Italic"/>
                <a:cs typeface="IAWBQT+KaTeX_Math-Italic"/>
              </a:rPr>
              <a:t>q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)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=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89646" y="3767949"/>
            <a:ext cx="333140" cy="311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−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09316" y="3665501"/>
            <a:ext cx="487862" cy="554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1f2937"/>
                </a:solidFill>
                <a:latin typeface="TDBIGQ+KaTeX_Size2-Regular"/>
                <a:cs typeface="TDBIGQ+KaTeX_Size2-Regular"/>
              </a:rPr>
              <a:t>∑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481387" y="3767949"/>
            <a:ext cx="1369845" cy="31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4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spc="-31" i="1">
                <a:solidFill>
                  <a:srgbClr val="1f2937"/>
                </a:solidFill>
                <a:latin typeface="IAWBQT+KaTeX_Math-Italic"/>
                <a:cs typeface="IAWBQT+KaTeX_Math-Italic"/>
              </a:rPr>
              <a:t>p</a:t>
            </a:r>
            <a:r>
              <a:rPr dirty="0" sz="1850" spc="-44">
                <a:solidFill>
                  <a:srgbClr val="1f2937"/>
                </a:solidFill>
                <a:latin typeface="CEIUSC+KaTeX_Main-Regular"/>
                <a:cs typeface="CEIUSC+KaTeX_Main-Regular"/>
              </a:rPr>
              <a:t>(</a:t>
            </a:r>
            <a:r>
              <a:rPr dirty="0" sz="1850" i="1">
                <a:solidFill>
                  <a:srgbClr val="1f2937"/>
                </a:solidFill>
                <a:latin typeface="IAWBQT+KaTeX_Math-Italic"/>
                <a:cs typeface="IAWBQT+KaTeX_Math-Italic"/>
              </a:rPr>
              <a:t>x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)</a:t>
            </a:r>
            <a:r>
              <a:rPr dirty="0" sz="1850" spc="-201">
                <a:solidFill>
                  <a:srgbClr val="1f2937"/>
                </a:solidFill>
                <a:latin typeface="CEIUSC+KaTeX_Main-Regular"/>
                <a:cs typeface="CEIUSC+KaTeX_Main-Regular"/>
              </a:rPr>
              <a:t> 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log</a:t>
            </a:r>
            <a:r>
              <a:rPr dirty="0" sz="1850" spc="736">
                <a:solidFill>
                  <a:srgbClr val="1f2937"/>
                </a:solidFill>
                <a:latin typeface="CEIUSC+KaTeX_Main-Regular"/>
                <a:cs typeface="CEIUSC+KaTeX_Main-Regular"/>
              </a:rPr>
              <a:t> </a:t>
            </a:r>
            <a:r>
              <a:rPr dirty="0" sz="1850" spc="-44">
                <a:solidFill>
                  <a:srgbClr val="1f2937"/>
                </a:solidFill>
                <a:latin typeface="CEIUSC+KaTeX_Main-Regular"/>
                <a:cs typeface="CEIUSC+KaTeX_Main-Regular"/>
              </a:rPr>
              <a:t>(</a:t>
            </a:r>
            <a:r>
              <a:rPr dirty="0" sz="1850" i="1">
                <a:solidFill>
                  <a:srgbClr val="1f2937"/>
                </a:solidFill>
                <a:latin typeface="IAWBQT+KaTeX_Math-Italic"/>
                <a:cs typeface="IAWBQT+KaTeX_Math-Italic"/>
              </a:rPr>
              <a:t>x</a:t>
            </a:r>
            <a:r>
              <a:rPr dirty="0" sz="1850">
                <a:solidFill>
                  <a:srgbClr val="1f2937"/>
                </a:solidFill>
                <a:latin typeface="CEIUSC+KaTeX_Main-Regular"/>
                <a:cs typeface="CEIUSC+KaTeX_Main-Regular"/>
              </a:rPr>
              <a:t>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76278" y="3814880"/>
            <a:ext cx="256012" cy="255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 i="1">
                <a:solidFill>
                  <a:srgbClr val="1f2937"/>
                </a:solidFill>
                <a:latin typeface="IAWBQT+KaTeX_Math-Italic"/>
                <a:cs typeface="IAWBQT+KaTeX_Math-Italic"/>
              </a:rPr>
              <a:t>q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5213" y="3832538"/>
            <a:ext cx="206957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 spc="45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350" spc="4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803460" y="3832538"/>
            <a:ext cx="25741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240189" y="3832538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28379" y="4131571"/>
            <a:ext cx="245402" cy="190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i="1">
                <a:solidFill>
                  <a:srgbClr val="1f2937"/>
                </a:solidFill>
                <a:latin typeface="IAWBQT+KaTeX_Math-Italic"/>
                <a:cs typeface="IAWBQT+KaTeX_Math-Italic"/>
              </a:rPr>
              <a:t>x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26690" y="5217050"/>
            <a:ext cx="316561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5.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700" spc="44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700" spc="9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Giá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4397" y="5608105"/>
            <a:ext cx="85432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Accuracy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94263" y="5608105"/>
            <a:ext cx="854404" cy="524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Precision</a:t>
            </a:r>
          </a:p>
          <a:p>
            <a:pPr marL="0" marR="0">
              <a:lnSpc>
                <a:spcPts val="1501"/>
              </a:lnSpc>
              <a:spcBef>
                <a:spcPts val="823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F1-score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54397" y="5903380"/>
            <a:ext cx="626709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Recall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54397" y="6198655"/>
            <a:ext cx="1432142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Confusion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Matrix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43721" y="547681"/>
            <a:ext cx="565694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Thách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3000" spc="104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Bài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f4f4f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6166" y="1602933"/>
            <a:ext cx="451264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quán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do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602933"/>
            <a:ext cx="43985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kém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6166" y="1907733"/>
            <a:ext cx="20159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1532" y="1907733"/>
            <a:ext cx="193164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36166" y="2460183"/>
            <a:ext cx="427061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thái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đa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31532" y="2460183"/>
            <a:ext cx="456036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36166" y="2755458"/>
            <a:ext cx="214231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31532" y="2755458"/>
            <a:ext cx="219180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suy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36166" y="3317433"/>
            <a:ext cx="44304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chênh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ễ</a:t>
            </a:r>
            <a:r>
              <a:rPr dirty="0" sz="1500" spc="21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thiên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ị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31532" y="3317433"/>
            <a:ext cx="454846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 spc="-79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AI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quy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2f4f4f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tin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36166" y="3612708"/>
            <a:ext cx="252954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31532" y="3612708"/>
            <a:ext cx="1013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1532" y="4165158"/>
            <a:ext cx="452954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GPU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31532" y="4469958"/>
            <a:ext cx="218794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thách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 spc="25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2f4f4f"/>
                </a:solidFill>
                <a:latin typeface="Liberation Sans"/>
                <a:cs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85515" y="547681"/>
            <a:ext cx="837313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98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9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-23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3000" spc="4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3000" spc="83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Giác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Máy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88967" y="1674015"/>
            <a:ext cx="235782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500" spc="49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500" spc="55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9326" y="2035700"/>
            <a:ext cx="206883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Khái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79976" y="2108513"/>
            <a:ext cx="48915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xây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9976" y="2365688"/>
            <a:ext cx="490806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2536383"/>
            <a:ext cx="5062356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não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50892" y="3169440"/>
            <a:ext cx="307429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500" spc="45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giác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Máy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93246" y="3603938"/>
            <a:ext cx="1860532" cy="1132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khuôn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khoa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0301" y="4531250"/>
            <a:ext cx="329338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m: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103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700" spc="57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5022408"/>
            <a:ext cx="5154899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thô,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công.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88967" y="5293515"/>
            <a:ext cx="324842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5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quan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500" spc="4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trong</a:t>
            </a:r>
            <a:r>
              <a:rPr dirty="0" sz="1500" spc="105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50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Y</a:t>
            </a:r>
            <a:r>
              <a:rPr dirty="0" sz="1500" spc="-1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khoa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79976" y="5728013"/>
            <a:ext cx="501880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Đóng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vai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trò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then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9976" y="5985188"/>
            <a:ext cx="339646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X-quang,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MRI.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12169" y="119056"/>
            <a:ext cx="5719976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M</a:t>
            </a:r>
            <a:r>
              <a:rPr dirty="0" sz="3000" spc="106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0f8ff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N</a:t>
            </a:r>
            <a:r>
              <a:rPr dirty="0" sz="3000" spc="982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f0f8ff"/>
                </a:solidFill>
                <a:latin typeface="Liberation Sans"/>
                <a:cs typeface="Liberation Sans"/>
              </a:rPr>
              <a:t>-ron</a:t>
            </a:r>
            <a:r>
              <a:rPr dirty="0" sz="3000" spc="1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f0f8ff"/>
                </a:solidFill>
                <a:latin typeface="Liberation Sans"/>
                <a:cs typeface="Liberation Sans"/>
              </a:rPr>
              <a:t>Tích</a:t>
            </a:r>
            <a:r>
              <a:rPr dirty="0" sz="3000" spc="1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f0f8ff"/>
                </a:solidFill>
                <a:latin typeface="Liberation Sans"/>
                <a:cs typeface="Liberation Sans"/>
              </a:rPr>
              <a:t>Ch</a:t>
            </a:r>
            <a:r>
              <a:rPr dirty="0" sz="3000" spc="1039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p</a:t>
            </a:r>
            <a:r>
              <a:rPr dirty="0" sz="3000" spc="2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f0f8ff"/>
                </a:solidFill>
                <a:latin typeface="Liberation Sans"/>
                <a:cs typeface="Liberation Sans"/>
              </a:rPr>
              <a:t>(CNN)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581" y="1783154"/>
            <a:ext cx="1113495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 spc="-46">
                <a:solidFill>
                  <a:srgbClr val="2f4f4f"/>
                </a:solidFill>
                <a:latin typeface="DejaVu Sans"/>
                <a:cs typeface="DejaVu Sans"/>
              </a:rPr>
              <a:t>ượ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15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k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700" spc="46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 spc="-67">
                <a:solidFill>
                  <a:srgbClr val="2f4f4f"/>
                </a:solidFill>
                <a:latin typeface="DejaVu Sans"/>
                <a:cs typeface="DejaVu Sans"/>
              </a:rPr>
              <a:t>ặ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15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700" spc="46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x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ử</a:t>
            </a:r>
            <a:r>
              <a:rPr dirty="0" sz="1700" spc="14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lý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700" spc="14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67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nh,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  <a:r>
              <a:rPr dirty="0" sz="1700" spc="14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 spc="-64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trích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xu</a:t>
            </a:r>
            <a:r>
              <a:rPr dirty="0" sz="1700" spc="-67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 spc="-67">
                <a:solidFill>
                  <a:srgbClr val="2f4f4f"/>
                </a:solidFill>
                <a:latin typeface="DejaVu Sans"/>
                <a:cs typeface="DejaVu Sans"/>
              </a:rPr>
              <a:t>ặ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15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1700" spc="-27">
                <a:solidFill>
                  <a:srgbClr val="2f4f4f"/>
                </a:solidFill>
                <a:latin typeface="DejaVu Sans"/>
                <a:cs typeface="DejaVu Sans"/>
              </a:rPr>
              <a:t>ư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quan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1700" spc="-64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700" spc="-1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2f4f4f"/>
                </a:solidFill>
                <a:latin typeface="Liberation Sans"/>
                <a:cs typeface="Liberation Sans"/>
              </a:rPr>
              <a:t>mà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không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67">
                <a:solidFill>
                  <a:srgbClr val="2f4f4f"/>
                </a:solidFill>
                <a:latin typeface="DejaVu Sans"/>
                <a:cs typeface="DejaVu Sans"/>
              </a:rPr>
              <a:t>ầ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80111" y="2087954"/>
            <a:ext cx="198418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can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700" spc="-17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700">
                <a:solidFill>
                  <a:srgbClr val="2f4f4f"/>
                </a:solidFill>
                <a:latin typeface="DejaVu Sans"/>
                <a:cs typeface="DejaVu Sans"/>
              </a:rPr>
              <a:t>ủ</a:t>
            </a:r>
            <a:r>
              <a:rPr dirty="0" sz="1700" spc="14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2f4f4f"/>
                </a:solidFill>
                <a:latin typeface="Liberation Sans"/>
                <a:cs typeface="Liberation Sans"/>
              </a:rPr>
              <a:t>công.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5153" y="2892421"/>
            <a:ext cx="195506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Tích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Ch</a:t>
            </a:r>
            <a:r>
              <a:rPr dirty="0" sz="2000" spc="717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9921" y="2892421"/>
            <a:ext cx="163664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Pooling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54838" y="2892421"/>
            <a:ext cx="1659842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Flatten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FC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6160" y="3413438"/>
            <a:ext cx="3259539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Áp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(kernel)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quét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qua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phát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texture.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80929" y="3413438"/>
            <a:ext cx="3198818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ra,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45846" y="3413438"/>
            <a:ext cx="3179398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15">
                <a:solidFill>
                  <a:srgbClr val="696969"/>
                </a:solidFill>
                <a:latin typeface="Liberation Sans"/>
                <a:cs typeface="Liberation Sans"/>
              </a:rPr>
              <a:t>vector,</a:t>
            </a:r>
            <a:r>
              <a:rPr dirty="0" sz="1350" spc="1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6690" y="4635496"/>
            <a:ext cx="504330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2000" spc="71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256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X-quang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1243" y="5127183"/>
            <a:ext cx="64174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X-quang.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1243" y="5508183"/>
            <a:ext cx="606034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viêm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38275" y="423856"/>
            <a:ext cx="706757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e293b"/>
                </a:solidFill>
                <a:latin typeface="Liberation Sans"/>
                <a:cs typeface="Liberation Sans"/>
              </a:rPr>
              <a:t>Hàm</a:t>
            </a:r>
            <a:r>
              <a:rPr dirty="0" sz="3000" spc="11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e293b"/>
                </a:solidFill>
                <a:latin typeface="Liberation Sans"/>
                <a:cs typeface="Liberation Sans"/>
              </a:rPr>
              <a:t>Kích</a:t>
            </a:r>
            <a:r>
              <a:rPr dirty="0" sz="3000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e293b"/>
                </a:solidFill>
                <a:latin typeface="Liberation Sans"/>
                <a:cs typeface="Liberation Sans"/>
              </a:rPr>
              <a:t>Ho</a:t>
            </a:r>
            <a:r>
              <a:rPr dirty="0" sz="3000" spc="1039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e293b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e293b"/>
                </a:solidFill>
                <a:latin typeface="Liberation Sans"/>
                <a:cs typeface="Liberation Sans"/>
              </a:rPr>
              <a:t>(Activation</a:t>
            </a:r>
            <a:r>
              <a:rPr dirty="0" sz="3000" spc="10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e293b"/>
                </a:solidFill>
                <a:latin typeface="Liberation Sans"/>
                <a:cs typeface="Liberation Sans"/>
              </a:rPr>
              <a:t>Functions)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8060" y="1959500"/>
            <a:ext cx="80434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58" b="1">
                <a:solidFill>
                  <a:srgbClr val="1e293b"/>
                </a:solidFill>
                <a:latin typeface="Liberation Sans"/>
                <a:cs typeface="Liberation Sans"/>
              </a:rPr>
              <a:t>Vai</a:t>
            </a:r>
            <a:r>
              <a:rPr dirty="0" sz="1700" spc="47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e293b"/>
                </a:solidFill>
                <a:latin typeface="Liberation Sans"/>
                <a:cs typeface="Liberation Sans"/>
              </a:rPr>
              <a:t>trò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42829" y="1959500"/>
            <a:ext cx="123089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e293b"/>
                </a:solidFill>
                <a:latin typeface="Liberation Sans"/>
                <a:cs typeface="Liberation Sans"/>
              </a:rPr>
              <a:t>Hàm</a:t>
            </a:r>
            <a:r>
              <a:rPr dirty="0" sz="1700" spc="-10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e293b"/>
                </a:solidFill>
                <a:latin typeface="Liberation Sans"/>
                <a:cs typeface="Liberation Sans"/>
              </a:rPr>
              <a:t>ReLU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07746" y="1959500"/>
            <a:ext cx="151538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e293b"/>
                </a:solidFill>
                <a:latin typeface="Liberation Sans"/>
                <a:cs typeface="Liberation Sans"/>
              </a:rPr>
              <a:t>Hàm</a:t>
            </a:r>
            <a:r>
              <a:rPr dirty="0" sz="1700" spc="-10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e293b"/>
                </a:solidFill>
                <a:latin typeface="Liberation Sans"/>
                <a:cs typeface="Liberation Sans"/>
              </a:rPr>
              <a:t>Softmax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8060" y="2346638"/>
            <a:ext cx="3283205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lõi,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ea580c"/>
                </a:solidFill>
                <a:latin typeface="Liberation Sans"/>
                <a:cs typeface="Liberation Sans"/>
              </a:rPr>
              <a:t>phi</a:t>
            </a:r>
            <a:r>
              <a:rPr dirty="0" sz="1350" b="1">
                <a:solidFill>
                  <a:srgbClr val="ea580c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ea580c"/>
                </a:solidFill>
                <a:latin typeface="Liberation Sans"/>
                <a:cs typeface="Liberation Sans"/>
              </a:rPr>
              <a:t>tuy</a:t>
            </a:r>
            <a:r>
              <a:rPr dirty="0" sz="1350" spc="448" b="1">
                <a:solidFill>
                  <a:srgbClr val="ea580c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ea580c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ea580c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-ron.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42829" y="2346638"/>
            <a:ext cx="2990451" cy="7470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toán,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vanishing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</a:p>
          <a:p>
            <a:pPr marL="0" marR="0">
              <a:lnSpc>
                <a:spcPts val="1501"/>
              </a:lnSpc>
              <a:spcBef>
                <a:spcPts val="491"/>
              </a:spcBef>
              <a:spcAft>
                <a:spcPts val="0"/>
              </a:spcAft>
            </a:pP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t</a:t>
            </a:r>
            <a:r>
              <a:rPr dirty="0" sz="1350" spc="448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ng</a:t>
            </a:r>
            <a:r>
              <a:rPr dirty="0" sz="1350" spc="822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CNN.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7746" y="2346638"/>
            <a:ext cx="3245077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thành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phân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ph</a:t>
            </a:r>
            <a:r>
              <a:rPr dirty="0" sz="1350" spc="4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i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xác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su</a:t>
            </a:r>
            <a:r>
              <a:rPr dirty="0" sz="1350" spc="4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ưở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t</a:t>
            </a:r>
            <a:r>
              <a:rPr dirty="0" sz="1350" spc="448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ng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đ</a:t>
            </a:r>
            <a:r>
              <a:rPr dirty="0" sz="1350" spc="446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u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ra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841378" y="3271318"/>
            <a:ext cx="1099073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Ẩ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8">
                <a:solidFill>
                  <a:srgbClr val="ffffff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42829" y="3712100"/>
            <a:ext cx="156288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3" b="1">
                <a:solidFill>
                  <a:srgbClr val="1e293b"/>
                </a:solidFill>
                <a:latin typeface="Liberation Sans"/>
                <a:cs typeface="Liberation Sans"/>
              </a:rPr>
              <a:t>Sigmoid/Tanh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42829" y="4089713"/>
            <a:ext cx="294297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76610" y="4338118"/>
            <a:ext cx="828533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Sans"/>
                <a:cs typeface="Liberation Sans"/>
              </a:rPr>
              <a:t>Phi</a:t>
            </a:r>
            <a:r>
              <a:rPr dirty="0" sz="1200" spc="-18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28">
                <a:solidFill>
                  <a:srgbClr val="ffffff"/>
                </a:solidFill>
                <a:latin typeface="Liberation Sans"/>
                <a:cs typeface="Liberation Sans"/>
              </a:rPr>
              <a:t>Tuy</a:t>
            </a:r>
            <a:r>
              <a:rPr dirty="0" sz="1200" spc="11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42829" y="4346888"/>
            <a:ext cx="325292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vanishing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kém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ReLU.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06295" y="4338118"/>
            <a:ext cx="1372048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Sans"/>
                <a:cs typeface="Liberation Sans"/>
              </a:rPr>
              <a:t>Phân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Lo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8">
                <a:solidFill>
                  <a:srgbClr val="ffffff"/>
                </a:solidFill>
                <a:latin typeface="Liberation Sans"/>
                <a:cs typeface="Liberation Sans"/>
              </a:rPr>
              <a:t>Đa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9960" y="5331350"/>
            <a:ext cx="1449276" cy="276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e293b"/>
                </a:solidFill>
                <a:latin typeface="Liberation Sans"/>
                <a:cs typeface="Liberation Sans"/>
              </a:rPr>
              <a:t>L</a:t>
            </a:r>
            <a:r>
              <a:rPr dirty="0" sz="1700" spc="565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e293b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Liberation Sans"/>
                <a:cs typeface="Liberation Sans"/>
              </a:rPr>
              <a:t>Ch</a:t>
            </a:r>
            <a:r>
              <a:rPr dirty="0" sz="1700" spc="505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e293b"/>
                </a:solidFill>
                <a:latin typeface="Liberation Sans"/>
                <a:cs typeface="Liberation Sans"/>
              </a:rPr>
              <a:t>n</a:t>
            </a:r>
            <a:r>
              <a:rPr dirty="0" sz="1700" spc="857" b="1">
                <a:solidFill>
                  <a:srgbClr val="1e293b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33277" y="5347013"/>
            <a:ext cx="897596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tiên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ReLU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44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spc="82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 spc="45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 spc="4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 spc="45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 spc="446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 spc="81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gradient.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Softmax</a:t>
            </a:r>
            <a:r>
              <a:rPr dirty="0" sz="1350" b="1">
                <a:solidFill>
                  <a:srgbClr val="0d9488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spc="44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 spc="446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350" spc="448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573308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15181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026419" y="5347013"/>
            <a:ext cx="25741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53570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13386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92901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734774" y="5347013"/>
            <a:ext cx="25741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688270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124999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0566748" y="5347013"/>
            <a:ext cx="2569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06526" y="461956"/>
            <a:ext cx="5531298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Hàm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3000" spc="106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Mát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(Loss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Function)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184" y="1416046"/>
            <a:ext cx="285077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Đ</a:t>
            </a:r>
            <a:r>
              <a:rPr dirty="0" sz="2000" spc="56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tiêu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8740" y="1416046"/>
            <a:ext cx="231635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lo</a:t>
            </a:r>
            <a:r>
              <a:rPr dirty="0" sz="2000" spc="72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ph</a:t>
            </a:r>
            <a:r>
              <a:rPr dirty="0" sz="2000" spc="127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1907733"/>
            <a:ext cx="480632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Hàm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mát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khác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98740" y="1940450"/>
            <a:ext cx="234493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Binary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Cross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Entropy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73145" y="1975918"/>
            <a:ext cx="14063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Sans"/>
                <a:cs typeface="Liberation Sans"/>
              </a:rPr>
              <a:t>Phân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Liberation Sans"/>
                <a:cs typeface="Liberation Sans"/>
              </a:rPr>
              <a:t>lo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3184" y="2203008"/>
            <a:ext cx="379429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nhãn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8740" y="2336358"/>
            <a:ext cx="50415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Đo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bài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phân,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8740" y="2631633"/>
            <a:ext cx="355310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sánh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nhãn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3184" y="2669733"/>
            <a:ext cx="491552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tiêu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gi</a:t>
            </a:r>
            <a:r>
              <a:rPr dirty="0" sz="1500" spc="47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m</a:t>
            </a:r>
            <a:r>
              <a:rPr dirty="0" sz="15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thi</a:t>
            </a:r>
            <a:r>
              <a:rPr dirty="0" sz="1500" spc="48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u</a:t>
            </a:r>
            <a:r>
              <a:rPr dirty="0" sz="1500" spc="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giá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tr</a:t>
            </a:r>
            <a:r>
              <a:rPr dirty="0" sz="1500" spc="45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này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trình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3184" y="2974533"/>
            <a:ext cx="11602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98740" y="3178700"/>
            <a:ext cx="284270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Categorical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Cross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Entropy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31796" y="3214168"/>
            <a:ext cx="1247556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Liberation Sans"/>
                <a:cs typeface="Liberation Sans"/>
              </a:rPr>
              <a:t>Phân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Liberation Sans"/>
                <a:cs typeface="Liberation Sans"/>
              </a:rPr>
              <a:t>lo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Liberation Sans"/>
                <a:cs typeface="Liberation Sans"/>
              </a:rPr>
              <a:t>đa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98740" y="3565083"/>
            <a:ext cx="481057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Đo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bài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đa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so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sánh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3184" y="3597271"/>
            <a:ext cx="218642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Ý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-31" b="1">
                <a:solidFill>
                  <a:srgbClr val="008080"/>
                </a:solidFill>
                <a:latin typeface="Liberation Sans"/>
                <a:cs typeface="Liberation Sans"/>
              </a:rPr>
              <a:t>Vai</a:t>
            </a:r>
            <a:r>
              <a:rPr dirty="0" sz="2000" spc="3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trò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8740" y="3869883"/>
            <a:ext cx="43549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nhãn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13184" y="4079433"/>
            <a:ext cx="5093758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kim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ch</a:t>
            </a:r>
            <a:r>
              <a:rPr dirty="0" sz="1500" spc="45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nam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mô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</a:t>
            </a:r>
            <a:r>
              <a:rPr dirty="0" sz="1500" spc="33">
                <a:solidFill>
                  <a:srgbClr val="000000"/>
                </a:solidFill>
                <a:latin typeface="DejaVu Sans"/>
                <a:cs typeface="DejaVu Sans"/>
              </a:rPr>
              <a:t>ỉ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tham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ỗ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xác.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98740" y="4873621"/>
            <a:ext cx="223072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73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2000" spc="719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tr</a:t>
            </a:r>
            <a:r>
              <a:rPr dirty="0" sz="2000" spc="719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98740" y="5355783"/>
            <a:ext cx="4912881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mát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dùng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toán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gradient,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ơ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dirty="0" sz="1500" spc="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1500" spc="49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p</a:t>
            </a:r>
            <a:r>
              <a:rPr dirty="0" sz="1500" spc="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1500" spc="48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tr</a:t>
            </a:r>
            <a:r>
              <a:rPr dirty="0" sz="1500" spc="48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s</a:t>
            </a:r>
            <a:r>
              <a:rPr dirty="0" sz="1500" spc="9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neural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quá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hóa.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76231"/>
            <a:ext cx="6246482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Thu</a:t>
            </a:r>
            <a:r>
              <a:rPr dirty="0" sz="3000" spc="104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-46" b="1">
                <a:solidFill>
                  <a:srgbClr val="2f4f4f"/>
                </a:solidFill>
                <a:latin typeface="Liberation Sans"/>
                <a:cs typeface="Liberation Sans"/>
              </a:rPr>
              <a:t>Toán</a:t>
            </a:r>
            <a:r>
              <a:rPr dirty="0" sz="3000" spc="6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3000" spc="98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3000" spc="256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2f4f4f"/>
                </a:solidFill>
                <a:latin typeface="Liberation Sans"/>
                <a:cs typeface="Liberation Sans"/>
              </a:rPr>
              <a:t>(Optimization)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656" y="1264175"/>
            <a:ext cx="258420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700" spc="55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tiêu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700" spc="103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5213" y="1264175"/>
            <a:ext cx="178778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Adam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Optimizer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641788"/>
            <a:ext cx="519997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Tìm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5213" y="1641788"/>
            <a:ext cx="51993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RMSprop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Momentum.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riêng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656" y="1898963"/>
            <a:ext cx="289438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mát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75213" y="1898963"/>
            <a:ext cx="152806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02920" y="2279963"/>
            <a:ext cx="181297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thích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nghi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02920" y="2575238"/>
            <a:ext cx="113952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nhanh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9656" y="2711975"/>
            <a:ext cx="243957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Gradient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Descent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(GD)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9656" y="3089588"/>
            <a:ext cx="51822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theo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9656" y="3346763"/>
            <a:ext cx="27042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gradient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mát.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5213" y="3397775"/>
            <a:ext cx="213972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700" spc="56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700" spc="50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Optimizer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5213" y="3775388"/>
            <a:ext cx="51243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optimizer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p.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75213" y="4032563"/>
            <a:ext cx="363406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tài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nguyên.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4159775"/>
            <a:ext cx="202453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SGD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1700" spc="-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Momentum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89656" y="4537388"/>
            <a:ext cx="503687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SGD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tham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mini-batch.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Momentum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tăng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89656" y="4794563"/>
            <a:ext cx="312351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47279" y="6213033"/>
            <a:ext cx="82498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"Optimizers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là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trái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tim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ủ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-23" i="1">
                <a:solidFill>
                  <a:srgbClr val="2f4f4f"/>
                </a:solidFill>
                <a:latin typeface="Liberation Sans"/>
                <a:cs typeface="Liberation Sans"/>
              </a:rPr>
              <a:t>máy,</a:t>
            </a:r>
            <a:r>
              <a:rPr dirty="0" sz="1500" spc="28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giúp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ủ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2f4f4f"/>
                </a:solidFill>
                <a:latin typeface="DejaVu Sans"/>
                <a:cs typeface="DejaVu Sans"/>
              </a:rPr>
              <a:t>ượ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2f4f4f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2f4f4f"/>
                </a:solidFill>
                <a:latin typeface="Liberation Sans"/>
                <a:cs typeface="Liberation Sans"/>
              </a:rPr>
              <a:t>u."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23976" y="129462"/>
            <a:ext cx="4896478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2500" spc="151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Thu</a:t>
            </a:r>
            <a:r>
              <a:rPr dirty="0" sz="2500" spc="88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-20" b="1">
                <a:solidFill>
                  <a:srgbClr val="ffffff"/>
                </a:solidFill>
                <a:latin typeface="Liberation Sans"/>
                <a:cs typeface="Liberation Sans"/>
              </a:rPr>
              <a:t>Tránh</a:t>
            </a:r>
            <a:r>
              <a:rPr dirty="0" sz="2500" spc="36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Overfitting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741" y="1245125"/>
            <a:ext cx="351062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700" spc="58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154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Overfitting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Tác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700" spc="4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741" y="1622738"/>
            <a:ext cx="514308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Overfitting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x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ra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khi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ỹ</a:t>
            </a:r>
            <a:r>
              <a:rPr dirty="0" sz="1350" spc="62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n,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741" y="1879913"/>
            <a:ext cx="409738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kém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i,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350" spc="-31">
                <a:solidFill>
                  <a:srgbClr val="2f4f4f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2f4f4f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350" spc="-102">
                <a:solidFill>
                  <a:srgbClr val="2f4f4f"/>
                </a:solidFill>
                <a:latin typeface="Liberation Sans"/>
                <a:cs typeface="Liberation Sans"/>
              </a:rPr>
              <a:t>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398" y="2222813"/>
            <a:ext cx="515333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ghi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ễ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n,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thay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1398" y="2479988"/>
            <a:ext cx="213527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vì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ẫ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quát.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6012" y="2855645"/>
            <a:ext cx="1976287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200" spc="4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2f4f4f"/>
                </a:solidFill>
                <a:latin typeface="Liberation Sans"/>
                <a:cs typeface="Liberation Sans"/>
              </a:rPr>
              <a:t>su</a:t>
            </a:r>
            <a:r>
              <a:rPr dirty="0" sz="1200" spc="4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-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40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5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5" b="1">
                <a:solidFill>
                  <a:srgbClr val="2f4f4f"/>
                </a:solidFill>
                <a:latin typeface="Liberation Sans"/>
                <a:cs typeface="Liberation Sans"/>
              </a:rPr>
              <a:t>quát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5" b="1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200" spc="42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78098" y="3836190"/>
            <a:ext cx="196599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1.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L2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Regularization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46105" y="3836190"/>
            <a:ext cx="111226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2.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Dropout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78098" y="4157143"/>
            <a:ext cx="475622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200" spc="-27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200">
                <a:solidFill>
                  <a:srgbClr val="2f4f4f"/>
                </a:solidFill>
                <a:latin typeface="DejaVu Sans"/>
                <a:cs typeface="DejaVu Sans"/>
              </a:rPr>
              <a:t>ố</a:t>
            </a:r>
            <a:r>
              <a:rPr dirty="0" sz="1200" spc="41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200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200" spc="3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ơ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hình,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tránh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nhi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ễ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làm</a:t>
            </a:r>
            <a:r>
              <a:rPr dirty="0" sz="1200" spc="-18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cho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46105" y="4157143"/>
            <a:ext cx="476151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ẫ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nhiên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vô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neuron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n,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bu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ộ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78098" y="4366693"/>
            <a:ext cx="1712269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ổ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quát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ơ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46105" y="4366693"/>
            <a:ext cx="2964208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ọ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di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ễ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200">
                <a:solidFill>
                  <a:srgbClr val="2f4f4f"/>
                </a:solidFill>
                <a:latin typeface="DejaVu Sans"/>
                <a:cs typeface="DejaVu Sans"/>
              </a:rPr>
              <a:t>ẽ</a:t>
            </a:r>
            <a:r>
              <a:rPr dirty="0" sz="1200" spc="37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ơ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78098" y="5445915"/>
            <a:ext cx="211870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3.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Data</a:t>
            </a:r>
            <a:r>
              <a:rPr dirty="0" sz="1500" spc="-5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Augmentation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46105" y="5445915"/>
            <a:ext cx="172057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4.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Early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Stopping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8098" y="5766868"/>
            <a:ext cx="4926793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o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thêm</a:t>
            </a:r>
            <a:r>
              <a:rPr dirty="0" sz="1200" spc="-15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200" spc="15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ằ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cách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ổ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28">
                <a:solidFill>
                  <a:srgbClr val="2f4f4f"/>
                </a:solidFill>
                <a:latin typeface="Liberation Sans"/>
                <a:cs typeface="Liberation Sans"/>
              </a:rPr>
              <a:t>(xoay,</a:t>
            </a:r>
            <a:r>
              <a:rPr dirty="0" sz="1200" spc="15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t)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2f4f4f"/>
                </a:solidFill>
                <a:latin typeface="DejaVu Sans"/>
                <a:cs typeface="DejaVu Sans"/>
              </a:rPr>
              <a:t>ữ</a:t>
            </a:r>
            <a:r>
              <a:rPr dirty="0" sz="1200" spc="15">
                <a:solidFill>
                  <a:srgbClr val="2f4f4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46105" y="5766868"/>
            <a:ext cx="4648717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200" spc="-10">
                <a:solidFill>
                  <a:srgbClr val="2f4f4f"/>
                </a:solidFill>
                <a:latin typeface="DejaVu Sans"/>
                <a:cs typeface="DejaVu Sans"/>
              </a:rPr>
              <a:t>ừ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200" spc="-1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khi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su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trên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ậ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validation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ắ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ầ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78098" y="5985943"/>
            <a:ext cx="1944709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có,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tăng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tính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đa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946105" y="5985943"/>
            <a:ext cx="264943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m,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ngăn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ặ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overfitting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2f4f4f"/>
                </a:solidFill>
                <a:latin typeface="Liberation Sans"/>
                <a:cs typeface="Liberation Sans"/>
              </a:rPr>
              <a:t>hi</a:t>
            </a:r>
            <a:r>
              <a:rPr dirty="0" sz="1200" spc="11">
                <a:solidFill>
                  <a:srgbClr val="2f4f4f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2f4f4f"/>
                </a:solidFill>
                <a:latin typeface="Liberation Sans"/>
                <a:cs typeface="Liberation Sans"/>
              </a:rPr>
              <a:t>qu</a:t>
            </a:r>
            <a:r>
              <a:rPr dirty="0" sz="1200" spc="15">
                <a:solidFill>
                  <a:srgbClr val="2f4f4f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2f4f4f"/>
                </a:solidFill>
                <a:latin typeface="Liberation Sans"/>
                <a:cs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18196" y="547681"/>
            <a:ext cx="6907845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3000" spc="82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3000" spc="182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(Evaluation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Metrics)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656" y="1349900"/>
            <a:ext cx="453622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1.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700" spc="103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700" spc="58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700" spc="44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700" spc="95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349900"/>
            <a:ext cx="502418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5.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Confusion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Matrix: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4" b="1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700" spc="675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700" spc="49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lo</a:t>
            </a:r>
            <a:r>
              <a:rPr dirty="0" sz="1700" spc="49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679888"/>
            <a:ext cx="54862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ỉ</a:t>
            </a:r>
            <a:r>
              <a:rPr dirty="0" sz="1350" spc="36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duy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toàn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9656" y="1937063"/>
            <a:ext cx="347394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hình,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656" y="2407175"/>
            <a:ext cx="362017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2.</a:t>
            </a:r>
            <a:r>
              <a:rPr dirty="0" sz="1700" spc="-6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Accuracy: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700" spc="-3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nghĩa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9656" y="2746688"/>
            <a:ext cx="526837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ỷ</a:t>
            </a:r>
            <a:r>
              <a:rPr dirty="0" sz="1350" spc="62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đúng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trên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.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: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ễ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gây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656" y="3003863"/>
            <a:ext cx="36923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ỗ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9656" y="3473975"/>
            <a:ext cx="477964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3.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Precision,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Recall: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Ý</a:t>
            </a:r>
            <a:r>
              <a:rPr dirty="0" sz="1700" spc="-2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nghĩa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700" spc="96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700" spc="-1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khoa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9656" y="3813488"/>
            <a:ext cx="541443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Precision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(Đ</a:t>
            </a:r>
            <a:r>
              <a:rPr dirty="0" sz="1350" spc="8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xác):</a:t>
            </a:r>
            <a:r>
              <a:rPr dirty="0" sz="1350" spc="-2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ỷ</a:t>
            </a:r>
            <a:r>
              <a:rPr dirty="0" sz="1350" spc="62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đúng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9656" y="4070663"/>
            <a:ext cx="16996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tính.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9656" y="4375463"/>
            <a:ext cx="53212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Recall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(Đ</a:t>
            </a:r>
            <a:r>
              <a:rPr dirty="0" sz="1350" spc="81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350" spc="45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1f2937"/>
                </a:solidFill>
                <a:latin typeface="Liberation Sans"/>
                <a:cs typeface="Liberation Sans"/>
              </a:rPr>
              <a:t>y):</a:t>
            </a:r>
            <a:r>
              <a:rPr dirty="0" sz="1350" spc="-2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ỷ</a:t>
            </a:r>
            <a:r>
              <a:rPr dirty="0" sz="1350" spc="62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đúng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9656" y="4623113"/>
            <a:ext cx="194691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tính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66556" y="4737413"/>
            <a:ext cx="552469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tóm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ắ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toán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9656" y="4927913"/>
            <a:ext cx="52771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5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350" spc="1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y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khoa: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8080"/>
                </a:solidFill>
                <a:latin typeface="Liberation Sans"/>
                <a:cs typeface="Liberation Sans"/>
              </a:rPr>
              <a:t>Precision</a:t>
            </a:r>
            <a:r>
              <a:rPr dirty="0" sz="1350" spc="36" b="1">
                <a:solidFill>
                  <a:srgbClr val="0080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tránh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ẩ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sai,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8080"/>
                </a:solidFill>
                <a:latin typeface="Liberation Sans"/>
                <a:cs typeface="Liberation Sans"/>
              </a:rPr>
              <a:t>Recall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66556" y="4994588"/>
            <a:ext cx="26854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đoán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đúng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sai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ỗ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89656" y="5185088"/>
            <a:ext cx="274305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quan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ỏ</a:t>
            </a:r>
            <a:r>
              <a:rPr dirty="0" sz="1350" spc="34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sót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89656" y="5655200"/>
            <a:ext cx="438910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4.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F1-score: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Precision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Recall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9656" y="5994713"/>
            <a:ext cx="531194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trung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bình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hòa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Precision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Recall.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ích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53918" y="5994713"/>
            <a:ext cx="552194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"Confusion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Matrix,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Precision,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Recall,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F1-score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mang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cái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nhìn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89656" y="6251888"/>
            <a:ext cx="471496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false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positives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false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negatives.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71393" y="6251888"/>
            <a:ext cx="448682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so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 spc="-52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Accuracy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350" i="1">
                <a:solidFill>
                  <a:srgbClr val="374151"/>
                </a:solidFill>
                <a:latin typeface="Liberation Sans"/>
                <a:cs typeface="Liberation Sans"/>
              </a:rPr>
              <a:t>n."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12763" y="177087"/>
            <a:ext cx="8118764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Nghiên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2500" spc="96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Liên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Liberation Sans"/>
                <a:cs typeface="Liberation Sans"/>
              </a:rPr>
              <a:t>Quan: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Liberation Sans"/>
                <a:cs typeface="Liberation Sans"/>
              </a:rPr>
              <a:t>Ph</a:t>
            </a:r>
            <a:r>
              <a:rPr dirty="0" sz="2500" spc="2529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Pháp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-27" b="1">
                <a:solidFill>
                  <a:srgbClr val="ffffff"/>
                </a:solidFill>
                <a:latin typeface="Liberation Sans"/>
                <a:cs typeface="Liberation Sans"/>
              </a:rPr>
              <a:t>Truy</a:t>
            </a:r>
            <a:r>
              <a:rPr dirty="0" sz="2500" spc="91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5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dirty="0" sz="2500" spc="88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7247" y="1349900"/>
            <a:ext cx="324979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33" b="1">
                <a:solidFill>
                  <a:srgbClr val="1f2937"/>
                </a:solidFill>
                <a:latin typeface="Liberation Sans"/>
                <a:cs typeface="Liberation Sans"/>
              </a:rPr>
              <a:t>Trích</a:t>
            </a:r>
            <a:r>
              <a:rPr dirty="0" sz="17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1700" spc="50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700" spc="57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104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công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9976" y="1349900"/>
            <a:ext cx="426825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dirty="0" sz="1700" spc="104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565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Ph</a:t>
            </a:r>
            <a:r>
              <a:rPr dirty="0" sz="1700" spc="155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pháp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41" b="1">
                <a:solidFill>
                  <a:srgbClr val="1f2937"/>
                </a:solidFill>
                <a:latin typeface="Liberation Sans"/>
                <a:cs typeface="Liberation Sans"/>
              </a:rPr>
              <a:t>Truy</a:t>
            </a:r>
            <a:r>
              <a:rPr dirty="0" sz="1700" spc="60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dirty="0" sz="1700" spc="4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5910" y="1788315"/>
            <a:ext cx="3534610" cy="633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HOG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(Histogram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Oriented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Gradients)</a:t>
            </a:r>
          </a:p>
          <a:p>
            <a:pPr marL="0" marR="0">
              <a:lnSpc>
                <a:spcPts val="1689"/>
              </a:lnSpc>
              <a:spcBef>
                <a:spcPts val="131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LBP</a:t>
            </a:r>
            <a:r>
              <a:rPr dirty="0" sz="1500" spc="-23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(Local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Binary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Patterns)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88632" y="1783908"/>
            <a:ext cx="505161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88632" y="2079183"/>
            <a:ext cx="36510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p.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Khó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5910" y="2550315"/>
            <a:ext cx="365910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SIFT</a:t>
            </a:r>
            <a:r>
              <a:rPr dirty="0" sz="1500" spc="-23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(Scale-Invariant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Feature</a:t>
            </a:r>
            <a:r>
              <a:rPr dirty="0" sz="1500" spc="-23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Transform)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976" y="2711975"/>
            <a:ext cx="222540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1f2937"/>
                </a:solidFill>
                <a:latin typeface="Liberation Sans"/>
                <a:cs typeface="Liberation Sans"/>
              </a:rPr>
              <a:t>So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sánh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v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sâu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7247" y="3022158"/>
            <a:ext cx="417000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Yêu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8639" y="3145983"/>
            <a:ext cx="385808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thô.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38639" y="3526983"/>
            <a:ext cx="456800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ng/v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7247" y="3654950"/>
            <a:ext cx="4401494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lo</a:t>
            </a:r>
            <a:r>
              <a:rPr dirty="0" sz="1700" spc="496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1f2937"/>
                </a:solidFill>
                <a:latin typeface="Liberation Sans"/>
                <a:cs typeface="Liberation Sans"/>
              </a:rPr>
              <a:t>Machine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95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1f2937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9976" y="3836190"/>
            <a:ext cx="96310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SVM,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-50">
                <a:solidFill>
                  <a:srgbClr val="000000"/>
                </a:solidFill>
                <a:latin typeface="Liberation Sans"/>
                <a:cs typeface="Liberation Sans"/>
              </a:rPr>
              <a:t>RF.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5910" y="4093365"/>
            <a:ext cx="2894711" cy="1014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Support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 spc="-10">
                <a:solidFill>
                  <a:srgbClr val="000000"/>
                </a:solidFill>
                <a:latin typeface="Liberation Sans"/>
                <a:cs typeface="Liberation Sans"/>
              </a:rPr>
              <a:t>Vector</a:t>
            </a:r>
            <a:r>
              <a:rPr dirty="0" sz="1500" spc="18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Machines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(SVM)</a:t>
            </a:r>
          </a:p>
          <a:p>
            <a:pPr marL="0" marR="0">
              <a:lnSpc>
                <a:spcPts val="1689"/>
              </a:lnSpc>
              <a:spcBef>
                <a:spcPts val="131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K-Nearest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Neighbors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(KNN)</a:t>
            </a:r>
          </a:p>
          <a:p>
            <a:pPr marL="0" marR="0">
              <a:lnSpc>
                <a:spcPts val="1689"/>
              </a:lnSpc>
              <a:spcBef>
                <a:spcPts val="131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Logistic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Regression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38639" y="4212783"/>
            <a:ext cx="402410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Phù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000000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p,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kh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000000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000000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000000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7247" y="5317683"/>
            <a:ext cx="390306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ẵ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6566" y="166681"/>
            <a:ext cx="7751237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2" b="1">
                <a:solidFill>
                  <a:srgbClr val="ffffff"/>
                </a:solidFill>
                <a:latin typeface="Liberation Sans"/>
                <a:cs typeface="Liberation Sans"/>
              </a:rPr>
              <a:t>Nghiên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3000" spc="105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ffffff"/>
                </a:solidFill>
                <a:latin typeface="Liberation Sans"/>
                <a:cs typeface="Liberation Sans"/>
              </a:rPr>
              <a:t>Liên</a:t>
            </a:r>
            <a:r>
              <a:rPr dirty="0" sz="3000" spc="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ffffff"/>
                </a:solidFill>
                <a:latin typeface="Liberation Sans"/>
                <a:cs typeface="Liberation Sans"/>
              </a:rPr>
              <a:t>Quan: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dirty="0" sz="3000" spc="98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Sâu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dirty="0" sz="3000" spc="103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3000" spc="105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9" y="1120771"/>
            <a:ext cx="334877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End-to-end:</a:t>
            </a:r>
            <a:r>
              <a:rPr dirty="0" sz="2000" spc="172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đi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7926" y="1120771"/>
            <a:ext cx="370495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Backbone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ph</a:t>
            </a:r>
            <a:r>
              <a:rPr dirty="0" sz="2000" spc="127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8583" y="1612458"/>
            <a:ext cx="5221206" cy="1023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thô.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feature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engineering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công.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6590" y="1612458"/>
            <a:ext cx="34878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VGG:</a:t>
            </a:r>
            <a:r>
              <a:rPr dirty="0" sz="1500" spc="40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sâu,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6590" y="1993458"/>
            <a:ext cx="41234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ResNet:</a:t>
            </a:r>
            <a:r>
              <a:rPr dirty="0" sz="1500" spc="43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vanishing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gradient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skip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17926" y="2293140"/>
            <a:ext cx="123056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connections.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76590" y="2679258"/>
            <a:ext cx="503903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MobileNet:</a:t>
            </a:r>
            <a:r>
              <a:rPr dirty="0" sz="1500" spc="43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17926" y="2974533"/>
            <a:ext cx="52669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9919" y="3168646"/>
            <a:ext cx="48713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Transfer</a:t>
            </a:r>
            <a:r>
              <a:rPr dirty="0" sz="2000" spc="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Learning: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Khái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2000" spc="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ích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76590" y="3355533"/>
            <a:ext cx="498713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EfficientNet:</a:t>
            </a:r>
            <a:r>
              <a:rPr dirty="0" sz="1500" spc="44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8583" y="3660333"/>
            <a:ext cx="4937493" cy="1023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Tái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spc="-23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đáng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nguyên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toán.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17926" y="3660333"/>
            <a:ext cx="5795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17926" y="4454521"/>
            <a:ext cx="394487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2000" spc="5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2000" spc="200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ti</a:t>
            </a:r>
            <a:r>
              <a:rPr dirty="0" sz="2000" spc="7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2000" spc="128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tài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17926" y="4936683"/>
            <a:ext cx="524269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0" i="1">
                <a:solidFill>
                  <a:srgbClr val="374151"/>
                </a:solidFill>
                <a:latin typeface="Liberation Sans"/>
                <a:cs typeface="Liberation Sans"/>
              </a:rPr>
              <a:t>Transfer</a:t>
            </a:r>
            <a:r>
              <a:rPr dirty="0" sz="1500" spc="18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Backbone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17926" y="5231958"/>
            <a:ext cx="534981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374151"/>
                </a:solidFill>
                <a:latin typeface="Liberation Sans"/>
                <a:cs typeface="Liberation Sans"/>
              </a:rPr>
              <a:t>nguyên.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24361" y="547681"/>
            <a:ext cx="589558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3000" spc="9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3000" spc="103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3000" spc="182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3000" spc="189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3000" spc="103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3000" spc="189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3000" spc="105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1587496"/>
            <a:ext cx="200312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Ngu</a:t>
            </a:r>
            <a:r>
              <a:rPr dirty="0" sz="2000" spc="7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2000" spc="12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689" y="1587496"/>
            <a:ext cx="230209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73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-21" b="1">
                <a:solidFill>
                  <a:srgbClr val="2f4f4f"/>
                </a:solidFill>
                <a:latin typeface="Liberation Sans"/>
                <a:cs typeface="Liberation Sans"/>
              </a:rPr>
              <a:t>Trúc</a:t>
            </a:r>
            <a:r>
              <a:rPr dirty="0" sz="2000" spc="3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2000" spc="12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083590"/>
            <a:ext cx="372725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Kaggle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Chest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X-Ray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Images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(Pneumonia)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35960" y="2083590"/>
            <a:ext cx="58989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Train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5960" y="2464590"/>
            <a:ext cx="995786" cy="633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Validation</a:t>
            </a:r>
          </a:p>
          <a:p>
            <a:pPr marL="0" marR="0">
              <a:lnSpc>
                <a:spcPts val="1689"/>
              </a:lnSpc>
              <a:spcBef>
                <a:spcPts val="1310"/>
              </a:spcBef>
              <a:spcAft>
                <a:spcPts val="0"/>
              </a:spcAft>
            </a:pPr>
            <a:r>
              <a:rPr dirty="0" sz="1500" spc="-37">
                <a:solidFill>
                  <a:srgbClr val="696969"/>
                </a:solidFill>
                <a:latin typeface="Liberation Sans"/>
                <a:cs typeface="Liberation Sans"/>
              </a:rPr>
              <a:t>Test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8247" y="2636040"/>
            <a:ext cx="189285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spc="49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s</a:t>
            </a:r>
            <a:r>
              <a:rPr dirty="0" sz="1500" spc="18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nh: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5,863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3340096"/>
            <a:ext cx="1997935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128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689" y="3463921"/>
            <a:ext cx="23217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128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Ch</a:t>
            </a:r>
            <a:r>
              <a:rPr dirty="0" sz="2000" spc="7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2000" spc="127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0254" y="3826665"/>
            <a:ext cx="77122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Normal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22689" y="3955608"/>
            <a:ext cx="510890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thành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con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ừ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0254" y="4217190"/>
            <a:ext cx="112386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Pneumonia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689" y="4250883"/>
            <a:ext cx="511556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(Pneumonia/Normal),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phù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500" spc="-23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TensorFlow/Keras.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49984" y="129462"/>
            <a:ext cx="5444397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0f8ff"/>
                </a:solidFill>
                <a:latin typeface="Liberation Sans"/>
                <a:cs typeface="Liberation Sans"/>
              </a:rPr>
              <a:t>Th</a:t>
            </a:r>
            <a:r>
              <a:rPr dirty="0" sz="2500" spc="88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0f8ff"/>
                </a:solidFill>
                <a:latin typeface="Liberation Sans"/>
                <a:cs typeface="Liberation Sans"/>
              </a:rPr>
              <a:t>ng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spc="12" b="1">
                <a:solidFill>
                  <a:srgbClr val="f0f8ff"/>
                </a:solidFill>
                <a:latin typeface="Liberation Sans"/>
                <a:cs typeface="Liberation Sans"/>
              </a:rPr>
              <a:t>Kê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D</a:t>
            </a:r>
            <a:r>
              <a:rPr dirty="0" sz="2500" spc="1668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0f8ff"/>
                </a:solidFill>
                <a:latin typeface="Liberation Sans"/>
                <a:cs typeface="Liberation Sans"/>
              </a:rPr>
              <a:t>Li</a:t>
            </a:r>
            <a:r>
              <a:rPr dirty="0" sz="2500" spc="873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u</a:t>
            </a:r>
            <a:r>
              <a:rPr dirty="0" sz="2500" spc="15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0f8ff"/>
                </a:solidFill>
                <a:latin typeface="Liberation Sans"/>
                <a:cs typeface="Liberation Sans"/>
              </a:rPr>
              <a:t>và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f0f8ff"/>
                </a:solidFill>
                <a:latin typeface="Liberation Sans"/>
                <a:cs typeface="Liberation Sans"/>
              </a:rPr>
              <a:t>Phân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B</a:t>
            </a:r>
            <a:r>
              <a:rPr dirty="0" sz="2500" spc="1593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L</a:t>
            </a:r>
            <a:r>
              <a:rPr dirty="0" sz="2500" spc="892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f0f8f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541" y="1092725"/>
            <a:ext cx="470584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700" spc="9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700" spc="154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 spc="96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trong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28" b="1">
                <a:solidFill>
                  <a:srgbClr val="2f4f4f"/>
                </a:solidFill>
                <a:latin typeface="Liberation Sans"/>
                <a:cs typeface="Liberation Sans"/>
              </a:rPr>
              <a:t>Train,</a:t>
            </a:r>
            <a:r>
              <a:rPr dirty="0" sz="1700" spc="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Validation,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40" b="1">
                <a:solidFill>
                  <a:srgbClr val="2f4f4f"/>
                </a:solidFill>
                <a:latin typeface="Liberation Sans"/>
                <a:cs typeface="Liberation Sans"/>
              </a:rPr>
              <a:t>Test</a:t>
            </a:r>
            <a:r>
              <a:rPr dirty="0" sz="1700" spc="2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94548" y="1092725"/>
            <a:ext cx="460340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Phân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700" spc="19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gi</a:t>
            </a:r>
            <a:r>
              <a:rPr dirty="0" sz="1700" spc="58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700" spc="49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Normal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Pneumonia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37423" y="4331225"/>
            <a:ext cx="498236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1700" spc="153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700" spc="56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1700" spc="50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1700" spc="57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và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đánh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6541" y="4474100"/>
            <a:ext cx="3148792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2f4f4f"/>
                </a:solidFill>
                <a:latin typeface="Liberation Sans"/>
                <a:cs typeface="Liberation Sans"/>
              </a:rPr>
              <a:t>Ki</a:t>
            </a:r>
            <a:r>
              <a:rPr dirty="0" sz="1700" spc="58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700" spc="-2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tra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1700" spc="103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700" spc="48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cân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700" spc="4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700" spc="49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22255" y="4746938"/>
            <a:ext cx="388202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kém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4533" y="4907720"/>
            <a:ext cx="1489196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Class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Imbalance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22255" y="5089838"/>
            <a:ext cx="452477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đánh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(accuracy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cao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198" y="5280338"/>
            <a:ext cx="5107312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chênh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đáng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ẫ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thiên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tiên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ỏ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94548" y="5347013"/>
            <a:ext cx="17833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recall/precision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22255" y="5689913"/>
            <a:ext cx="434587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áp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ỹ</a:t>
            </a:r>
            <a:r>
              <a:rPr dirty="0" sz="1350" spc="62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cân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(oversampling,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94548" y="5947088"/>
            <a:ext cx="232490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undersampling)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55826" y="393692"/>
            <a:ext cx="4832598" cy="610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83" b="1">
                <a:solidFill>
                  <a:srgbClr val="2f4f4f"/>
                </a:solidFill>
                <a:latin typeface="Liberation Sans"/>
                <a:cs typeface="Liberation Sans"/>
              </a:rPr>
              <a:t>Ti</a:t>
            </a:r>
            <a:r>
              <a:rPr dirty="0" sz="4050" spc="14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4050" spc="-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f4f4f"/>
                </a:solidFill>
                <a:latin typeface="Liberation Sans"/>
                <a:cs typeface="Liberation Sans"/>
              </a:rPr>
              <a:t>X</a:t>
            </a:r>
            <a:r>
              <a:rPr dirty="0" sz="4050" spc="25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2f4f4f"/>
                </a:solidFill>
                <a:latin typeface="Liberation Sans"/>
                <a:cs typeface="Liberation Sans"/>
              </a:rPr>
              <a:t>Lý</a:t>
            </a:r>
            <a:r>
              <a:rPr dirty="0" sz="40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4050" spc="253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4050" spc="135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1666" y="1607075"/>
            <a:ext cx="2381865" cy="5717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2f4f4f"/>
                </a:solidFill>
                <a:latin typeface="Liberation Sans"/>
                <a:cs typeface="Liberation Sans"/>
              </a:rPr>
              <a:t>Chu</a:t>
            </a:r>
            <a:r>
              <a:rPr dirty="0" sz="1700" spc="50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kích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1700" spc="154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</a:p>
          <a:p>
            <a:pPr marL="123825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56435" y="1607075"/>
            <a:ext cx="244257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2f4f4f"/>
                </a:solidFill>
                <a:latin typeface="Liberation Sans"/>
                <a:cs typeface="Liberation Sans"/>
              </a:rPr>
              <a:t>Chu</a:t>
            </a:r>
            <a:r>
              <a:rPr dirty="0" sz="1700" spc="50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hóa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giá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1700" spc="44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pixel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1352" y="1607075"/>
            <a:ext cx="234101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X</a:t>
            </a:r>
            <a:r>
              <a:rPr dirty="0" sz="1700" spc="103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lý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kênh</a:t>
            </a:r>
            <a:r>
              <a:rPr dirty="0" sz="1700" spc="96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(RGB)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47442" y="2118038"/>
            <a:ext cx="31984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pixel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12360" y="2118038"/>
            <a:ext cx="29120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kênh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màu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ỏ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Xanh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lá,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2674" y="2327588"/>
            <a:ext cx="28476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ồ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cùng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47442" y="2365688"/>
            <a:ext cx="5416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12360" y="2365688"/>
            <a:ext cx="119645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Xanh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674" y="2584763"/>
            <a:ext cx="6401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07371" y="3722420"/>
            <a:ext cx="1529497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Liberation Sans"/>
                <a:cs typeface="Liberation Sans"/>
              </a:rPr>
              <a:t>VD: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Liberation Sans"/>
                <a:cs typeface="Liberation Sans"/>
              </a:rPr>
              <a:t>[0,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Liberation Sans"/>
                <a:cs typeface="Liberation Sans"/>
              </a:rPr>
              <a:t>1]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Liberation Sans"/>
                <a:cs typeface="Liberation Sans"/>
              </a:rPr>
              <a:t>(chia</a:t>
            </a:r>
            <a:r>
              <a:rPr dirty="0" sz="1200" spc="-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Liberation Sans"/>
                <a:cs typeface="Liberation Sans"/>
              </a:rPr>
              <a:t>255)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72375" y="3722420"/>
            <a:ext cx="2528940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Liberation Sans"/>
                <a:cs typeface="Liberation Sans"/>
              </a:rPr>
              <a:t>VD: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Liberation Sans"/>
                <a:cs typeface="Liberation Sans"/>
              </a:rPr>
              <a:t>Chuy</a:t>
            </a:r>
            <a:r>
              <a:rPr dirty="0" sz="1200" spc="419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200" spc="-2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8" b="1">
                <a:solidFill>
                  <a:srgbClr val="ffffff"/>
                </a:solidFill>
                <a:latin typeface="Liberation Sans"/>
                <a:cs typeface="Liberation Sans"/>
              </a:rPr>
              <a:t>RGB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Liberation Sans"/>
                <a:cs typeface="Liberation Sans"/>
              </a:rPr>
              <a:t>sang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2" b="1">
                <a:solidFill>
                  <a:srgbClr val="ffffff"/>
                </a:solidFill>
                <a:latin typeface="Liberation Sans"/>
                <a:cs typeface="Liberation Sans"/>
              </a:rPr>
              <a:t>Grayscale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58825" y="3970070"/>
            <a:ext cx="1496790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Liberation Sans"/>
                <a:cs typeface="Liberation Sans"/>
              </a:rPr>
              <a:t>VD: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4" b="1">
                <a:solidFill>
                  <a:srgbClr val="ffffff"/>
                </a:solidFill>
                <a:latin typeface="Liberation Sans"/>
                <a:cs typeface="Liberation Sans"/>
              </a:rPr>
              <a:t>180x180</a:t>
            </a:r>
            <a:r>
              <a:rPr dirty="0" sz="12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Liberation Sans"/>
                <a:cs typeface="Liberation Sans"/>
              </a:rPr>
              <a:t>pixels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547442" y="4108763"/>
            <a:ext cx="304661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Giúp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12360" y="4108763"/>
            <a:ext cx="319873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theo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yêu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2674" y="4365938"/>
            <a:ext cx="314096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input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ồ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47442" y="4365938"/>
            <a:ext cx="11210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ứ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12360" y="4369855"/>
            <a:ext cx="532030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130623" y="5355783"/>
            <a:ext cx="4025035" cy="937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vào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quán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ch.</a:t>
            </a:r>
          </a:p>
          <a:p>
            <a:pPr marL="0" marR="0">
              <a:lnSpc>
                <a:spcPts val="1760"/>
              </a:lnSpc>
              <a:spcBef>
                <a:spcPts val="8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gian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30299" y="5654671"/>
            <a:ext cx="98281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ích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72009" y="166681"/>
            <a:ext cx="7800172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Tăng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3000" spc="28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3000" spc="189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3000" spc="103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(Data</a:t>
            </a:r>
            <a:r>
              <a:rPr dirty="0" sz="3000" spc="-103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Augmentation)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347" y="1120771"/>
            <a:ext cx="2020999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M</a:t>
            </a:r>
            <a:r>
              <a:rPr dirty="0" sz="2000" spc="73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đích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347" y="1564833"/>
            <a:ext cx="5203595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ằ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cách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có.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đích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tăng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tính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đa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d</a:t>
            </a:r>
            <a:r>
              <a:rPr dirty="0" sz="1500" spc="49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ngăn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ch</a:t>
            </a:r>
            <a:r>
              <a:rPr dirty="0" sz="1500" spc="48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overfitting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  <a:r>
              <a:rPr dirty="0" sz="1500" spc="486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ng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quát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hóa</a:t>
            </a:r>
            <a:r>
              <a:rPr dirty="0" sz="15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5347" y="2873371"/>
            <a:ext cx="3544711" cy="705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b8860b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phép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b8860b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đ</a:t>
            </a:r>
            <a:r>
              <a:rPr dirty="0" sz="2000" spc="728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i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b8860b"/>
                </a:solidFill>
                <a:latin typeface="Liberation Sans"/>
                <a:cs typeface="Liberation Sans"/>
              </a:rPr>
              <a:t>ph</a:t>
            </a:r>
            <a:r>
              <a:rPr dirty="0" sz="2000" spc="1278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b8860b"/>
                </a:solidFill>
                <a:latin typeface="Liberation Sans"/>
                <a:cs typeface="Liberation Sans"/>
              </a:rPr>
              <a:t>bi</a:t>
            </a:r>
            <a:r>
              <a:rPr dirty="0" sz="2000" spc="713" b="1">
                <a:solidFill>
                  <a:srgbClr val="b8860b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b8860b"/>
                </a:solidFill>
                <a:latin typeface="Liberation Sans"/>
                <a:cs typeface="Liberation Sans"/>
              </a:rPr>
              <a:t>n</a:t>
            </a:r>
          </a:p>
          <a:p>
            <a:pPr marL="258663" marR="0">
              <a:lnSpc>
                <a:spcPts val="1760"/>
              </a:lnSpc>
              <a:spcBef>
                <a:spcPts val="1244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(Flip)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4010" y="3702840"/>
            <a:ext cx="148629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Xoay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(Rotation)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4010" y="4093365"/>
            <a:ext cx="1796303" cy="10192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phóng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(Zoom)</a:t>
            </a:r>
          </a:p>
          <a:p>
            <a:pPr marL="0" marR="0">
              <a:lnSpc>
                <a:spcPts val="1760"/>
              </a:lnSpc>
              <a:spcBef>
                <a:spcPts val="1226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chuy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(Shift)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(Crop)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4010" y="5231958"/>
            <a:ext cx="168275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Thay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màu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85631" y="5302246"/>
            <a:ext cx="233010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450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d</a:t>
            </a:r>
            <a:r>
              <a:rPr dirty="0" sz="2000" spc="728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4500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th</a:t>
            </a:r>
            <a:r>
              <a:rPr dirty="0" sz="2000" spc="723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ti</a:t>
            </a:r>
            <a:r>
              <a:rPr dirty="0" sz="2000" spc="717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450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66556" y="5746308"/>
            <a:ext cx="542955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y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ví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X-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66556" y="6041583"/>
            <a:ext cx="489324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quang</a:t>
            </a: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ph</a:t>
            </a:r>
            <a:r>
              <a:rPr dirty="0" sz="1500" spc="482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ff4500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500" spc="-23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374151"/>
                </a:solidFill>
                <a:latin typeface="Liberation Sans"/>
                <a:cs typeface="Liberation Sans"/>
              </a:rPr>
              <a:t>đoán.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079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5990" y="154490"/>
            <a:ext cx="839217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0f8ff"/>
                </a:solidFill>
                <a:latin typeface="Liberation Sans"/>
                <a:cs typeface="Liberation Sans"/>
              </a:rPr>
              <a:t>Ph</a:t>
            </a:r>
            <a:r>
              <a:rPr dirty="0" sz="3000" spc="2839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0f8ff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0f8ff"/>
                </a:solidFill>
                <a:latin typeface="Liberation Sans"/>
                <a:cs typeface="Liberation Sans"/>
              </a:rPr>
              <a:t>Pháp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Đ</a:t>
            </a:r>
            <a:r>
              <a:rPr dirty="0" sz="3000" spc="1897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f0f8ff"/>
                </a:solidFill>
                <a:latin typeface="Liberation Sans"/>
                <a:cs typeface="Liberation Sans"/>
              </a:rPr>
              <a:t>Xu</a:t>
            </a:r>
            <a:r>
              <a:rPr dirty="0" sz="3000" spc="1039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t: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Ý</a:t>
            </a:r>
            <a:r>
              <a:rPr dirty="0" sz="3000" spc="21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T</a:t>
            </a:r>
            <a:r>
              <a:rPr dirty="0" sz="3000" spc="2855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0f8ff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f0f8ff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f0f8ff"/>
                </a:solidFill>
                <a:latin typeface="Liberation Sans"/>
                <a:cs typeface="Liberation Sans"/>
              </a:rPr>
              <a:t>Ki</a:t>
            </a:r>
            <a:r>
              <a:rPr dirty="0" sz="3000" spc="1031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0f8f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3000" spc="-31" b="1">
                <a:solidFill>
                  <a:srgbClr val="f0f8ff"/>
                </a:solidFill>
                <a:latin typeface="Liberation Sans"/>
                <a:cs typeface="Liberation Sans"/>
              </a:rPr>
              <a:t>Trúc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447" y="1365754"/>
            <a:ext cx="314068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Ý</a:t>
            </a:r>
            <a:r>
              <a:rPr dirty="0" sz="2000" spc="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72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quát: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35130" y="1365754"/>
            <a:ext cx="323571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Giai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Đo</a:t>
            </a:r>
            <a:r>
              <a:rPr dirty="0" sz="2000" spc="71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-31" b="1">
                <a:solidFill>
                  <a:srgbClr val="2f4f4f"/>
                </a:solidFill>
                <a:latin typeface="Liberation Sans"/>
                <a:cs typeface="Liberation Sans"/>
              </a:rPr>
              <a:t>Tri</a:t>
            </a:r>
            <a:r>
              <a:rPr dirty="0" sz="2000" spc="7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Khai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354" y="1895542"/>
            <a:ext cx="407155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CNN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kinh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nhân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1895542"/>
            <a:ext cx="449659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1: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500" spc="7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u: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chuy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8354" y="2190817"/>
            <a:ext cx="4045284" cy="8571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đóng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vai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trò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"con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ắ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t"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máy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tính,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phép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</a:p>
          <a:p>
            <a:pPr marL="0" marR="0">
              <a:lnSpc>
                <a:spcPts val="1689"/>
              </a:lnSpc>
              <a:spcBef>
                <a:spcPts val="54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chính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cao.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22540" y="2190817"/>
            <a:ext cx="4567777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sang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xám,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22540" y="2790892"/>
            <a:ext cx="4449809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2: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CNN: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đào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o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tích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22540" y="3686242"/>
            <a:ext cx="4369106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Giai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đo</a:t>
            </a:r>
            <a:r>
              <a:rPr dirty="0" sz="1500" spc="48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3:</a:t>
            </a: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Suy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n: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khai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447" y="5128129"/>
            <a:ext cx="352163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Ki</a:t>
            </a:r>
            <a:r>
              <a:rPr dirty="0" sz="2000" spc="71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trúc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H</a:t>
            </a:r>
            <a:r>
              <a:rPr dirty="0" sz="2000" spc="12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2000" spc="72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2000" spc="12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xu</a:t>
            </a:r>
            <a:r>
              <a:rPr dirty="0" sz="2000" spc="71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849295" y="5128129"/>
            <a:ext cx="182163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Đi</a:t>
            </a:r>
            <a:r>
              <a:rPr dirty="0" sz="2000" spc="71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2000" spc="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82104" y="5734117"/>
            <a:ext cx="4742030" cy="11569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Ki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trúc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trung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trích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ằ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cách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quan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y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ừ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cùng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25557" y="5781742"/>
            <a:ext cx="231735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cao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963345" y="6458017"/>
            <a:ext cx="358336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Kh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dirty="0" sz="1500">
                <a:solidFill>
                  <a:srgbClr val="1f2937"/>
                </a:solidFill>
                <a:latin typeface="DejaVu Sans"/>
                <a:cs typeface="DejaVu Sans"/>
              </a:rPr>
              <a:t>ẽ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75065" y="7143817"/>
            <a:ext cx="386790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v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71525" y="7687496"/>
            <a:ext cx="25519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1f2937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1f2937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VGG-19,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1f2937"/>
                </a:solidFill>
                <a:latin typeface="Liberation Sans"/>
                <a:cs typeface="Liberation Sans"/>
              </a:rPr>
              <a:t>MobileNetV2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792741" y="7739039"/>
            <a:ext cx="175033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1350" spc="81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chính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xác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&gt;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Liberation Sans"/>
                <a:cs typeface="Liberation Sans"/>
              </a:rPr>
              <a:t>99%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4170" y="376231"/>
            <a:ext cx="847603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0" b="1">
                <a:solidFill>
                  <a:srgbClr val="2f4f4f"/>
                </a:solidFill>
                <a:latin typeface="Liberation Sans"/>
                <a:cs typeface="Liberation Sans"/>
              </a:rPr>
              <a:t>Pipeline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3000" spc="103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3000" spc="103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3000" spc="1057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TensorFlow/Keras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9656" y="1240229"/>
            <a:ext cx="961160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Mô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dirty="0" sz="17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lifecycle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dirty="0" sz="1700" spc="-27">
                <a:solidFill>
                  <a:srgbClr val="000000"/>
                </a:solidFill>
                <a:latin typeface="DejaVu Sans"/>
                <a:cs typeface="DejaVu Sans"/>
              </a:rPr>
              <a:t>ủ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dirty="0" sz="1700" spc="-64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mô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hình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deep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learning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trong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Keras: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ừ</a:t>
            </a:r>
            <a:r>
              <a:rPr dirty="0" sz="17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chu</a:t>
            </a:r>
            <a:r>
              <a:rPr dirty="0" sz="1700" spc="-67">
                <a:solidFill>
                  <a:srgbClr val="000000"/>
                </a:solidFill>
                <a:latin typeface="DejaVu Sans"/>
                <a:cs typeface="DejaVu Sans"/>
              </a:rPr>
              <a:t>ẩ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dirty="0" sz="1700" spc="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ữ</a:t>
            </a:r>
            <a:r>
              <a:rPr dirty="0" sz="17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li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dirty="0" sz="1700" spc="-27">
                <a:solidFill>
                  <a:srgbClr val="000000"/>
                </a:solidFill>
                <a:latin typeface="DejaVu Sans"/>
                <a:cs typeface="DejaVu Sans"/>
              </a:rPr>
              <a:t>ư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dirty="0" sz="1700" spc="-17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000000"/>
                </a:solidFill>
                <a:latin typeface="Liberation Sans"/>
                <a:cs typeface="Liberation Sans"/>
              </a:rPr>
              <a:t>ra</a:t>
            </a:r>
            <a:r>
              <a:rPr dirty="0" sz="1700" spc="-1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dirty="0" sz="1700">
                <a:solidFill>
                  <a:srgbClr val="000000"/>
                </a:solidFill>
                <a:latin typeface="DejaVu Sans"/>
                <a:cs typeface="DejaVu Sans"/>
              </a:rPr>
              <a:t>ự</a:t>
            </a:r>
            <a:r>
              <a:rPr dirty="0" sz="17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000000"/>
                </a:solidFill>
                <a:latin typeface="Liberation Sans"/>
                <a:cs typeface="Liberation Sans"/>
              </a:rPr>
              <a:t>đoán.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272" y="3198015"/>
            <a:ext cx="25919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6061" y="3283740"/>
            <a:ext cx="25919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13496" y="3303055"/>
            <a:ext cx="1460688" cy="476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Xây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350" spc="446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Model</a:t>
            </a:r>
          </a:p>
          <a:p>
            <a:pPr marL="14436" marR="0">
              <a:lnSpc>
                <a:spcPts val="1501"/>
              </a:lnSpc>
              <a:spcBef>
                <a:spcPts val="498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Sequential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89489" y="3322105"/>
            <a:ext cx="162119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Quá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trình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spc="-14" b="1">
                <a:solidFill>
                  <a:srgbClr val="2f4f4f"/>
                </a:solidFill>
                <a:latin typeface="Liberation Sans"/>
                <a:cs typeface="Liberation Sans"/>
              </a:rPr>
              <a:t>Training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498483" y="3312315"/>
            <a:ext cx="25919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94239" y="3604693"/>
            <a:ext cx="181163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61530" y="3842818"/>
            <a:ext cx="1964443" cy="6370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5816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200" spc="3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trúc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-ron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tích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Liberation Sans"/>
                <a:cs typeface="Liberation Sans"/>
              </a:rPr>
              <a:t>(CNN)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  <a:p>
            <a:pPr marL="179933" marR="0">
              <a:lnSpc>
                <a:spcPts val="1313"/>
              </a:lnSpc>
              <a:spcBef>
                <a:spcPts val="383"/>
              </a:spcBef>
              <a:spcAft>
                <a:spcPts val="0"/>
              </a:spcAft>
            </a:pP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Keras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Sequential</a:t>
            </a:r>
            <a:r>
              <a:rPr dirty="0" sz="1200" spc="-6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API.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25046" y="3827195"/>
            <a:ext cx="193894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566520" y="3823768"/>
            <a:ext cx="170850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đã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chu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200" spc="-33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08860" y="3893605"/>
            <a:ext cx="152626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Compile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6613" y="3979330"/>
            <a:ext cx="1898132" cy="485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Chu</a:t>
            </a:r>
            <a:r>
              <a:rPr dirty="0" sz="1350" spc="4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b</a:t>
            </a:r>
            <a:r>
              <a:rPr dirty="0" sz="1350" spc="36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D</a:t>
            </a:r>
            <a:r>
              <a:rPr dirty="0" sz="1350" spc="818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li</a:t>
            </a:r>
            <a:r>
              <a:rPr dirty="0" sz="1350" spc="4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Đ</a:t>
            </a:r>
            <a:r>
              <a:rPr dirty="0" sz="1350" spc="44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u</a:t>
            </a:r>
          </a:p>
          <a:p>
            <a:pPr marL="725983" marR="0">
              <a:lnSpc>
                <a:spcPts val="1501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vào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712969" y="3998380"/>
            <a:ext cx="183031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Evaluate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2f4f4f"/>
                </a:solidFill>
                <a:latin typeface="Liberation Sans"/>
                <a:cs typeface="Liberation Sans"/>
              </a:rPr>
              <a:t>Inference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40214" y="4036745"/>
            <a:ext cx="841280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theo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dõi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129079" y="4033318"/>
            <a:ext cx="123086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qua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15842" y="4185718"/>
            <a:ext cx="1712123" cy="6274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thông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:</a:t>
            </a:r>
          </a:p>
          <a:p>
            <a:pPr marL="8483" marR="0">
              <a:lnSpc>
                <a:spcPts val="1313"/>
              </a:lnSpc>
              <a:spcBef>
                <a:spcPts val="308"/>
              </a:spcBef>
              <a:spcAft>
                <a:spcPts val="0"/>
              </a:spcAft>
            </a:pP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Optimizer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(Adam),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hàm</a:t>
            </a:r>
          </a:p>
          <a:p>
            <a:pPr marL="622250" marR="0">
              <a:lnSpc>
                <a:spcPts val="1313"/>
              </a:lnSpc>
              <a:spcBef>
                <a:spcPts val="336"/>
              </a:spcBef>
              <a:spcAft>
                <a:spcPts val="0"/>
              </a:spcAft>
            </a:pP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Loss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99672" y="4246295"/>
            <a:ext cx="600820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epoch.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03444" y="4290493"/>
            <a:ext cx="1848627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374151"/>
                </a:solidFill>
                <a:latin typeface="Liberation Sans"/>
                <a:cs typeface="Liberation Sans"/>
              </a:rPr>
              <a:t>Đánh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giá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49659" y="4519093"/>
            <a:ext cx="1731999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x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lý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  <a:p>
            <a:pPr marL="339923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635429" y="4500043"/>
            <a:ext cx="1985371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200" spc="-27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tra</a:t>
            </a:r>
            <a:r>
              <a:rPr dirty="0" sz="1200" spc="-12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nó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68469" y="4719118"/>
            <a:ext cx="1918774" cy="4179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dirty="0" sz="1200" spc="37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dirty="0" sz="1200" spc="15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</a:p>
          <a:p>
            <a:pPr marL="593228" marR="0">
              <a:lnSpc>
                <a:spcPts val="1313"/>
              </a:lnSpc>
              <a:spcBef>
                <a:spcPts val="308"/>
              </a:spcBef>
              <a:spcAft>
                <a:spcPts val="0"/>
              </a:spcAft>
            </a:pP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178474" y="4827320"/>
            <a:ext cx="2368686" cy="414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(SparseCategoricalCrossentropy)</a:t>
            </a:r>
          </a:p>
          <a:p>
            <a:pPr marL="179040" marR="0">
              <a:lnSpc>
                <a:spcPts val="1313"/>
              </a:lnSpc>
              <a:spcBef>
                <a:spcPts val="386"/>
              </a:spcBef>
              <a:spcAft>
                <a:spcPts val="0"/>
              </a:spcAft>
            </a:pP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Liberation Sans"/>
                <a:cs typeface="Liberation Sans"/>
              </a:rPr>
              <a:t>Metrics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(Accuracy).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270378" y="4883940"/>
            <a:ext cx="25919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4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0328026" y="4928668"/>
            <a:ext cx="6663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11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22262" y="4951145"/>
            <a:ext cx="2310638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374151"/>
                </a:solidFill>
                <a:latin typeface="Liberation Sans"/>
                <a:cs typeface="Liberation Sans"/>
              </a:rPr>
              <a:t>`image_dataset_from_directory`.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814166" y="4912515"/>
            <a:ext cx="259194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696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96691" y="376231"/>
            <a:ext cx="5750934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Mô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2f4f4f"/>
                </a:solidFill>
                <a:latin typeface="Liberation Sans"/>
                <a:cs typeface="Liberation Sans"/>
              </a:rPr>
              <a:t>Hình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3000" spc="182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S</a:t>
            </a:r>
            <a:r>
              <a:rPr dirty="0" sz="3000" spc="182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2f4f4f"/>
                </a:solidFill>
                <a:latin typeface="Liberation Sans"/>
                <a:cs typeface="Liberation Sans"/>
              </a:rPr>
              <a:t>(Baseline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Liberation Sans"/>
                <a:cs typeface="Liberation Sans"/>
              </a:rPr>
              <a:t>CNN)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082671"/>
            <a:ext cx="298873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Ki</a:t>
            </a:r>
            <a:r>
              <a:rPr dirty="0" sz="2000" spc="711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-21" b="1">
                <a:solidFill>
                  <a:srgbClr val="008080"/>
                </a:solidFill>
                <a:latin typeface="Liberation Sans"/>
                <a:cs typeface="Liberation Sans"/>
              </a:rPr>
              <a:t>Trúc</a:t>
            </a:r>
            <a:r>
              <a:rPr dirty="0" sz="2000" spc="3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CNN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Chi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-27" b="1">
                <a:solidFill>
                  <a:srgbClr val="008080"/>
                </a:solidFill>
                <a:latin typeface="Liberation Sans"/>
                <a:cs typeface="Liberation Sans"/>
              </a:rPr>
              <a:t>Ti</a:t>
            </a:r>
            <a:r>
              <a:rPr dirty="0" sz="2000" spc="751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1058" y="1082671"/>
            <a:ext cx="2131501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Nh</a:t>
            </a:r>
            <a:r>
              <a:rPr dirty="0" sz="2000" spc="199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đi</a:t>
            </a:r>
            <a:r>
              <a:rPr dirty="0" sz="2000" spc="713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32958" y="1597550"/>
            <a:ext cx="92548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008080"/>
                </a:solidFill>
                <a:latin typeface="Liberation Sans"/>
                <a:cs typeface="Liberation Sans"/>
              </a:rPr>
              <a:t>u</a:t>
            </a:r>
            <a:r>
              <a:rPr dirty="0" sz="1700" spc="-1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08080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1700" spc="-18" b="1">
                <a:solidFill>
                  <a:srgbClr val="008080"/>
                </a:solidFill>
                <a:latin typeface="Liberation Sans"/>
                <a:cs typeface="Liberation Sans"/>
              </a:rPr>
              <a:t>m: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10646" y="1993458"/>
            <a:ext cx="2982479" cy="937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trích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nh.</a:t>
            </a:r>
          </a:p>
          <a:p>
            <a:pPr marL="0" marR="0">
              <a:lnSpc>
                <a:spcPts val="1760"/>
              </a:lnSpc>
              <a:spcBef>
                <a:spcPts val="814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&amp;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51983" y="3226325"/>
            <a:ext cx="145529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dc143c"/>
                </a:solidFill>
                <a:latin typeface="Liberation Sans"/>
                <a:cs typeface="Liberation Sans"/>
              </a:rPr>
              <a:t>Nh</a:t>
            </a:r>
            <a:r>
              <a:rPr dirty="0" sz="1700" spc="1555" b="1">
                <a:solidFill>
                  <a:srgbClr val="dc143c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dc143c"/>
                </a:solidFill>
                <a:latin typeface="Liberation Sans"/>
                <a:cs typeface="Liberation Sans"/>
              </a:rPr>
              <a:t>c</a:t>
            </a:r>
            <a:r>
              <a:rPr dirty="0" sz="1700" spc="-17" b="1">
                <a:solidFill>
                  <a:srgbClr val="dc143c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dc143c"/>
                </a:solidFill>
                <a:latin typeface="Liberation Sans"/>
                <a:cs typeface="Liberation Sans"/>
              </a:rPr>
              <a:t>đi</a:t>
            </a:r>
            <a:r>
              <a:rPr dirty="0" sz="1700" spc="584" b="1">
                <a:solidFill>
                  <a:srgbClr val="dc143c"/>
                </a:solidFill>
                <a:latin typeface="Liberation Sans"/>
                <a:cs typeface="Liberation Sans"/>
              </a:rPr>
              <a:t> </a:t>
            </a:r>
            <a:r>
              <a:rPr dirty="0" sz="1700" spc="-18" b="1">
                <a:solidFill>
                  <a:srgbClr val="dc143c"/>
                </a:solidFill>
                <a:latin typeface="Liberation Sans"/>
                <a:cs typeface="Liberation Sans"/>
              </a:rPr>
              <a:t>m: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10646" y="3612708"/>
            <a:ext cx="2999114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cao,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tài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nguyên.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Yêu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80999" y="4822383"/>
            <a:ext cx="5508585" cy="8571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trúc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bao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ng.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(filters)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hàm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(activation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functions)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thành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lõi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689"/>
              </a:lnSpc>
              <a:spcBef>
                <a:spcPts val="549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Conv2D.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6984" y="5889183"/>
            <a:ext cx="2819688" cy="1414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Conv2D:</a:t>
            </a:r>
            <a:r>
              <a:rPr dirty="0" sz="1500" spc="41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Phát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MaxPooling:</a:t>
            </a:r>
            <a:r>
              <a:rPr dirty="0" sz="1500" spc="43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12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Dense:</a:t>
            </a:r>
            <a:r>
              <a:rPr dirty="0" sz="1500" spc="41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Phân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lo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cùng.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Liberation Sans"/>
                <a:cs typeface="Liberation Sans"/>
              </a:rPr>
              <a:t>Softmax:</a:t>
            </a:r>
            <a:r>
              <a:rPr dirty="0" sz="1500" spc="43" b="1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51983" y="6302371"/>
            <a:ext cx="2376850" cy="324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1" b="1">
                <a:solidFill>
                  <a:srgbClr val="008080"/>
                </a:solidFill>
                <a:latin typeface="Liberation Sans"/>
                <a:cs typeface="Liberation Sans"/>
              </a:rPr>
              <a:t>Vai</a:t>
            </a:r>
            <a:r>
              <a:rPr dirty="0" sz="2000" spc="38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trò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tham</a:t>
            </a:r>
            <a:r>
              <a:rPr dirty="0" sz="2000" spc="10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chi</a:t>
            </a:r>
            <a:r>
              <a:rPr dirty="0" sz="2000" spc="715" b="1">
                <a:solidFill>
                  <a:srgbClr val="008080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808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0640" y="6746433"/>
            <a:ext cx="526299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Baseline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CNN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là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tiêu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chu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ẩ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n,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dùng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đánh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so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60640" y="7051233"/>
            <a:ext cx="461368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sánh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ủ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a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CNN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ứ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500" i="1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62982" y="376231"/>
            <a:ext cx="4618342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2f4f4f"/>
                </a:solidFill>
                <a:latin typeface="Liberation Sans"/>
                <a:cs typeface="Liberation Sans"/>
              </a:rPr>
              <a:t>Chi</a:t>
            </a:r>
            <a:r>
              <a:rPr dirty="0" sz="3000" spc="103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3000" spc="285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3000" spc="103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3000" spc="103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9585" y="1683275"/>
            <a:ext cx="1993172" cy="581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Optimizer</a:t>
            </a:r>
            <a:r>
              <a:rPr dirty="0" sz="1700" spc="-6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2f4f4f"/>
                </a:solidFill>
                <a:latin typeface="Liberation Sans"/>
                <a:cs typeface="Liberation Sans"/>
              </a:rPr>
              <a:t>Adam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</a:p>
          <a:p>
            <a:pPr marL="0" marR="0">
              <a:lnSpc>
                <a:spcPts val="1876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Rate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55880" y="1683275"/>
            <a:ext cx="1930434" cy="581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EarlyStopping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</a:p>
          <a:p>
            <a:pPr marL="0" marR="0">
              <a:lnSpc>
                <a:spcPts val="1876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ModelCheckpoint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3439" y="1749950"/>
            <a:ext cx="190761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2f4f4f"/>
                </a:solidFill>
                <a:latin typeface="Liberation Sans"/>
                <a:cs typeface="Liberation Sans"/>
              </a:rPr>
              <a:t>Hyperparameters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110" y="2293140"/>
            <a:ext cx="103811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Batch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size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50593" y="2451413"/>
            <a:ext cx="263866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Adam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ự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momentum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46888" y="2455330"/>
            <a:ext cx="2913955" cy="7472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EarlyStopping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ngăn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overfitting</a:t>
            </a:r>
          </a:p>
          <a:p>
            <a:pPr marL="0" marR="0">
              <a:lnSpc>
                <a:spcPts val="1564"/>
              </a:lnSpc>
              <a:spcBef>
                <a:spcPts val="492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ằ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cách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khi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validation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ừ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3110" y="2588415"/>
            <a:ext cx="792886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Epochs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50593" y="2965763"/>
            <a:ext cx="270525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RMSprop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4447" y="3346763"/>
            <a:ext cx="2894362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Batch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size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ưở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ổ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nh.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Epochs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qua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toàn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50593" y="3346763"/>
            <a:ext cx="2742050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Rate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(t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c)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 spc="-15">
                <a:solidFill>
                  <a:srgbClr val="696969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đi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ề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ỉ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ợ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46888" y="3346763"/>
            <a:ext cx="2771325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ModelCheckpoint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t,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phép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khôi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tr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thái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696969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696969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97569" y="5993958"/>
            <a:ext cx="107492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ợ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ỹ</a:t>
            </a:r>
            <a:r>
              <a:rPr dirty="0" sz="1500" spc="56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thu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này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dirty="0" sz="1500" spc="12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o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dirty="0" sz="1500" spc="68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đa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cho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quá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trình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hu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luy</a:t>
            </a:r>
            <a:r>
              <a:rPr dirty="0" sz="1500" spc="-23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spc="10" i="1">
                <a:solidFill>
                  <a:srgbClr val="ffffff"/>
                </a:solidFill>
                <a:latin typeface="Liberation Sans"/>
                <a:cs typeface="Liberation Sans"/>
              </a:rPr>
              <a:t>mô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hình,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mang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1500" spc="-23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dirty="0" sz="15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 spc="23">
                <a:solidFill>
                  <a:srgbClr val="ffffff"/>
                </a:solidFill>
                <a:latin typeface="DejaVu Sans"/>
                <a:cs typeface="DejaVu Sans"/>
              </a:rPr>
              <a:t>ư</a:t>
            </a:r>
            <a:r>
              <a:rPr dirty="0" sz="1500" i="1">
                <a:solidFill>
                  <a:srgbClr val="ffffff"/>
                </a:solidFill>
                <a:latin typeface="Liberation Sans"/>
                <a:cs typeface="Liberation Sans"/>
              </a:rPr>
              <a:t>u.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166681"/>
            <a:ext cx="4283081" cy="773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dirty="0" sz="3000" spc="103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3000" spc="189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dirty="0" sz="3000" spc="10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ffffff"/>
                </a:solidFill>
                <a:latin typeface="Liberation Sans"/>
                <a:cs typeface="Liberation Sans"/>
              </a:rPr>
              <a:t>Nghi</a:t>
            </a:r>
            <a:r>
              <a:rPr dirty="0" sz="3000" spc="103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2252"/>
              </a:lnSpc>
              <a:spcBef>
                <a:spcPts val="109"/>
              </a:spcBef>
              <a:spcAft>
                <a:spcPts val="0"/>
              </a:spcAft>
            </a:pPr>
            <a:r>
              <a:rPr dirty="0" sz="2000">
                <a:solidFill>
                  <a:srgbClr val="f0f8ff"/>
                </a:solidFill>
                <a:latin typeface="Liberation Sans"/>
                <a:cs typeface="Liberation Sans"/>
              </a:rPr>
              <a:t>(Experimental</a:t>
            </a:r>
            <a:r>
              <a:rPr dirty="0" sz="2000">
                <a:solidFill>
                  <a:srgbClr val="f0f8ff"/>
                </a:solidFill>
                <a:latin typeface="Liberation Sans"/>
                <a:cs typeface="Liberation Sans"/>
              </a:rPr>
              <a:t> </a:t>
            </a:r>
            <a:r>
              <a:rPr dirty="0" sz="2000">
                <a:solidFill>
                  <a:srgbClr val="f0f8ff"/>
                </a:solidFill>
                <a:latin typeface="Liberation Sans"/>
                <a:cs typeface="Liberation Sans"/>
              </a:rPr>
              <a:t>Setup)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447" y="1720846"/>
            <a:ext cx="310362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Môi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tr</a:t>
            </a:r>
            <a:r>
              <a:rPr dirty="0" sz="2000" spc="199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2000" spc="72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2000" spc="12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nghi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720846"/>
            <a:ext cx="2705387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Thi</a:t>
            </a:r>
            <a:r>
              <a:rPr dirty="0" sz="2000" spc="71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2000" spc="723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p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hu</a:t>
            </a:r>
            <a:r>
              <a:rPr dirty="0" sz="2000" spc="719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luy</a:t>
            </a:r>
            <a:r>
              <a:rPr dirty="0" sz="2000" spc="72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2110" y="2293140"/>
            <a:ext cx="288046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Google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Colab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(GPU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NVIDIA</a:t>
            </a:r>
            <a:r>
              <a:rPr dirty="0" sz="1500" spc="-105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T4)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81203" y="2288733"/>
            <a:ext cx="3240918" cy="1414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Input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Size: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Kích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vào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Batch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Size: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ẫ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x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ử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ồ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ờ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Epochs: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ặ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toàn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b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d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ữ</a:t>
            </a:r>
            <a:r>
              <a:rPr dirty="0" sz="1500" spc="68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li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374151"/>
                </a:solidFill>
                <a:latin typeface="Liberation Sans"/>
                <a:cs typeface="Liberation Sans"/>
              </a:rPr>
              <a:t>Rate:</a:t>
            </a:r>
            <a:r>
              <a:rPr dirty="0" sz="1500" spc="-25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ố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ộ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ọ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2110" y="2679258"/>
            <a:ext cx="285007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Không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ph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ầ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23">
                <a:solidFill>
                  <a:srgbClr val="696969"/>
                </a:solidFill>
                <a:latin typeface="DejaVu Sans"/>
                <a:cs typeface="DejaVu Sans"/>
              </a:rPr>
              <a:t>ứ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3447" y="4425946"/>
            <a:ext cx="24532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Các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th</a:t>
            </a:r>
            <a:r>
              <a:rPr dirty="0" sz="2000" spc="128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vi</a:t>
            </a:r>
            <a:r>
              <a:rPr dirty="0" sz="2000" spc="7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22540" y="4578346"/>
            <a:ext cx="2528158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Baseline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2f4f4f"/>
                </a:solidFill>
                <a:latin typeface="Liberation Sans"/>
                <a:cs typeface="Liberation Sans"/>
              </a:rPr>
              <a:t>So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2f4f4f"/>
                </a:solidFill>
                <a:latin typeface="Liberation Sans"/>
                <a:cs typeface="Liberation Sans"/>
              </a:rPr>
              <a:t>sánh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2110" y="4998240"/>
            <a:ext cx="2168938" cy="6431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0">
                <a:solidFill>
                  <a:srgbClr val="696969"/>
                </a:solidFill>
                <a:latin typeface="Liberation Sans"/>
                <a:cs typeface="Liberation Sans"/>
              </a:rPr>
              <a:t>TensorFlow</a:t>
            </a:r>
            <a:r>
              <a:rPr dirty="0" sz="1500" spc="23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(Keras</a:t>
            </a:r>
            <a:r>
              <a:rPr dirty="0" sz="1500" spc="-8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API)</a:t>
            </a:r>
          </a:p>
          <a:p>
            <a:pPr marL="0" marR="0">
              <a:lnSpc>
                <a:spcPts val="1689"/>
              </a:lnSpc>
              <a:spcBef>
                <a:spcPts val="1385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NumPy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81203" y="5155758"/>
            <a:ext cx="243779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Mô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hình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ơ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ở</a:t>
            </a:r>
            <a:r>
              <a:rPr dirty="0" sz="1500" spc="27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ể</a:t>
            </a:r>
            <a:r>
              <a:rPr dirty="0" sz="1500" spc="21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81203" y="5536758"/>
            <a:ext cx="269783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Đ</a:t>
            </a:r>
            <a:r>
              <a:rPr dirty="0" sz="1500" spc="33">
                <a:solidFill>
                  <a:srgbClr val="696969"/>
                </a:solidFill>
                <a:latin typeface="DejaVu Sans"/>
                <a:cs typeface="DejaVu Sans"/>
              </a:rPr>
              <a:t>ị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nh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</a:t>
            </a:r>
            <a:r>
              <a:rPr dirty="0" sz="1500">
                <a:solidFill>
                  <a:srgbClr val="696969"/>
                </a:solidFill>
                <a:latin typeface="DejaVu Sans"/>
                <a:cs typeface="DejaVu Sans"/>
              </a:rPr>
              <a:t>ướ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ng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c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ả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i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ế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n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hi</a:t>
            </a:r>
            <a:r>
              <a:rPr dirty="0" sz="1500" spc="-23">
                <a:solidFill>
                  <a:srgbClr val="696969"/>
                </a:solidFill>
                <a:latin typeface="DejaVu Sans"/>
                <a:cs typeface="DejaVu Sans"/>
              </a:rPr>
              <a:t>ệ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u</a:t>
            </a:r>
            <a:r>
              <a:rPr dirty="0" sz="1500" spc="10">
                <a:solidFill>
                  <a:srgbClr val="696969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su</a:t>
            </a:r>
            <a:r>
              <a:rPr dirty="0" sz="1500" spc="-18">
                <a:solidFill>
                  <a:srgbClr val="696969"/>
                </a:solidFill>
                <a:latin typeface="DejaVu Sans"/>
                <a:cs typeface="DejaVu Sans"/>
              </a:rPr>
              <a:t>ấ</a:t>
            </a: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32110" y="5769765"/>
            <a:ext cx="97422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Matplotlib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95612" y="376231"/>
            <a:ext cx="6352931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8" b="1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3000" spc="1878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3000" spc="1039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1" b="1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40284" y="1178450"/>
            <a:ext cx="2463438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Curves: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3153" y="1187975"/>
            <a:ext cx="291809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Learning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Curves:</a:t>
            </a:r>
            <a:r>
              <a:rPr dirty="0" sz="1700" spc="-62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Accuracy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9050" y="3121550"/>
            <a:ext cx="228555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Classification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Report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76009" y="3131075"/>
            <a:ext cx="1894129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Confusion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35040" y="3636430"/>
            <a:ext cx="607873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Class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51064" y="3636430"/>
            <a:ext cx="920829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Precision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74729" y="3636430"/>
            <a:ext cx="655296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Recall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2368" y="3636430"/>
            <a:ext cx="882824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F1-Score</a:t>
            </a:r>
          </a:p>
          <a:p>
            <a:pPr marL="0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966869" y="3645955"/>
            <a:ext cx="695890" cy="65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Pred</a:t>
            </a:r>
            <a:r>
              <a:rPr dirty="0" sz="1350" spc="-51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</a:p>
          <a:p>
            <a:pPr marL="129331" marR="0">
              <a:lnSpc>
                <a:spcPts val="1501"/>
              </a:lnSpc>
              <a:spcBef>
                <a:spcPts val="1873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470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890497" y="3645955"/>
            <a:ext cx="70222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Pred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874025" y="4074580"/>
            <a:ext cx="844300" cy="666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274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Actual</a:t>
            </a:r>
            <a:r>
              <a:rPr dirty="0" sz="1350" spc="-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</a:p>
          <a:p>
            <a:pPr marL="0" marR="0">
              <a:lnSpc>
                <a:spcPts val="1501"/>
              </a:lnSpc>
              <a:spcBef>
                <a:spcPts val="1998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Actual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070579" y="4074580"/>
            <a:ext cx="342257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30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35040" y="4503205"/>
            <a:ext cx="27566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51064" y="4503205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0.94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174729" y="4503205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52368" y="4503205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143677" y="4512730"/>
            <a:ext cx="342257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20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023103" y="4512730"/>
            <a:ext cx="437185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Liberation Sans"/>
                <a:cs typeface="Liberation Sans"/>
              </a:rPr>
              <a:t>480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67841" y="4559825"/>
            <a:ext cx="210627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700" spc="953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135040" y="4931830"/>
            <a:ext cx="474856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8" b="1">
                <a:solidFill>
                  <a:srgbClr val="000000"/>
                </a:solidFill>
                <a:latin typeface="Liberation Sans"/>
                <a:cs typeface="Liberation Sans"/>
              </a:rPr>
              <a:t>Avg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951064" y="4931830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174729" y="4931830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52368" y="4931830"/>
            <a:ext cx="484608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0000"/>
                </a:solidFill>
                <a:latin typeface="Liberation Sans"/>
                <a:cs typeface="Liberation Sans"/>
              </a:rPr>
              <a:t>0.95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344321" y="5017025"/>
            <a:ext cx="1757305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700" spc="505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xét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chung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00336" y="5081581"/>
            <a:ext cx="1241348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0" b="1">
                <a:solidFill>
                  <a:srgbClr val="ffffff"/>
                </a:solidFill>
                <a:latin typeface="Liberation Sans"/>
                <a:cs typeface="Liberation Sans"/>
              </a:rPr>
              <a:t>95.2%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93819" y="5404163"/>
            <a:ext cx="2866781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620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cao,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chính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xác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kh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</a:p>
          <a:p>
            <a:pPr marL="85725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năng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lo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cho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hai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 i="1">
                <a:solidFill>
                  <a:srgbClr val="4b5563"/>
                </a:solidFill>
                <a:latin typeface="Liberation Sans"/>
                <a:cs typeface="Liberation Sans"/>
              </a:rPr>
              <a:t>p.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1231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16684" y="422332"/>
            <a:ext cx="4672670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f2937"/>
                </a:solidFill>
                <a:latin typeface="Liberation Sans"/>
                <a:cs typeface="Liberation Sans"/>
              </a:rPr>
              <a:t>Phân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Tích</a:t>
            </a:r>
            <a:r>
              <a:rPr dirty="0" sz="3000" spc="1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3000" spc="981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dirty="0" sz="3000" spc="1057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9565" y="1129301"/>
            <a:ext cx="336547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700" spc="102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374151"/>
                </a:solidFill>
                <a:latin typeface="Liberation Sans"/>
                <a:cs typeface="Liberation Sans"/>
              </a:rPr>
              <a:t>Đúng/Sai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20" b="1">
                <a:solidFill>
                  <a:srgbClr val="374151"/>
                </a:solidFill>
                <a:latin typeface="Liberation Sans"/>
                <a:cs typeface="Liberation Sans"/>
              </a:rPr>
              <a:t>Tiêu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dirty="0" sz="1700" spc="58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129301"/>
            <a:ext cx="230909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Nguyên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Nhân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Sai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374151"/>
                </a:solidFill>
                <a:latin typeface="Liberation Sans"/>
                <a:cs typeface="Liberation Sans"/>
              </a:rPr>
              <a:t>Sót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66556" y="1706939"/>
            <a:ext cx="42800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350" spc="-15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kém,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lý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không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rõ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ràng.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113" y="2587156"/>
            <a:ext cx="4969212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dirty="0" sz="1350" spc="444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cân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 spc="44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 spc="8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 spc="4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(Imbalanced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Dataset)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Dataset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b="1">
                <a:solidFill>
                  <a:srgbClr val="374151"/>
                </a:solidFill>
                <a:latin typeface="Liberation Sans"/>
                <a:cs typeface="Liberation Sans"/>
              </a:rPr>
              <a:t>bias.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45770" y="2907844"/>
            <a:ext cx="49793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dirty="0" sz="1200" spc="37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ph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dirty="0" sz="1200" spc="41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Liberation Sans"/>
                <a:cs typeface="Liberation Sans"/>
              </a:rPr>
              <a:t>bi</a:t>
            </a:r>
            <a:r>
              <a:rPr dirty="0" sz="1200" spc="11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200" spc="-1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7">
                <a:solidFill>
                  <a:srgbClr val="4b5563"/>
                </a:solidFill>
                <a:latin typeface="Liberation Sans"/>
                <a:cs typeface="Liberation Sans"/>
              </a:rPr>
              <a:t>ML,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ơ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dirty="0" sz="1200" spc="41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ẫ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ơ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đáng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45770" y="3126919"/>
            <a:ext cx="2897734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k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ể</a:t>
            </a:r>
            <a:r>
              <a:rPr dirty="0" sz="1200" spc="37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so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khác,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ẫ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200" spc="11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sai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dirty="0" sz="1200" spc="11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200" spc="-12">
                <a:solidFill>
                  <a:srgbClr val="4b5563"/>
                </a:solidFill>
                <a:latin typeface="Liberation Sans"/>
                <a:cs typeface="Liberation Sans"/>
              </a:rPr>
              <a:t>ch.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9994" y="3510816"/>
            <a:ext cx="642961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Đúng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55777" y="3510816"/>
            <a:ext cx="44062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0000"/>
                </a:solidFill>
                <a:latin typeface="Liberation Sans"/>
                <a:cs typeface="Liberation Sans"/>
              </a:rPr>
              <a:t>Sai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6690" y="4053476"/>
            <a:ext cx="331168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700" spc="48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700" spc="104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700" spc="563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700" spc="-17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7" b="1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700" spc="586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700" spc="-18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700" spc="490" b="1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6690" y="4621589"/>
            <a:ext cx="562756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Baseline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có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 spc="-31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6556" y="4621589"/>
            <a:ext cx="509727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dirty="0" sz="1350" spc="3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ỹ</a:t>
            </a:r>
            <a:r>
              <a:rPr dirty="0" sz="1350" spc="62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kh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năng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4b5563"/>
                </a:solidFill>
                <a:latin typeface="Liberation Sans"/>
                <a:cs typeface="Liberation Sans"/>
              </a:rPr>
              <a:t>thích.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11968" y="5097839"/>
            <a:ext cx="211679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xác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51835" y="5097839"/>
            <a:ext cx="522722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ỹ</a:t>
            </a:r>
            <a:r>
              <a:rPr dirty="0" sz="1350" spc="62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nâng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(e.g.,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augmentation,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ensemble).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11968" y="5602664"/>
            <a:ext cx="300812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 spc="33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khái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quát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còn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51835" y="5602664"/>
            <a:ext cx="524597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Khó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khăn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trong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thích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(Explainable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51835" y="5863756"/>
            <a:ext cx="417933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AI).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1968" y="6117014"/>
            <a:ext cx="244924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350" spc="3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dirty="0" sz="1350" spc="36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overfit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v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dirty="0" sz="135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ễ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51835" y="6374189"/>
            <a:ext cx="385285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 spc="-31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hoàn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toàn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trình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hu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luy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dirty="0" sz="135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9433" y="166681"/>
            <a:ext cx="5685336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K</a:t>
            </a:r>
            <a:r>
              <a:rPr dirty="0" sz="3000" spc="105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Lu</a:t>
            </a:r>
            <a:r>
              <a:rPr dirty="0" sz="3000" spc="10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3000" spc="2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dirty="0" sz="3000" spc="285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spc="-75" b="1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dirty="0" sz="3000" spc="-82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dirty="0" sz="3000" spc="104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62558" y="1125929"/>
            <a:ext cx="407595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64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700" spc="-25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-67">
                <a:solidFill>
                  <a:srgbClr val="1f2937"/>
                </a:solidFill>
                <a:latin typeface="DejaVu Sans"/>
                <a:cs typeface="DejaVu Sans"/>
              </a:rPr>
              <a:t>ạ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dirty="0" sz="1700" spc="-46">
                <a:solidFill>
                  <a:srgbClr val="1f2937"/>
                </a:solidFill>
                <a:latin typeface="DejaVu Sans"/>
                <a:cs typeface="DejaVu Sans"/>
              </a:rPr>
              <a:t>ượ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5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kh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700" spc="-25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87852" y="1125929"/>
            <a:ext cx="294218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dirty="0" sz="1700" spc="-64">
                <a:solidFill>
                  <a:srgbClr val="1f2937"/>
                </a:solidFill>
                <a:latin typeface="DejaVu Sans"/>
                <a:cs typeface="DejaVu Sans"/>
              </a:rPr>
              <a:t>ố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27">
                <a:solidFill>
                  <a:srgbClr val="1f2937"/>
                </a:solidFill>
                <a:latin typeface="DejaVu Sans"/>
                <a:cs typeface="DejaVu Sans"/>
              </a:rPr>
              <a:t>ư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chi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dirty="0" sz="1700" spc="-46">
                <a:solidFill>
                  <a:srgbClr val="1f2937"/>
                </a:solidFill>
                <a:latin typeface="DejaVu Sans"/>
                <a:cs typeface="DejaVu Sans"/>
              </a:rPr>
              <a:t>ượ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15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hu</a:t>
            </a:r>
            <a:r>
              <a:rPr dirty="0" sz="1700" spc="-67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luy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05681" y="1178450"/>
            <a:ext cx="281270" cy="18099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  <a:p>
            <a:pPr marL="0" marR="0">
              <a:lnSpc>
                <a:spcPts val="1876"/>
              </a:lnSpc>
              <a:spcBef>
                <a:spcPts val="4198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  <a:p>
            <a:pPr marL="0" marR="0">
              <a:lnSpc>
                <a:spcPts val="1876"/>
              </a:lnSpc>
              <a:spcBef>
                <a:spcPts val="4123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30975" y="1178450"/>
            <a:ext cx="28127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2558" y="1430729"/>
            <a:ext cx="10323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27">
                <a:solidFill>
                  <a:srgbClr val="1f2937"/>
                </a:solidFill>
                <a:latin typeface="DejaVu Sans"/>
                <a:cs typeface="DejaVu Sans"/>
              </a:rPr>
              <a:t>ủ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>
                <a:solidFill>
                  <a:srgbClr val="1f2937"/>
                </a:solidFill>
                <a:latin typeface="Liberation Sans"/>
                <a:cs typeface="Liberation Sans"/>
              </a:rPr>
              <a:t>CNN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87852" y="1435625"/>
            <a:ext cx="3708820" cy="5717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(EarlyStopping,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ModelCheckpoint,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LR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Scheduler)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62558" y="1897454"/>
            <a:ext cx="2981494" cy="5766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67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thi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ữ</a:t>
            </a:r>
            <a:r>
              <a:rPr dirty="0" sz="1700" spc="1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ề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x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ử</a:t>
            </a:r>
            <a:r>
              <a:rPr dirty="0" sz="1700" spc="14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</a:p>
          <a:p>
            <a:pPr marL="0" marR="0">
              <a:lnSpc>
                <a:spcPts val="1876"/>
              </a:lnSpc>
              <a:spcBef>
                <a:spcPts val="357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(Augmentation,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Class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5">
                <a:solidFill>
                  <a:srgbClr val="1f2937"/>
                </a:solidFill>
                <a:latin typeface="Liberation Sans"/>
                <a:cs typeface="Liberation Sans"/>
              </a:rPr>
              <a:t>Weight)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587852" y="2192729"/>
            <a:ext cx="393934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ổ</a:t>
            </a:r>
            <a:r>
              <a:rPr dirty="0" sz="1700" spc="-23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sung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đánh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giá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nâng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cao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2">
                <a:solidFill>
                  <a:srgbClr val="1f2937"/>
                </a:solidFill>
                <a:latin typeface="Liberation Sans"/>
                <a:cs typeface="Liberation Sans"/>
              </a:rPr>
              <a:t>(ROC-AUC,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30975" y="2245250"/>
            <a:ext cx="281270" cy="10479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  <a:p>
            <a:pPr marL="0" marR="0">
              <a:lnSpc>
                <a:spcPts val="1876"/>
              </a:lnSpc>
              <a:spcBef>
                <a:spcPts val="4198"/>
              </a:spcBef>
              <a:spcAft>
                <a:spcPts val="0"/>
              </a:spcAft>
            </a:pPr>
            <a:r>
              <a:rPr dirty="0" sz="1700">
                <a:solidFill>
                  <a:srgbClr val="008080"/>
                </a:solidFill>
                <a:latin typeface="Liberation Sans"/>
                <a:cs typeface="Liberation Sans"/>
              </a:rPr>
              <a:t>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587852" y="2502425"/>
            <a:ext cx="2475076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Liberation Sans"/>
                <a:cs typeface="Liberation Sans"/>
              </a:rPr>
              <a:t>PR-AUC,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Error</a:t>
            </a:r>
            <a:r>
              <a:rPr dirty="0" sz="1700" spc="-95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Analysis)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2558" y="2668979"/>
            <a:ext cx="3968423" cy="5766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1f2937"/>
                </a:solidFill>
                <a:latin typeface="Liberation Sans"/>
                <a:cs typeface="Liberation Sans"/>
              </a:rPr>
              <a:t>Nâng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dirty="0" sz="1700" spc="-67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7">
                <a:solidFill>
                  <a:srgbClr val="1f2937"/>
                </a:solidFill>
                <a:latin typeface="Liberation Sans"/>
                <a:cs typeface="Liberation Sans"/>
              </a:rPr>
              <a:t>mô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hình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v</a:t>
            </a:r>
            <a:r>
              <a:rPr dirty="0" sz="1700" spc="-64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4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8">
                <a:solidFill>
                  <a:srgbClr val="1f2937"/>
                </a:solidFill>
                <a:latin typeface="Liberation Sans"/>
                <a:cs typeface="Liberation Sans"/>
              </a:rPr>
              <a:t>Transfer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Learning</a:t>
            </a:r>
          </a:p>
          <a:p>
            <a:pPr marL="0" marR="0">
              <a:lnSpc>
                <a:spcPts val="1876"/>
              </a:lnSpc>
              <a:spcBef>
                <a:spcPts val="357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(MobileNetV2,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ResNet50)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87852" y="2964254"/>
            <a:ext cx="396535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Tăng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tính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gi</a:t>
            </a:r>
            <a:r>
              <a:rPr dirty="0" sz="1700" spc="-67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i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thích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(Grad-CAM)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tri</a:t>
            </a:r>
            <a:r>
              <a:rPr dirty="0" sz="1700">
                <a:solidFill>
                  <a:srgbClr val="1f2937"/>
                </a:solidFill>
                <a:latin typeface="DejaVu Sans"/>
                <a:cs typeface="DejaVu Sans"/>
              </a:rPr>
              <a:t>ể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87852" y="3259529"/>
            <a:ext cx="152195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1f2937"/>
                </a:solidFill>
                <a:latin typeface="Liberation Sans"/>
                <a:cs typeface="Liberation Sans"/>
              </a:rPr>
              <a:t>khai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27">
                <a:solidFill>
                  <a:srgbClr val="1f2937"/>
                </a:solidFill>
                <a:latin typeface="DejaVu Sans"/>
                <a:cs typeface="DejaVu Sans"/>
              </a:rPr>
              <a:t>ứ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dirty="0" sz="170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dirty="0" sz="1700" spc="-27">
                <a:solidFill>
                  <a:srgbClr val="1f2937"/>
                </a:solidFill>
                <a:latin typeface="DejaVu Sans"/>
                <a:cs typeface="DejaVu Sans"/>
              </a:rPr>
              <a:t>ụ</a:t>
            </a:r>
            <a:r>
              <a:rPr dirty="0" sz="1700" spc="-11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4281" y="6122190"/>
            <a:ext cx="3133929" cy="5574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02358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2f4f4f"/>
                </a:solidFill>
                <a:latin typeface="Liberation Sans"/>
                <a:cs typeface="Liberation Sans"/>
              </a:rPr>
              <a:t>Contact: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696969"/>
                </a:solidFill>
                <a:latin typeface="Liberation Sans"/>
                <a:cs typeface="Liberation Sans"/>
              </a:rPr>
              <a:t>23017208@st.phenikaa-uni.edu.vn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6690" y="6264800"/>
            <a:ext cx="1270481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L</a:t>
            </a:r>
            <a:r>
              <a:rPr dirty="0" sz="1700" spc="4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i</a:t>
            </a:r>
            <a:r>
              <a:rPr dirty="0" sz="1700" spc="-1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c</a:t>
            </a:r>
            <a:r>
              <a:rPr dirty="0" sz="1700" spc="490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m</a:t>
            </a:r>
            <a:r>
              <a:rPr dirty="0" sz="1700" spc="951" b="1">
                <a:solidFill>
                  <a:srgbClr val="2f4f4f"/>
                </a:solidFill>
                <a:latin typeface="Liberation Sans"/>
                <a:cs typeface="Liberation Sans"/>
              </a:rPr>
              <a:t> </a:t>
            </a:r>
            <a:r>
              <a:rPr dirty="0" sz="1700" b="1">
                <a:solidFill>
                  <a:srgbClr val="2f4f4f"/>
                </a:solidFill>
                <a:latin typeface="Liberation Sans"/>
                <a:cs typeface="Liberation Sans"/>
              </a:rP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2026-01-19T02:56:21+00:00</dcterms:modified>
</cp:coreProperties>
</file>