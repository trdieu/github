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12192000" cy="6858000"/>
  <p:embeddedFontLs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50577" y="1930076"/>
            <a:ext cx="10243048" cy="158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5"/>
              </a:lnSpc>
              <a:spcBef>
                <a:spcPts val="0"/>
              </a:spcBef>
              <a:spcAft>
                <a:spcPts val="0"/>
              </a:spcAft>
            </a:pPr>
            <a:r>
              <a:rPr sz="5050" b="1" spc="-103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5050" b="1" spc="9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endParaRPr sz="505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2282825" marR="0">
              <a:lnSpc>
                <a:spcPts val="5865"/>
              </a:lnSpc>
              <a:spcBef>
                <a:spcPts val="435"/>
              </a:spcBef>
              <a:spcAft>
                <a:spcPts val="0"/>
              </a:spcAft>
            </a:pP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endParaRPr sz="505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3436" y="3530276"/>
            <a:ext cx="9737470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5"/>
              </a:lnSpc>
              <a:spcBef>
                <a:spcPts val="0"/>
              </a:spcBef>
              <a:spcAft>
                <a:spcPts val="0"/>
              </a:spcAft>
            </a:pPr>
            <a:r>
              <a:rPr sz="5050" b="1" spc="-31" dirty="0">
                <a:solidFill>
                  <a:srgbClr val="28A745"/>
                </a:solidFill>
                <a:latin typeface="DejaVu Sans"/>
                <a:cs typeface="DejaVu Sans"/>
              </a:rPr>
              <a:t>MYFITNESS</a:t>
            </a:r>
            <a:r>
              <a:rPr sz="5050" b="1" spc="515" dirty="0">
                <a:solidFill>
                  <a:srgbClr val="28A74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TRÊN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spc="-50" dirty="0">
                <a:solidFill>
                  <a:srgbClr val="000080"/>
                </a:solidFill>
                <a:latin typeface="DejaVu Sans"/>
                <a:cs typeface="DejaVu Sans"/>
              </a:rPr>
              <a:t>FLUT</a:t>
            </a:r>
            <a:r>
              <a:rPr sz="5050" b="1" spc="-16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TER</a:t>
            </a:r>
            <a:endParaRPr sz="505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847" y="4560770"/>
            <a:ext cx="916864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0080"/>
                </a:solidFill>
                <a:latin typeface="DejaVu Sans"/>
                <a:cs typeface="DejaVu Sans"/>
              </a:rPr>
              <a:t>Một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000080"/>
                </a:solidFill>
                <a:latin typeface="DejaVu Sans"/>
                <a:cs typeface="DejaVu Sans"/>
              </a:rPr>
              <a:t>Giải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000080"/>
                </a:solidFill>
                <a:latin typeface="DejaVu Sans"/>
                <a:cs typeface="DejaVu Sans"/>
              </a:rPr>
              <a:t>Pháp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-99" dirty="0">
                <a:solidFill>
                  <a:srgbClr val="000080"/>
                </a:solidFill>
                <a:latin typeface="DejaVu Sans"/>
                <a:cs typeface="DejaVu Sans"/>
              </a:rPr>
              <a:t>Toàn</a:t>
            </a:r>
            <a:r>
              <a:rPr sz="2500" spc="1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Nâng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Cộng</a:t>
            </a:r>
            <a:r>
              <a:rPr sz="2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000080"/>
                </a:solidFill>
                <a:latin typeface="DejaVu Sans"/>
                <a:cs typeface="DejaVu Sans"/>
              </a:rPr>
              <a:t>Đồng</a:t>
            </a:r>
            <a:endParaRPr sz="2500" spc="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6035" y="6105995"/>
            <a:ext cx="115636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Nhóm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8</a:t>
            </a:r>
            <a:endParaRPr sz="20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3285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3193" y="332791"/>
            <a:ext cx="361785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I.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Giới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Thiệu</a:t>
            </a:r>
            <a:endParaRPr sz="4050" b="1" spc="-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976" y="1486355"/>
            <a:ext cx="396894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1.1.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Bối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cảnh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Tầm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quan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trọng</a:t>
            </a:r>
            <a:endParaRPr sz="1700" b="1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254" y="2021264"/>
            <a:ext cx="402416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trở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thành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ưu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tiên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hàng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đầu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0" dirty="0">
                <a:solidFill>
                  <a:srgbClr val="000080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xã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hội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đại.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254" y="2659439"/>
            <a:ext cx="4431565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nghệ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định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hình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lại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cách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chúng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tiếp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cận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lối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lành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mạnh.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3279" y="2857955"/>
            <a:ext cx="500080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1.2.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MyFitness: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Giá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trị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cốt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lõi</a:t>
            </a:r>
            <a:endParaRPr sz="1700" b="1" spc="-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1936" y="3278564"/>
            <a:ext cx="548012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spc="-51" dirty="0">
                <a:solidFill>
                  <a:srgbClr val="000080"/>
                </a:solidFill>
                <a:latin typeface="DejaVu Sans"/>
                <a:cs typeface="DejaVu Sans"/>
              </a:rPr>
              <a:t>Trao</a:t>
            </a:r>
            <a:r>
              <a:rPr sz="1350" spc="46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quyền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kiểm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soát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cải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một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cách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chủ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động.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254" y="3307139"/>
            <a:ext cx="4147535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cầu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về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giải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hóa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mọi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ngày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càng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tăng.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3279" y="3955594"/>
            <a:ext cx="5481099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hóa:</a:t>
            </a:r>
            <a:r>
              <a:rPr sz="1200" b="1" spc="-36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Xây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dựng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lộ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trình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riêng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biệt,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phù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từng</a:t>
            </a:r>
            <a:endParaRPr sz="1200" spc="-14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dùng.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3279" y="4469944"/>
            <a:ext cx="551163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000080"/>
                </a:solidFill>
                <a:latin typeface="DejaVu Sans"/>
                <a:cs typeface="DejaVu Sans"/>
              </a:rPr>
              <a:t>Dễ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000080"/>
                </a:solidFill>
                <a:latin typeface="DejaVu Sans"/>
                <a:cs typeface="DejaVu Sans"/>
              </a:rPr>
              <a:t>tiếp</a:t>
            </a:r>
            <a:r>
              <a:rPr sz="1200" b="1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cận:</a:t>
            </a:r>
            <a:r>
              <a:rPr sz="1200" b="1" spc="-3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trực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quan,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thân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thiện,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phù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0080"/>
                </a:solidFill>
                <a:latin typeface="DejaVu Sans"/>
                <a:cs typeface="DejaVu Sans"/>
              </a:rPr>
              <a:t>mọi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lứa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tuổi.</a:t>
            </a:r>
            <a:endParaRPr sz="1200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3279" y="4765219"/>
            <a:ext cx="520774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1" dirty="0">
                <a:solidFill>
                  <a:srgbClr val="000080"/>
                </a:solidFill>
                <a:latin typeface="DejaVu Sans"/>
                <a:cs typeface="DejaVu Sans"/>
              </a:rPr>
              <a:t>Toàn</a:t>
            </a:r>
            <a:r>
              <a:rPr sz="1200" b="1" spc="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diện:</a:t>
            </a:r>
            <a:r>
              <a:rPr sz="1200" b="1" spc="-3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dưỡng,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đến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chỉ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thể.</a:t>
            </a:r>
            <a:endParaRPr sz="1200" spc="-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3545" y="5166023"/>
            <a:ext cx="103180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Sức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khỏe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1370" y="5166023"/>
            <a:ext cx="15693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Chăm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sóc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Chủ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09840" y="5166023"/>
            <a:ext cx="70118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mới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57118" y="5166023"/>
            <a:ext cx="13425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spc="-28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000" b="1" spc="3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diện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984" y="6134555"/>
            <a:ext cx="460479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1.3.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Tổng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quan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về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nội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dung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trình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40" dirty="0">
                <a:solidFill>
                  <a:srgbClr val="000080"/>
                </a:solidFill>
                <a:latin typeface="DejaVu Sans"/>
                <a:cs typeface="DejaVu Sans"/>
              </a:rPr>
              <a:t>bày</a:t>
            </a:r>
            <a:endParaRPr sz="1700" b="1" spc="-4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0862" y="6612314"/>
            <a:ext cx="3461355" cy="617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sở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thuyết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nghệ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sử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1435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Phân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tích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Chức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chính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80434" y="6612314"/>
            <a:ext cx="29755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Đối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tượng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80434" y="6993314"/>
            <a:ext cx="33497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Hạn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chế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Hướng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tương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lai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3545" y="7509173"/>
            <a:ext cx="71688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Lộ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6450" y="7509173"/>
            <a:ext cx="81537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Kế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hoạch</a:t>
            </a:r>
            <a:endParaRPr sz="1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7060" y="560270"/>
            <a:ext cx="1081025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1.1.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Bối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cảnh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28A745"/>
                </a:solidFill>
                <a:latin typeface="DejaVu Sans"/>
                <a:cs typeface="DejaVu Sans"/>
              </a:rPr>
              <a:t>Tầm</a:t>
            </a:r>
            <a:r>
              <a:rPr sz="2500" b="1" spc="12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28A745"/>
                </a:solidFill>
                <a:latin typeface="DejaVu Sans"/>
                <a:cs typeface="DejaVu Sans"/>
              </a:rPr>
              <a:t>quan</a:t>
            </a:r>
            <a:r>
              <a:rPr sz="250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28A745"/>
                </a:solidFill>
                <a:latin typeface="DejaVu Sans"/>
                <a:cs typeface="DejaVu Sans"/>
              </a:rPr>
              <a:t>trọng</a:t>
            </a:r>
            <a:r>
              <a:rPr sz="250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endParaRPr sz="25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6538" y="960320"/>
            <a:ext cx="105161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endParaRPr sz="2500" b="1" spc="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7939" y="2030804"/>
            <a:ext cx="425708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Thực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trạng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Nhu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cầu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endParaRPr sz="1700" b="1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1249" y="2518843"/>
            <a:ext cx="2471016" cy="973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Gia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bệnh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0080"/>
                </a:solidFill>
                <a:latin typeface="DejaVu Sans"/>
                <a:cs typeface="DejaVu Sans"/>
              </a:rPr>
              <a:t>mãn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tính</a:t>
            </a:r>
            <a:endParaRPr sz="1200" spc="-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605"/>
              </a:spcBef>
              <a:spcAft>
                <a:spcPts val="0"/>
              </a:spcAft>
            </a:pP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Lối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đại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ít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vận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605"/>
              </a:spcBef>
              <a:spcAft>
                <a:spcPts val="0"/>
              </a:spcAft>
            </a:pP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Nhu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endParaRPr sz="1200" spc="-14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58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tin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phân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0080"/>
                </a:solidFill>
                <a:latin typeface="DejaVu Sans"/>
                <a:cs typeface="DejaVu Sans"/>
              </a:rPr>
              <a:t>mảnh</a:t>
            </a:r>
            <a:endParaRPr sz="1200" spc="-18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7939" y="3869129"/>
            <a:ext cx="385929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nghệ: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Đòn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bẩy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cuộc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1249" y="4347643"/>
            <a:ext cx="2461541" cy="983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Giám</a:t>
            </a:r>
            <a:r>
              <a:rPr sz="1200" spc="-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sát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liên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tục</a:t>
            </a:r>
            <a:endParaRPr sz="1200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605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Phòng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ngừa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bệnh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tật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chủ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605"/>
              </a:spcBef>
              <a:spcAft>
                <a:spcPts val="0"/>
              </a:spcAft>
            </a:pPr>
            <a:r>
              <a:rPr sz="1200" spc="-23" dirty="0">
                <a:solidFill>
                  <a:srgbClr val="000080"/>
                </a:solidFill>
                <a:latin typeface="DejaVu Sans"/>
                <a:cs typeface="DejaVu Sans"/>
              </a:rPr>
              <a:t>Tiếp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cận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tri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thức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y</a:t>
            </a:r>
            <a:r>
              <a:rPr sz="1200" spc="-2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tế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dàng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605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nối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cộng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đồng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endParaRPr sz="1200" spc="-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7939" y="5707454"/>
            <a:ext cx="410588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Tiềm</a:t>
            </a:r>
            <a:r>
              <a:rPr sz="1700" b="1" spc="-1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Xu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hướng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endParaRPr sz="1700" b="1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1249" y="6185968"/>
            <a:ext cx="25478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trưởng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vượt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bậc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1249" y="6443143"/>
            <a:ext cx="21122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Tích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AI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đeo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63384" y="6434372"/>
            <a:ext cx="245427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80"/>
                </a:solidFill>
                <a:latin typeface="DejaVu Sans"/>
                <a:cs typeface="DejaVu Sans"/>
              </a:rPr>
              <a:t>World-class</a:t>
            </a:r>
            <a:r>
              <a:rPr sz="1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000080"/>
                </a:solidFill>
                <a:latin typeface="DejaVu Sans"/>
                <a:cs typeface="DejaVu Sans"/>
              </a:rPr>
              <a:t>Design</a:t>
            </a:r>
            <a:r>
              <a:rPr sz="1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000080"/>
                </a:solidFill>
                <a:latin typeface="DejaVu Sans"/>
                <a:cs typeface="DejaVu Sans"/>
              </a:rPr>
              <a:t>Consultancy</a:t>
            </a:r>
            <a:endParaRPr sz="1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1249" y="6700318"/>
            <a:ext cx="29434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Dịch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vụ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chăm</a:t>
            </a: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sóc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phòng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8459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60313" y="392615"/>
            <a:ext cx="9223622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8" dirty="0">
                <a:solidFill>
                  <a:srgbClr val="000080"/>
                </a:solidFill>
                <a:latin typeface="Liberation Sans"/>
                <a:cs typeface="Liberation Sans"/>
              </a:rPr>
              <a:t>Gi</a:t>
            </a:r>
            <a:r>
              <a:rPr sz="3000" b="1" spc="103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thi</a:t>
            </a:r>
            <a:r>
              <a:rPr sz="3000" b="1" spc="1036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3000" b="1" spc="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v</a:t>
            </a:r>
            <a:r>
              <a:rPr sz="3000" b="1" spc="189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MyFitness: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M</a:t>
            </a:r>
            <a:r>
              <a:rPr sz="3000" b="1" spc="1135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c</a:t>
            </a:r>
            <a:r>
              <a:rPr sz="3000" b="1" spc="20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tiêu</a:t>
            </a:r>
            <a:r>
              <a:rPr sz="3000" b="1" spc="1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28A745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28A745"/>
                </a:solidFill>
                <a:latin typeface="Liberation Sans"/>
                <a:cs typeface="Liberation Sans"/>
              </a:rPr>
              <a:t>giá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tr</a:t>
            </a:r>
            <a:r>
              <a:rPr sz="3000" b="1" spc="832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c</a:t>
            </a:r>
            <a:r>
              <a:rPr sz="3000" b="1" spc="1055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28A745"/>
                </a:solidFill>
                <a:latin typeface="Liberation Sans"/>
                <a:cs typeface="Liberation Sans"/>
              </a:rPr>
              <a:t>lõi</a:t>
            </a:r>
            <a:endParaRPr sz="3000" b="1" spc="10" dirty="0">
              <a:solidFill>
                <a:srgbClr val="28A745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6044" y="1375279"/>
            <a:ext cx="2143806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MyFitness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là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gì?</a:t>
            </a:r>
            <a:endParaRPr sz="2000" b="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6044" y="1866967"/>
            <a:ext cx="613017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ụ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ỗ</a:t>
            </a:r>
            <a:r>
              <a:rPr sz="1500" spc="27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tr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ợ</a:t>
            </a:r>
            <a:r>
              <a:rPr sz="1500" spc="27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qu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lý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toàn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di</a:t>
            </a:r>
            <a:r>
              <a:rPr sz="1500" spc="-23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n,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giúp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dùng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endParaRPr sz="15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06044" y="2162242"/>
            <a:ext cx="393377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ụ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tiêu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cách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hi</a:t>
            </a:r>
            <a:r>
              <a:rPr sz="1500" spc="-23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qu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.</a:t>
            </a:r>
            <a:endParaRPr sz="15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4037" y="2662479"/>
            <a:ext cx="158215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8A745"/>
                </a:solidFill>
                <a:latin typeface="Liberation Sans"/>
                <a:cs typeface="Liberation Sans"/>
              </a:rPr>
              <a:t>#</a:t>
            </a:r>
            <a:r>
              <a:rPr sz="1200" b="1" spc="628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28A745"/>
                </a:solidFill>
                <a:latin typeface="Liberation Sans"/>
                <a:cs typeface="Liberation Sans"/>
              </a:rPr>
              <a:t>ngD</a:t>
            </a:r>
            <a:r>
              <a:rPr sz="1200" b="1" spc="413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28A745"/>
                </a:solidFill>
                <a:latin typeface="Liberation Sans"/>
                <a:cs typeface="Liberation Sans"/>
              </a:rPr>
              <a:t>ngS</a:t>
            </a:r>
            <a:r>
              <a:rPr sz="1200" b="1" spc="415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28A745"/>
                </a:solidFill>
                <a:latin typeface="Liberation Sans"/>
                <a:cs typeface="Liberation Sans"/>
              </a:rPr>
              <a:t>cKh</a:t>
            </a:r>
            <a:r>
              <a:rPr sz="1200" b="1" spc="417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28A745"/>
                </a:solidFill>
                <a:latin typeface="Liberation Sans"/>
                <a:cs typeface="Liberation Sans"/>
              </a:rPr>
              <a:t>e</a:t>
            </a:r>
            <a:endParaRPr sz="1200" b="1" dirty="0">
              <a:solidFill>
                <a:srgbClr val="28A745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47805" y="2662479"/>
            <a:ext cx="148458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28A745"/>
                </a:solidFill>
                <a:latin typeface="Liberation Sans"/>
                <a:cs typeface="Liberation Sans"/>
              </a:rPr>
              <a:t>#Qu</a:t>
            </a:r>
            <a:r>
              <a:rPr sz="1200" b="1" spc="417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spc="-25" dirty="0">
                <a:solidFill>
                  <a:srgbClr val="28A745"/>
                </a:solidFill>
                <a:latin typeface="Liberation Sans"/>
                <a:cs typeface="Liberation Sans"/>
              </a:rPr>
              <a:t>nLýToànDi</a:t>
            </a:r>
            <a:r>
              <a:rPr sz="1200" b="1" spc="436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28A745"/>
                </a:solidFill>
                <a:latin typeface="Liberation Sans"/>
                <a:cs typeface="Liberation Sans"/>
              </a:rPr>
              <a:t>n</a:t>
            </a:r>
            <a:endParaRPr sz="1200" b="1" dirty="0">
              <a:solidFill>
                <a:srgbClr val="28A745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6044" y="3680329"/>
            <a:ext cx="4905466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Giá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tr</a:t>
            </a:r>
            <a:r>
              <a:rPr sz="2000" b="1" spc="53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lõi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mang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2000" b="1" spc="64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cho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2000" b="1" spc="191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dùng:</a:t>
            </a:r>
            <a:endParaRPr sz="2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7887" y="4248217"/>
            <a:ext cx="248244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Theo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dõi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cá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nhân</a:t>
            </a:r>
            <a:endParaRPr sz="15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7887" y="4810192"/>
            <a:ext cx="199257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ắ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ở</a:t>
            </a:r>
            <a:r>
              <a:rPr sz="1500" spc="27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thông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minh</a:t>
            </a:r>
            <a:endParaRPr sz="15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7887" y="5362642"/>
            <a:ext cx="292008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ư</a:t>
            </a:r>
            <a:r>
              <a:rPr sz="1500" spc="68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v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500" spc="23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500" spc="-18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500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chuyên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nghi</a:t>
            </a:r>
            <a:r>
              <a:rPr sz="1500" spc="-23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endParaRPr sz="15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377" y="6424059"/>
            <a:ext cx="111504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700" b="1" spc="-2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Liberation Sans"/>
                <a:cs typeface="Liberation Sans"/>
              </a:rPr>
              <a:t>nhìn</a:t>
            </a:r>
            <a:endParaRPr sz="1700" b="1" spc="-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8369" y="6424059"/>
            <a:ext cx="107083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700" b="1" spc="103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endParaRPr sz="1700" b="1" spc="-12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5377" y="6763571"/>
            <a:ext cx="43474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8" dirty="0">
                <a:solidFill>
                  <a:srgbClr val="000080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ở</a:t>
            </a:r>
            <a:r>
              <a:rPr sz="1350" spc="34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thành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spc="-15" dirty="0">
                <a:solidFill>
                  <a:srgbClr val="000080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hành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tin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ậ</a:t>
            </a:r>
            <a:r>
              <a:rPr sz="1350" spc="-102" dirty="0">
                <a:solidFill>
                  <a:srgbClr val="000080"/>
                </a:solidFill>
                <a:latin typeface="Liberation Sans"/>
                <a:cs typeface="Liberation Sans"/>
              </a:rPr>
              <a:t>y,</a:t>
            </a:r>
            <a:r>
              <a:rPr sz="1350" spc="9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giúp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spc="-15" dirty="0">
                <a:solidFill>
                  <a:srgbClr val="000080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98369" y="6763571"/>
            <a:ext cx="433726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Cung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pháp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nhân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hóa,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ễ</a:t>
            </a:r>
            <a:r>
              <a:rPr sz="1350" spc="3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cho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ng.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5377" y="7020746"/>
            <a:ext cx="256925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spc="-28" dirty="0">
                <a:solidFill>
                  <a:srgbClr val="000080"/>
                </a:solidFill>
                <a:latin typeface="Liberation Sans"/>
                <a:cs typeface="Liberation Sans"/>
              </a:rPr>
              <a:t>ngày.</a:t>
            </a:r>
            <a:endParaRPr sz="1350" spc="-28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5116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70943" y="346209"/>
            <a:ext cx="8202254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II.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DejaVu Sans"/>
                <a:cs typeface="DejaVu Sans"/>
              </a:rPr>
              <a:t>sở</a:t>
            </a:r>
            <a:r>
              <a:rPr sz="3000" b="1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thuyết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DejaVu Sans"/>
                <a:cs typeface="DejaVu Sans"/>
              </a:rPr>
              <a:t>Flutter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Dart</a:t>
            </a:r>
            <a:endParaRPr sz="3000" b="1" spc="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909" y="1455636"/>
            <a:ext cx="359620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Flutter: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0530" y="1455636"/>
            <a:ext cx="2903015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Dart: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0080"/>
                </a:solidFill>
                <a:latin typeface="DejaVu Sans"/>
                <a:cs typeface="DejaVu Sans"/>
              </a:rPr>
              <a:t>Ngôn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ngữ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lập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169545" marR="0">
              <a:lnSpc>
                <a:spcPts val="2345"/>
              </a:lnSpc>
              <a:spcBef>
                <a:spcPts val="355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trình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được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tối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ưu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5931" y="1627086"/>
            <a:ext cx="219242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Lợi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ích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nổi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bật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3499" y="1798536"/>
            <a:ext cx="205719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di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8623" y="4840029"/>
            <a:ext cx="218067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Nền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tảng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UI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Google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8623" y="4840029"/>
            <a:ext cx="2488855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Ngôn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ngữ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hướng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đối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tượng,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cú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quen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thuộc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8622" y="4840029"/>
            <a:ext cx="205717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Tăng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tốc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8623" y="5430579"/>
            <a:ext cx="253557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nền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tảng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(iOS,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Android,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Web,</a:t>
            </a:r>
            <a:r>
              <a:rPr sz="1350" spc="2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Desktop)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88622" y="5430579"/>
            <a:ext cx="248980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7" dirty="0">
                <a:solidFill>
                  <a:srgbClr val="000080"/>
                </a:solidFill>
                <a:latin typeface="DejaVu Sans"/>
                <a:cs typeface="DejaVu Sans"/>
              </a:rPr>
              <a:t>Tiết</a:t>
            </a:r>
            <a:r>
              <a:rPr sz="1350" spc="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kiệm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phí,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codebase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duy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nhất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8623" y="5563929"/>
            <a:ext cx="237352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Tối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ưu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UI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suất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8623" y="6154479"/>
            <a:ext cx="241099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đẹp,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78623" y="6154479"/>
            <a:ext cx="232191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JIT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(phát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nhanh)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spc="-17" dirty="0">
                <a:solidFill>
                  <a:srgbClr val="000080"/>
                </a:solidFill>
                <a:latin typeface="DejaVu Sans"/>
                <a:cs typeface="DejaVu Sans"/>
              </a:rPr>
              <a:t>AOT</a:t>
            </a:r>
            <a:r>
              <a:rPr sz="135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(hiệu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cao)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88622" y="6154479"/>
            <a:ext cx="216808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spc="-51" dirty="0">
                <a:solidFill>
                  <a:srgbClr val="000080"/>
                </a:solidFill>
                <a:latin typeface="DejaVu Sans"/>
                <a:cs typeface="DejaVu Sans"/>
              </a:rPr>
              <a:t>Trải</a:t>
            </a:r>
            <a:r>
              <a:rPr sz="1350" spc="4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nghiệm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nhất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quán,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native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6139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9127" y="322631"/>
            <a:ext cx="724610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2.1.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Giới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thiệu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về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28A745"/>
                </a:solidFill>
                <a:latin typeface="DejaVu Sans"/>
                <a:cs typeface="DejaVu Sans"/>
              </a:rPr>
              <a:t>Flutter</a:t>
            </a:r>
            <a:endParaRPr sz="4050" b="1" spc="-10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1188" y="2695395"/>
            <a:ext cx="457636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Flutter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là</a:t>
            </a:r>
            <a:r>
              <a:rPr sz="1700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khung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000080"/>
                </a:solidFill>
                <a:latin typeface="DejaVu Sans"/>
                <a:cs typeface="DejaVu Sans"/>
              </a:rPr>
              <a:t>mã</a:t>
            </a:r>
            <a:endParaRPr sz="1700" spc="-2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717" y="3000195"/>
            <a:ext cx="497718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nguồn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000080"/>
                </a:solidFill>
                <a:latin typeface="DejaVu Sans"/>
                <a:cs typeface="DejaVu Sans"/>
              </a:rPr>
              <a:t>mở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Google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để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xây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dựng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endParaRPr sz="1700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1227455" marR="0">
              <a:lnSpc>
                <a:spcPts val="1955"/>
              </a:lnSpc>
              <a:spcBef>
                <a:spcPts val="320"/>
              </a:spcBef>
              <a:spcAft>
                <a:spcPts val="0"/>
              </a:spcAft>
            </a:pP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đẹp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21" dirty="0">
                <a:solidFill>
                  <a:srgbClr val="000080"/>
                </a:solidFill>
                <a:latin typeface="DejaVu Sans"/>
                <a:cs typeface="DejaVu Sans"/>
              </a:rPr>
              <a:t>cao.</a:t>
            </a:r>
            <a:endParaRPr sz="1700" spc="-2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8388" y="3812084"/>
            <a:ext cx="11742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000080"/>
                </a:solidFill>
                <a:latin typeface="DejaVu Sans"/>
                <a:cs typeface="DejaVu Sans"/>
              </a:rPr>
              <a:t>Mã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nguồn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0080"/>
                </a:solidFill>
                <a:latin typeface="DejaVu Sans"/>
                <a:cs typeface="DejaVu Sans"/>
              </a:rPr>
              <a:t>mở</a:t>
            </a:r>
            <a:endParaRPr sz="1200" spc="-23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8966" y="3812084"/>
            <a:ext cx="2781734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578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Khung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03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bởi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Google</a:t>
            </a:r>
            <a:endParaRPr sz="1200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545" y="5360886"/>
            <a:ext cx="244565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Kiến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trúc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cốt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lõi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9101" y="5360886"/>
            <a:ext cx="3420734" cy="85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đa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nền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tảng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509270" marR="0">
              <a:lnSpc>
                <a:spcPts val="1760"/>
              </a:lnSpc>
              <a:spcBef>
                <a:spcPts val="232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iOS: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spc="-50" dirty="0">
                <a:solidFill>
                  <a:srgbClr val="000080"/>
                </a:solidFill>
                <a:latin typeface="DejaVu Sans"/>
                <a:cs typeface="DejaVu Sans"/>
              </a:rPr>
              <a:t>Trải</a:t>
            </a:r>
            <a:r>
              <a:rPr sz="1500" spc="5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nghiệm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native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2537" y="5953700"/>
            <a:ext cx="3614614" cy="1366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Widgets: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Tất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cả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đều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Widget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54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Skia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Engine: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Đồ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họa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2D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mạnh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spc="10" dirty="0">
                <a:solidFill>
                  <a:srgbClr val="000080"/>
                </a:solidFill>
                <a:latin typeface="DejaVu Sans"/>
                <a:cs typeface="DejaVu Sans"/>
              </a:rPr>
              <a:t>mẽ</a:t>
            </a:r>
            <a:endParaRPr sz="1500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59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Dart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spc="10" dirty="0">
                <a:solidFill>
                  <a:srgbClr val="000080"/>
                </a:solidFill>
                <a:latin typeface="DejaVu Sans"/>
                <a:cs typeface="DejaVu Sans"/>
              </a:rPr>
              <a:t>VM:</a:t>
            </a:r>
            <a:r>
              <a:rPr sz="1500" b="1" spc="-46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Môi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trường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thực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ưu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8093" y="6506150"/>
            <a:ext cx="3099499" cy="1376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Android: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linh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hoạt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54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Web:</a:t>
            </a:r>
            <a:r>
              <a:rPr sz="1500" b="1" spc="-2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tương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tác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615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Desktop: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spc="10" dirty="0">
                <a:solidFill>
                  <a:srgbClr val="000080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rộng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tầm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83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55092" y="400482"/>
            <a:ext cx="943411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2.2.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Giới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thiệu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về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ngôn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ngữ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8A745"/>
                </a:solidFill>
                <a:latin typeface="DejaVu Sans"/>
                <a:cs typeface="DejaVu Sans"/>
              </a:rPr>
              <a:t>Dart</a:t>
            </a:r>
            <a:endParaRPr sz="4050" b="1" spc="-11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06794" y="449901"/>
            <a:ext cx="28601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7</a:t>
            </a:r>
            <a:endParaRPr sz="15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0362" y="1617037"/>
            <a:ext cx="3203348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4" dirty="0">
                <a:solidFill>
                  <a:srgbClr val="000080"/>
                </a:solidFill>
                <a:latin typeface="DejaVu Sans"/>
                <a:cs typeface="DejaVu Sans"/>
              </a:rPr>
              <a:t>Đặc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điểm</a:t>
            </a:r>
            <a:r>
              <a:rPr sz="2500" b="1" spc="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nổi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bật</a:t>
            </a:r>
            <a:endParaRPr sz="2500" b="1" spc="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5854" y="1617037"/>
            <a:ext cx="2037868" cy="79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5" dirty="0">
                <a:solidFill>
                  <a:srgbClr val="000080"/>
                </a:solidFill>
                <a:latin typeface="DejaVu Sans"/>
                <a:cs typeface="DejaVu Sans"/>
              </a:rPr>
              <a:t>mạnh</a:t>
            </a:r>
            <a:endParaRPr sz="2500" b="1" spc="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930"/>
              </a:lnSpc>
              <a:spcBef>
                <a:spcPts val="65"/>
              </a:spcBef>
              <a:spcAft>
                <a:spcPts val="0"/>
              </a:spcAft>
            </a:pP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Flutter</a:t>
            </a:r>
            <a:endParaRPr sz="25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5298" y="1721812"/>
            <a:ext cx="201664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Dart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là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gì?</a:t>
            </a:r>
            <a:endParaRPr sz="25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6846" y="2327080"/>
            <a:ext cx="244183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JIT/AOT</a:t>
            </a: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Compilation:</a:t>
            </a:r>
            <a:r>
              <a:rPr sz="1350" b="1" spc="-4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Tối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184" y="2421576"/>
            <a:ext cx="3088211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Ngôn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ngữ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lập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trình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được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tối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ưu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hóa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để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xây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dựng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giao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dùng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(UI)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đẹp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nhanh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chóng.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16846" y="2574730"/>
            <a:ext cx="126814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ưu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hiệu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suất.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3740" y="2583501"/>
            <a:ext cx="3088946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Nền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tảng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của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Flutter,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mang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lại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trải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nghiệm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triển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UI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nhất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quán,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đẹp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quả.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6846" y="3222430"/>
            <a:ext cx="25291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Null</a:t>
            </a: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Safety:</a:t>
            </a:r>
            <a:r>
              <a:rPr sz="1350" b="1" spc="-4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Giảm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thiểu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lỗi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6846" y="3479605"/>
            <a:ext cx="87882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runtime.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31732" y="3689155"/>
            <a:ext cx="22418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Tương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thích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hoàn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hảo</a:t>
            </a:r>
            <a:endParaRPr sz="1350" b="1" dirty="0">
              <a:solidFill>
                <a:srgbClr val="1E3A8A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1176" y="3812980"/>
            <a:ext cx="220317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Phát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triển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bởi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E3A8A"/>
                </a:solidFill>
                <a:latin typeface="DejaVu Sans"/>
                <a:cs typeface="DejaVu Sans"/>
              </a:rPr>
              <a:t>Google</a:t>
            </a:r>
            <a:endParaRPr sz="1350" b="1" dirty="0">
              <a:solidFill>
                <a:srgbClr val="1E3A8A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6846" y="4117780"/>
            <a:ext cx="245921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DejaVu Sans"/>
                <a:cs typeface="DejaVu Sans"/>
              </a:rPr>
              <a:t>Async/Await:</a:t>
            </a:r>
            <a:r>
              <a:rPr sz="1350" b="1" spc="-4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Xử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tác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vụ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31732" y="4117780"/>
            <a:ext cx="149071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Một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codebase</a:t>
            </a:r>
            <a:endParaRPr sz="1350" b="1" dirty="0">
              <a:solidFill>
                <a:srgbClr val="14532D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1176" y="4241605"/>
            <a:ext cx="132790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Đa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nền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4532D"/>
                </a:solidFill>
                <a:latin typeface="DejaVu Sans"/>
                <a:cs typeface="DejaVu Sans"/>
              </a:rPr>
              <a:t>tảng</a:t>
            </a:r>
            <a:endParaRPr sz="1350" b="1" dirty="0">
              <a:solidFill>
                <a:srgbClr val="14532D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6846" y="4374955"/>
            <a:ext cx="123632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bất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đồng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F2937"/>
                </a:solidFill>
                <a:latin typeface="DejaVu Sans"/>
                <a:cs typeface="DejaVu Sans"/>
              </a:rPr>
              <a:t>bộ.</a:t>
            </a:r>
            <a:endParaRPr sz="135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757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49483"/>
            <a:ext cx="8396402" cy="510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1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2.3.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3000" b="1" spc="1056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ích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3000" b="1" spc="113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a</a:t>
            </a:r>
            <a:r>
              <a:rPr sz="3000" b="1" spc="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vi</a:t>
            </a:r>
            <a:r>
              <a:rPr sz="3000" b="1" spc="103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3000" b="1" spc="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3000" b="1" spc="197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3000" b="1" spc="113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350" b="1" spc="-10" dirty="0">
                <a:solidFill>
                  <a:srgbClr val="28A745"/>
                </a:solidFill>
                <a:latin typeface="Liberation Sans"/>
                <a:cs typeface="Liberation Sans"/>
              </a:rPr>
              <a:t>Flutter</a:t>
            </a:r>
            <a:r>
              <a:rPr sz="3350" b="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350" b="1" spc="-12" dirty="0">
                <a:solidFill>
                  <a:srgbClr val="28A745"/>
                </a:solidFill>
                <a:latin typeface="Liberation Sans"/>
                <a:cs typeface="Liberation Sans"/>
              </a:rPr>
              <a:t>và</a:t>
            </a:r>
            <a:r>
              <a:rPr sz="3350" b="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350" b="1" spc="-12" dirty="0">
                <a:solidFill>
                  <a:srgbClr val="28A745"/>
                </a:solidFill>
                <a:latin typeface="Liberation Sans"/>
                <a:cs typeface="Liberation Sans"/>
              </a:rPr>
              <a:t>Dart</a:t>
            </a:r>
            <a:endParaRPr sz="3350" b="1" spc="-12" dirty="0">
              <a:solidFill>
                <a:srgbClr val="28A745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084" y="2015126"/>
            <a:ext cx="330107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700" b="1" spc="103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phát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tri</a:t>
            </a:r>
            <a:r>
              <a:rPr sz="1700" b="1" spc="57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nhanh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chóng</a:t>
            </a:r>
            <a:endParaRPr sz="1700" b="1" spc="-1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8075" y="2015126"/>
            <a:ext cx="296078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Liberation Sans"/>
                <a:cs typeface="Liberation Sans"/>
              </a:rPr>
              <a:t>Hi</a:t>
            </a:r>
            <a:r>
              <a:rPr sz="1700" b="1" spc="586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su</a:t>
            </a:r>
            <a:r>
              <a:rPr sz="1700" b="1" spc="576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cao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&amp;</a:t>
            </a:r>
            <a:r>
              <a:rPr sz="1700" b="1" spc="-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Liberation Sans"/>
                <a:cs typeface="Liberation Sans"/>
              </a:rPr>
              <a:t>UI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1700" b="1" spc="-1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endParaRPr sz="1700" b="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084" y="2440364"/>
            <a:ext cx="4376349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Hot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Reload: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thì,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không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thái.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Hot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Restart:</a:t>
            </a:r>
            <a:r>
              <a:rPr sz="1350" spc="-25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thái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nhanh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chóng.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đáng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gian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ý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ưở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8075" y="2440364"/>
            <a:ext cx="4509594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Biên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(Native)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đa.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Giao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mà,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60-120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FPS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sz="1350" spc="34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spc="-2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widget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tùy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cao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ẹ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3633" y="3587546"/>
            <a:ext cx="89925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Liberation Sans"/>
                <a:cs typeface="Liberation Sans"/>
              </a:rPr>
              <a:t>Hot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Liberation Sans"/>
                <a:cs typeface="Liberation Sans"/>
              </a:rPr>
              <a:t>Reload</a:t>
            </a:r>
            <a:endParaRPr sz="1200" spc="-12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2272" y="3587546"/>
            <a:ext cx="90732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Liberation Sans"/>
                <a:cs typeface="Liberation Sans"/>
              </a:rPr>
              <a:t>Hot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1F2937"/>
                </a:solidFill>
                <a:latin typeface="Liberation Sans"/>
                <a:cs typeface="Liberation Sans"/>
              </a:rPr>
              <a:t>Restart</a:t>
            </a:r>
            <a:endParaRPr sz="1200" spc="-1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9097" y="3584119"/>
            <a:ext cx="770669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1F2937"/>
                </a:solidFill>
                <a:latin typeface="Liberation Sans"/>
                <a:cs typeface="Liberation Sans"/>
              </a:rPr>
              <a:t>Hi</a:t>
            </a:r>
            <a:r>
              <a:rPr sz="1200" spc="11" dirty="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ả</a:t>
            </a:r>
            <a:endParaRPr sz="120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6625" y="3587546"/>
            <a:ext cx="57573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1F2937"/>
                </a:solidFill>
                <a:latin typeface="Liberation Sans"/>
                <a:cs typeface="Liberation Sans"/>
              </a:rPr>
              <a:t>Native</a:t>
            </a:r>
            <a:endParaRPr sz="1200" spc="-1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1563" y="3584119"/>
            <a:ext cx="75760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ượ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Liberation Sans"/>
                <a:cs typeface="Liberation Sans"/>
              </a:rPr>
              <a:t>mà</a:t>
            </a:r>
            <a:endParaRPr sz="1200" spc="-2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68667" y="3584119"/>
            <a:ext cx="804551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Tùy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200" spc="-33" dirty="0">
                <a:solidFill>
                  <a:srgbClr val="1F2937"/>
                </a:solidFill>
                <a:latin typeface="DejaVu Sans"/>
                <a:cs typeface="DejaVu Sans"/>
              </a:rPr>
              <a:t>ỉ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endParaRPr sz="1200" spc="-14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084" y="5282201"/>
            <a:ext cx="249526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700" b="1" spc="58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quán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đa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57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endParaRPr sz="1700" b="1" spc="-12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18075" y="5282201"/>
            <a:ext cx="230584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700" b="1" spc="56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&amp;</a:t>
            </a:r>
            <a:r>
              <a:rPr sz="1700" b="1" spc="-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Liberation Sans"/>
                <a:cs typeface="Liberation Sans"/>
              </a:rPr>
              <a:t>Tài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li</a:t>
            </a:r>
            <a:r>
              <a:rPr sz="1700" b="1" spc="57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endParaRPr sz="1700" b="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084" y="5707439"/>
            <a:ext cx="4284120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codebase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cho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iOS,</a:t>
            </a:r>
            <a:r>
              <a:rPr sz="1350" spc="-74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Android,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spc="-12" dirty="0">
                <a:solidFill>
                  <a:srgbClr val="374151"/>
                </a:solidFill>
                <a:latin typeface="Liberation Sans"/>
                <a:cs typeface="Liberation Sans"/>
              </a:rPr>
              <a:t>Web,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Desktop.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o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dùng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spc="-2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spc="-28" dirty="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ki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phí,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gian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8075" y="5707439"/>
            <a:ext cx="4653106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nhà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năng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toàn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565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spc="-2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Tài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chính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liên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18075" y="6393239"/>
            <a:ext cx="406285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•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sinh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thái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plugin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(pub.dev)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phong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phú,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đa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3633" y="6854621"/>
            <a:ext cx="1056971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1F2937"/>
                </a:solidFill>
                <a:latin typeface="Liberation Sans"/>
                <a:cs typeface="Liberation Sans"/>
              </a:rPr>
              <a:t>Multi-platform</a:t>
            </a:r>
            <a:endParaRPr sz="1200" spc="-1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9584" y="6851194"/>
            <a:ext cx="8657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1F2937"/>
                </a:solidFill>
                <a:latin typeface="DejaVu Sans"/>
                <a:cs typeface="DejaVu Sans"/>
              </a:rPr>
              <a:t>ồ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1F2937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endParaRPr sz="120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14737" y="6851194"/>
            <a:ext cx="7768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1" dirty="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sz="1200" spc="11" dirty="0">
                <a:solidFill>
                  <a:srgbClr val="1F2937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m</a:t>
            </a:r>
            <a:endParaRPr sz="120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16625" y="6851194"/>
            <a:ext cx="57948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ỗ</a:t>
            </a:r>
            <a:r>
              <a:rPr sz="1200" spc="41" dirty="0">
                <a:solidFill>
                  <a:srgbClr val="1F293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ợ</a:t>
            </a:r>
            <a:endParaRPr sz="120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59451" y="6851194"/>
            <a:ext cx="6458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Tài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1F2937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u</a:t>
            </a:r>
            <a:endParaRPr sz="120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64785" y="6851194"/>
            <a:ext cx="7744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Liberation Sans"/>
                <a:cs typeface="Liberation Sans"/>
              </a:rPr>
              <a:t>R</a:t>
            </a:r>
            <a:r>
              <a:rPr sz="1200" spc="15" dirty="0">
                <a:solidFill>
                  <a:srgbClr val="1F2937"/>
                </a:solidFill>
                <a:latin typeface="DejaVu Sans"/>
                <a:cs typeface="DejaVu Sans"/>
              </a:rPr>
              <a:t>ộ</a:t>
            </a:r>
            <a:r>
              <a:rPr sz="1200" spc="-14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1F2937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endParaRPr sz="1200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61778" y="7767697"/>
            <a:ext cx="7220758" cy="32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Flutter: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Liberation Sans"/>
                <a:cs typeface="Liberation Sans"/>
              </a:rPr>
              <a:t>Gi</a:t>
            </a:r>
            <a:r>
              <a:rPr sz="2000" b="1" spc="63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pháp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2000" b="1" spc="6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2000" b="1" spc="12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cho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phát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tri</a:t>
            </a:r>
            <a:r>
              <a:rPr sz="2000" b="1" spc="7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2000" b="1" spc="128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2000" b="1" spc="7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2000" b="1" spc="71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2000" b="1" spc="6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  <a:endParaRPr sz="2000" b="1" dirty="0">
              <a:solidFill>
                <a:srgbClr val="FFFFFF"/>
              </a:solidFill>
              <a:latin typeface="Liberation Sans"/>
              <a:cs typeface="Liberation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30120" y="8245537"/>
            <a:ext cx="2962678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Source: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Why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choose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flutter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for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app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FFFFFF"/>
                </a:solidFill>
                <a:latin typeface="Liberation Sans"/>
                <a:cs typeface="Liberation Sans"/>
              </a:rPr>
              <a:t>development?</a:t>
            </a:r>
            <a:endParaRPr sz="1000" dirty="0">
              <a:solidFill>
                <a:srgbClr val="FFFFFF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841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45701"/>
            <a:ext cx="813982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III.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1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3000" b="1" spc="1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MyFitness</a:t>
            </a:r>
            <a:endParaRPr sz="3000" b="1" spc="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2294" y="435953"/>
            <a:ext cx="33054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9</a:t>
            </a:r>
            <a:endParaRPr sz="2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925" y="1218512"/>
            <a:ext cx="297359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3.1.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tổng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quát</a:t>
            </a:r>
            <a:endParaRPr sz="1700" b="1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925" y="1571692"/>
            <a:ext cx="9735522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Nâng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khuyến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khích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lành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mạnh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qua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một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nền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tảng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toàn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hóa.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270" y="2817203"/>
            <a:ext cx="302650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3.2.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90580" y="2855303"/>
            <a:ext cx="4499523" cy="1511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3.3.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0080"/>
                </a:solidFill>
                <a:latin typeface="DejaVu Sans"/>
                <a:cs typeface="DejaVu Sans"/>
              </a:rPr>
              <a:t>Đối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tượng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77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muốn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cải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chất.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9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tìm</a:t>
            </a:r>
            <a:r>
              <a:rPr sz="150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kiếm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giải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pháp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linh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hoạt.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6112" y="3343342"/>
            <a:ext cx="447975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quản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hoạt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chất,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dưỡng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hàng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spc="-37" dirty="0">
                <a:solidFill>
                  <a:srgbClr val="000080"/>
                </a:solidFill>
                <a:latin typeface="DejaVu Sans"/>
                <a:cs typeface="DejaVu Sans"/>
              </a:rPr>
              <a:t>ngày.</a:t>
            </a:r>
            <a:endParaRPr sz="1500" spc="-3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6112" y="4105342"/>
            <a:ext cx="4355915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Cung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cấp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kế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hoạch,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lộ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trình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ăn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uống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được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hóa.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0580" y="4705417"/>
            <a:ext cx="4837658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cần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lực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sự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từ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đồng.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29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Mọi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lứa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tuổi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quan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tâm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động.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6112" y="4876867"/>
            <a:ext cx="4680637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tiến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phân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tích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chỉ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đặt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minh.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6112" y="5638867"/>
            <a:ext cx="4361164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Xây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dựng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đồng,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để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cùng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nhau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tạo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lực.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09713" y="334315"/>
            <a:ext cx="692488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3.1.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28A745"/>
                </a:solidFill>
                <a:latin typeface="DejaVu Sans"/>
                <a:cs typeface="DejaVu Sans"/>
              </a:rPr>
              <a:t>Mục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tiêu</a:t>
            </a:r>
            <a:r>
              <a:rPr sz="4050" b="1" spc="-10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8A745"/>
                </a:solidFill>
                <a:latin typeface="DejaVu Sans"/>
                <a:cs typeface="DejaVu Sans"/>
              </a:rPr>
              <a:t>tổng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quát</a:t>
            </a:r>
            <a:endParaRPr sz="4050" b="1" spc="-12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1805" y="1830779"/>
            <a:ext cx="2515519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hàng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đầu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955"/>
              </a:lnSpc>
              <a:spcBef>
                <a:spcPts val="32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quản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6829" y="2603058"/>
            <a:ext cx="3618697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69" dirty="0">
                <a:solidFill>
                  <a:srgbClr val="000080"/>
                </a:solidFill>
                <a:latin typeface="DejaVu Sans"/>
                <a:cs typeface="DejaVu Sans"/>
              </a:rPr>
              <a:t>Trở</a:t>
            </a:r>
            <a:r>
              <a:rPr sz="1500" spc="8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thành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nền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tảng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1,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cung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cấp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toàn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mỗi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8651" y="4345379"/>
            <a:ext cx="2631392" cy="88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Nâng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cao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nhận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thức,</a:t>
            </a:r>
            <a:endParaRPr sz="1700" b="1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955"/>
              </a:lnSpc>
              <a:spcBef>
                <a:spcPts val="32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khuyến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khích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955"/>
              </a:lnSpc>
              <a:spcBef>
                <a:spcPts val="445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3675" y="5384358"/>
            <a:ext cx="3593209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Thúc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đẩy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tích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cực,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giáo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dục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về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tổng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thể.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71296" y="6490768"/>
            <a:ext cx="344629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000080"/>
                </a:solidFill>
                <a:latin typeface="DejaVu Sans"/>
                <a:cs typeface="DejaVu Sans"/>
              </a:rPr>
              <a:t>Reference: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Health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tracking</a:t>
            </a:r>
            <a:r>
              <a:rPr sz="1200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Images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000080"/>
                </a:solidFill>
                <a:latin typeface="DejaVu Sans"/>
                <a:cs typeface="DejaVu Sans"/>
              </a:rPr>
              <a:t>(Freepik)</a:t>
            </a:r>
            <a:endParaRPr sz="1200" spc="-2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33360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85665" y="333300"/>
            <a:ext cx="597293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3.2.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28A745"/>
                </a:solidFill>
                <a:latin typeface="DejaVu Sans"/>
                <a:cs typeface="DejaVu Sans"/>
              </a:rPr>
              <a:t>Cụ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28A745"/>
                </a:solidFill>
                <a:latin typeface="DejaVu Sans"/>
                <a:cs typeface="DejaVu Sans"/>
              </a:rPr>
              <a:t>thể</a:t>
            </a:r>
            <a:endParaRPr sz="4050" b="1" spc="-10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5933" y="1772613"/>
            <a:ext cx="239055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dưỡng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Calo</a:t>
            </a:r>
            <a:endParaRPr sz="1700" b="1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5917" y="1772613"/>
            <a:ext cx="294789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Lập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kế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hoạch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7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endParaRPr sz="1700" b="1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9992" y="2374198"/>
            <a:ext cx="496751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Cung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cấp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dưỡng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calo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quả,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giúp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bạn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được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mục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tiêu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khỏe.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9976" y="2374198"/>
            <a:ext cx="493049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tạo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buổi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tập,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đảm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bảo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quả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nhất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quán.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984" y="3089327"/>
            <a:ext cx="12928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0080"/>
                </a:solidFill>
                <a:latin typeface="DejaVu Sans"/>
                <a:cs typeface="DejaVu Sans"/>
              </a:rPr>
              <a:t>Calo</a:t>
            </a:r>
            <a:endParaRPr sz="12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9716" y="3089327"/>
            <a:ext cx="19460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Kế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hoạch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dưỡng</a:t>
            </a:r>
            <a:endParaRPr sz="1200" b="1" spc="-1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07967" y="3089327"/>
            <a:ext cx="8244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000080"/>
                </a:solidFill>
                <a:latin typeface="DejaVu Sans"/>
                <a:cs typeface="DejaVu Sans"/>
              </a:rPr>
              <a:t>Lịch</a:t>
            </a:r>
            <a:r>
              <a:rPr sz="1200" b="1" spc="-1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endParaRPr sz="12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1189" y="3089327"/>
            <a:ext cx="15202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000080"/>
                </a:solidFill>
                <a:latin typeface="DejaVu Sans"/>
                <a:cs typeface="DejaVu Sans"/>
              </a:rPr>
              <a:t>tiến</a:t>
            </a:r>
            <a:r>
              <a:rPr sz="1200" b="1" spc="-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endParaRPr sz="1200" b="1" spc="-18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30332" y="3089327"/>
            <a:ext cx="14723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0080"/>
                </a:solidFill>
                <a:latin typeface="DejaVu Sans"/>
                <a:cs typeface="DejaVu Sans"/>
              </a:rPr>
              <a:t>lực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endParaRPr sz="1200" b="1" spc="-1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7984" y="3470327"/>
            <a:ext cx="14582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Báo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cáo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chi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000080"/>
                </a:solidFill>
                <a:latin typeface="DejaVu Sans"/>
                <a:cs typeface="DejaVu Sans"/>
              </a:rPr>
              <a:t>tiết</a:t>
            </a:r>
            <a:endParaRPr sz="1200" b="1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5933" y="6211263"/>
            <a:ext cx="23070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Chỉ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5917" y="6211263"/>
            <a:ext cx="232525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Gợi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ý</a:t>
            </a:r>
            <a:r>
              <a:rPr sz="1700" b="1" spc="-2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7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0080"/>
                </a:solidFill>
                <a:latin typeface="DejaVu Sans"/>
                <a:cs typeface="DejaVu Sans"/>
              </a:rPr>
              <a:t>hóa</a:t>
            </a:r>
            <a:endParaRPr sz="1700" b="1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9992" y="6812847"/>
            <a:ext cx="494939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Quản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chỉ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quan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trọng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tiến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tổng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bạn.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9976" y="6812847"/>
            <a:ext cx="483705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Cung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cấp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gợi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ý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dưỡng,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luyện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tập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nhắc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nhở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phù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hợp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nhu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cầu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riêng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bạn.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984" y="7527977"/>
            <a:ext cx="4704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1" dirty="0">
                <a:solidFill>
                  <a:srgbClr val="000080"/>
                </a:solidFill>
                <a:latin typeface="DejaVu Sans"/>
                <a:cs typeface="DejaVu Sans"/>
              </a:rPr>
              <a:t>BMI</a:t>
            </a:r>
            <a:endParaRPr sz="1200" b="1" spc="-2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7143" y="7527977"/>
            <a:ext cx="9411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Cân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nặng</a:t>
            </a:r>
            <a:endParaRPr sz="1200" b="1" spc="-1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7195" y="7527977"/>
            <a:ext cx="77433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0080"/>
                </a:solidFill>
                <a:latin typeface="DejaVu Sans"/>
                <a:cs typeface="DejaVu Sans"/>
              </a:rPr>
              <a:t>Tiến</a:t>
            </a:r>
            <a:r>
              <a:rPr sz="1200" b="1" spc="-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endParaRPr sz="1200" b="1" spc="-18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07967" y="7527977"/>
            <a:ext cx="2038429" cy="60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Lời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khuyên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chuyên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0080"/>
                </a:solidFill>
                <a:latin typeface="DejaVu Sans"/>
                <a:cs typeface="DejaVu Sans"/>
              </a:rPr>
              <a:t>gia</a:t>
            </a:r>
            <a:endParaRPr sz="1200" b="1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1655"/>
              </a:spcBef>
              <a:spcAft>
                <a:spcPts val="0"/>
              </a:spcAft>
            </a:pPr>
            <a:r>
              <a:rPr sz="1200" b="1" spc="-63" dirty="0">
                <a:solidFill>
                  <a:srgbClr val="000080"/>
                </a:solidFill>
                <a:latin typeface="DejaVu Sans"/>
                <a:cs typeface="DejaVu Sans"/>
              </a:rPr>
              <a:t>Tù</a:t>
            </a:r>
            <a:r>
              <a:rPr sz="1200" b="1" spc="-43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y</a:t>
            </a:r>
            <a:r>
              <a:rPr sz="1200" b="1" spc="-2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chỉnh</a:t>
            </a:r>
            <a:endParaRPr sz="1200" b="1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35329" y="7527977"/>
            <a:ext cx="19564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Nhắc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0080"/>
                </a:solidFill>
                <a:latin typeface="DejaVu Sans"/>
                <a:cs typeface="DejaVu Sans"/>
              </a:rPr>
              <a:t>nhở</a:t>
            </a:r>
            <a:r>
              <a:rPr sz="12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200" b="1" spc="-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0080"/>
                </a:solidFill>
                <a:latin typeface="DejaVu Sans"/>
                <a:cs typeface="DejaVu Sans"/>
              </a:rPr>
              <a:t>minh</a:t>
            </a:r>
            <a:endParaRPr sz="1200" b="1" spc="-1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24941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33687" y="322124"/>
            <a:ext cx="6676807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79" dirty="0">
                <a:solidFill>
                  <a:srgbClr val="000080"/>
                </a:solidFill>
                <a:latin typeface="DejaVu Sans"/>
                <a:cs typeface="DejaVu Sans"/>
              </a:rPr>
              <a:t>IV.</a:t>
            </a:r>
            <a:r>
              <a:rPr sz="4050" b="1" spc="166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80"/>
                </a:solidFill>
                <a:latin typeface="DejaVu Sans"/>
                <a:cs typeface="DejaVu Sans"/>
              </a:rPr>
              <a:t>Nghệ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sử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endParaRPr sz="4050" b="1" spc="-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184" y="1417028"/>
            <a:ext cx="510425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4.1.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0080"/>
                </a:solidFill>
                <a:latin typeface="DejaVu Sans"/>
                <a:cs typeface="DejaVu Sans"/>
              </a:rPr>
              <a:t>Ngôn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ngữ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2000" b="1" spc="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Framework</a:t>
            </a:r>
            <a:r>
              <a:rPr sz="2000" b="1" spc="2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Chính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9622" y="1417028"/>
            <a:ext cx="3584723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4.2.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Thư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viện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2000" b="1" spc="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3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9832" y="2029647"/>
            <a:ext cx="4451340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Dart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&amp;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Flutter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Phát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triển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ứng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dụng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đa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nền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tảng.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3110"/>
              </a:spcBef>
              <a:spcAft>
                <a:spcPts val="0"/>
              </a:spcAft>
            </a:pP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Python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Linh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hoạt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cho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spc="-11" dirty="0">
                <a:solidFill>
                  <a:srgbClr val="F0F0F0"/>
                </a:solidFill>
                <a:latin typeface="DejaVu Sans"/>
                <a:cs typeface="DejaVu Sans"/>
              </a:rPr>
              <a:t>backend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&amp;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AI.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9956" y="2315397"/>
            <a:ext cx="242136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Quản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mã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nguồn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0080"/>
                </a:solidFill>
                <a:latin typeface="DejaVu Sans"/>
                <a:cs typeface="DejaVu Sans"/>
              </a:rPr>
              <a:t>Git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9956" y="2820222"/>
            <a:ext cx="2965135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Môi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trường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phát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triển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0080"/>
                </a:solidFill>
                <a:latin typeface="DejaVu Sans"/>
                <a:cs typeface="DejaVu Sans"/>
              </a:rPr>
              <a:t>VS</a:t>
            </a:r>
            <a:r>
              <a:rPr sz="13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0080"/>
                </a:solidFill>
                <a:latin typeface="DejaVu Sans"/>
                <a:cs typeface="DejaVu Sans"/>
              </a:rPr>
              <a:t>Code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2435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Thư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UI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kiểm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thử.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2485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Kiểm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thử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API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0080"/>
                </a:solidFill>
                <a:latin typeface="DejaVu Sans"/>
                <a:cs typeface="DejaVu Sans"/>
              </a:rPr>
              <a:t>Postman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.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9832" y="3229797"/>
            <a:ext cx="526870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1" dirty="0">
                <a:solidFill>
                  <a:srgbClr val="F0F0F0"/>
                </a:solidFill>
                <a:latin typeface="DejaVu Sans"/>
                <a:cs typeface="DejaVu Sans"/>
              </a:rPr>
              <a:t>JavaScript/TypeScript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Nền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tảng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web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mạnh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mẽ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spc="-15" dirty="0">
                <a:solidFill>
                  <a:srgbClr val="F0F0F0"/>
                </a:solidFill>
                <a:latin typeface="DejaVu Sans"/>
                <a:cs typeface="DejaVu Sans"/>
              </a:rPr>
              <a:t>React.</a:t>
            </a:r>
            <a:endParaRPr sz="1350" spc="-15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9622" y="4912704"/>
            <a:ext cx="2960768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4.3.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sở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liệu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55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Backend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96894" y="5849172"/>
            <a:ext cx="297446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PostgreSQL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Cơ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sở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dữ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liệu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quan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96894" y="6106347"/>
            <a:ext cx="41985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hệ.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6270" y="6687371"/>
            <a:ext cx="296471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MongoDB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Linh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hoạt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NoSQL.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75165" y="7258871"/>
            <a:ext cx="283619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Node.js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F0F0F0"/>
                </a:solidFill>
                <a:latin typeface="DejaVu Sans"/>
                <a:cs typeface="DejaVu Sans"/>
              </a:rPr>
              <a:t>(Express)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: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Xử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logic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75165" y="7516046"/>
            <a:ext cx="13649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phía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máy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0F0F0"/>
                </a:solidFill>
                <a:latin typeface="DejaVu Sans"/>
                <a:cs typeface="DejaVu Sans"/>
              </a:rPr>
              <a:t>chủ.</a:t>
            </a:r>
            <a:endParaRPr sz="1350" dirty="0">
              <a:solidFill>
                <a:srgbClr val="F0F0F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54176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10184" y="364547"/>
            <a:ext cx="652390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000000"/>
                </a:solidFill>
                <a:latin typeface="Liberation Sans"/>
                <a:cs typeface="Liberation Sans"/>
              </a:rPr>
              <a:t>4.1.</a:t>
            </a:r>
            <a:r>
              <a:rPr sz="3000" b="1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Liberation Sans"/>
                <a:cs typeface="Liberation Sans"/>
              </a:rPr>
              <a:t>Ngôn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3000" b="1" spc="1956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28A745"/>
                </a:solidFill>
                <a:latin typeface="Liberation Sans"/>
                <a:cs typeface="Liberation Sans"/>
              </a:rPr>
              <a:t>Framework</a:t>
            </a:r>
            <a:r>
              <a:rPr sz="3000" b="1" dirty="0">
                <a:solidFill>
                  <a:srgbClr val="28A745"/>
                </a:solidFill>
                <a:latin typeface="Liberation Sans"/>
                <a:cs typeface="Liberation Sans"/>
              </a:rPr>
              <a:t> </a:t>
            </a:r>
            <a:r>
              <a:rPr sz="3000" b="1" spc="11" dirty="0">
                <a:solidFill>
                  <a:srgbClr val="28A745"/>
                </a:solidFill>
                <a:latin typeface="Liberation Sans"/>
                <a:cs typeface="Liberation Sans"/>
              </a:rPr>
              <a:t>chính</a:t>
            </a:r>
            <a:endParaRPr sz="3000" b="1" spc="11" dirty="0">
              <a:solidFill>
                <a:srgbClr val="28A745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976" y="3585587"/>
            <a:ext cx="1560348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Flutter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SDK</a:t>
            </a:r>
            <a:endParaRPr sz="2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1532" y="3585587"/>
            <a:ext cx="311145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Ngôn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2000" b="1" spc="127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2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trình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Dart</a:t>
            </a:r>
            <a:endParaRPr sz="2000" b="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6454" y="4151094"/>
            <a:ext cx="2709762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UI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mã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ngu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ồ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ở</a:t>
            </a:r>
            <a:r>
              <a:rPr sz="1200" spc="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ừ</a:t>
            </a:r>
            <a:r>
              <a:rPr sz="1200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Google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2011" y="4151094"/>
            <a:ext cx="3284542" cy="616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ư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hóa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ặ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giao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di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ườ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dùng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405"/>
              </a:lnSpc>
              <a:spcBef>
                <a:spcPts val="179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ễ</a:t>
            </a:r>
            <a:r>
              <a:rPr sz="1200" spc="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ọ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cú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pháp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quen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thu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(C,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Java)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6454" y="4551144"/>
            <a:ext cx="4363082" cy="616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o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000000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g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đa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(Android,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iOS,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Web,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Desktop)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405"/>
              </a:lnSpc>
              <a:spcBef>
                <a:spcPts val="179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Hot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Reload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tăng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năng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su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phát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tri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2011" y="4951194"/>
            <a:ext cx="3125805" cy="616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Biên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d</a:t>
            </a:r>
            <a:r>
              <a:rPr sz="1200" spc="-33" dirty="0">
                <a:solidFill>
                  <a:srgbClr val="000000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ch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JIT</a:t>
            </a:r>
            <a:r>
              <a:rPr sz="1200" spc="-18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&amp;</a:t>
            </a:r>
            <a:r>
              <a:rPr sz="1200" spc="-58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AOT</a:t>
            </a:r>
            <a:r>
              <a:rPr sz="1200" spc="-2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cho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hi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u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su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v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ượ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i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1405"/>
              </a:lnSpc>
              <a:spcBef>
                <a:spcPts val="179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ỗ</a:t>
            </a:r>
            <a:r>
              <a:rPr sz="1200" spc="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tr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ợ</a:t>
            </a:r>
            <a:r>
              <a:rPr sz="1200" spc="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nh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m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ẽ</a:t>
            </a:r>
            <a:r>
              <a:rPr sz="1200" spc="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p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trình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không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000000"/>
                </a:solidFill>
                <a:latin typeface="DejaVu Sans"/>
                <a:cs typeface="DejaVu Sans"/>
              </a:rPr>
              <a:t>ồ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endParaRPr sz="120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6454" y="5351244"/>
            <a:ext cx="2560821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B</a:t>
            </a:r>
            <a:r>
              <a:rPr sz="1200" dirty="0">
                <a:solidFill>
                  <a:srgbClr val="000000"/>
                </a:solidFill>
                <a:latin typeface="DejaVu Sans"/>
                <a:cs typeface="DejaVu Sans"/>
              </a:rPr>
              <a:t>ộ</a:t>
            </a:r>
            <a:r>
              <a:rPr sz="1200" spc="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Widget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phong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phú,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tùy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200" spc="11" dirty="0">
                <a:solidFill>
                  <a:srgbClr val="000000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0000"/>
                </a:solidFill>
                <a:latin typeface="Liberation Sans"/>
                <a:cs typeface="Liberation Sans"/>
              </a:rPr>
              <a:t>cao</a:t>
            </a:r>
            <a:endParaRPr sz="1200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785" y="6710316"/>
            <a:ext cx="2569677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700" b="1" spc="56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0080"/>
                </a:solidFill>
                <a:latin typeface="Liberation Sans"/>
                <a:cs typeface="Liberation Sans"/>
              </a:rPr>
              <a:t>Đa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700" b="1" spc="56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endParaRPr sz="1700" b="1" spc="-12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656" y="7135554"/>
            <a:ext cx="506721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k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Flutter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Dart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mang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pháp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phát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656" y="7392729"/>
            <a:ext cx="47077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nhanh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chóng,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  <a:endParaRPr sz="1350" dirty="0">
              <a:solidFill>
                <a:srgbClr val="374151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91918" y="8165763"/>
            <a:ext cx="63256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000080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n: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Why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choose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flutter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for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app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development?,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Dart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Programming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Language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Script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Code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On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Stock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000080"/>
                </a:solidFill>
                <a:latin typeface="Liberation Sans"/>
                <a:cs typeface="Liberation Sans"/>
              </a:rPr>
              <a:t>Vector</a:t>
            </a:r>
            <a:endParaRPr sz="100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572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8490251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000080"/>
                </a:solidFill>
                <a:latin typeface="DejaVu Sans"/>
                <a:cs typeface="DejaVu Sans"/>
              </a:rPr>
              <a:t>4.2.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gói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DejaVu Sans"/>
                <a:cs typeface="DejaVu Sans"/>
              </a:rPr>
              <a:t>thư</a:t>
            </a:r>
            <a:r>
              <a:rPr sz="3000" b="1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DejaVu Sans"/>
                <a:cs typeface="DejaVu Sans"/>
              </a:rPr>
              <a:t>viện</a:t>
            </a:r>
            <a:r>
              <a:rPr sz="3000" b="1" spc="1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công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DejaVu Sans"/>
                <a:cs typeface="DejaVu Sans"/>
              </a:rPr>
              <a:t>cụ</a:t>
            </a:r>
            <a:r>
              <a:rPr sz="3000" b="1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hỗ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DejaVu Sans"/>
                <a:cs typeface="DejaVu Sans"/>
              </a:rPr>
              <a:t>trợ</a:t>
            </a:r>
            <a:endParaRPr sz="3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999" y="914855"/>
            <a:ext cx="556031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Essential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Libraries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1700" spc="-2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66" dirty="0">
                <a:solidFill>
                  <a:srgbClr val="000080"/>
                </a:solidFill>
                <a:latin typeface="DejaVu Sans"/>
                <a:cs typeface="DejaVu Sans"/>
              </a:rPr>
              <a:t>Tools</a:t>
            </a:r>
            <a:r>
              <a:rPr sz="1700" spc="4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for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Flutter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Development</a:t>
            </a:r>
            <a:endParaRPr sz="1700" spc="-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7945" y="1649035"/>
            <a:ext cx="228266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Provider/BLoC/GetX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9506" y="1649035"/>
            <a:ext cx="390743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path_provider,</a:t>
            </a:r>
            <a:r>
              <a:rPr sz="1500" b="1" spc="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shared_preferences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7945" y="1974394"/>
            <a:ext cx="4598325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lý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dụng,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luôn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đồng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bộ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phản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hồi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nhanh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chóng.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9506" y="1974394"/>
            <a:ext cx="4439136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Lưu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trữ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nhỏ,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tệp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tin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cục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trên</a:t>
            </a:r>
            <a:endParaRPr sz="1200" spc="-2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3781" y="2537123"/>
            <a:ext cx="13750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State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Management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14079" y="2537123"/>
            <a:ext cx="127428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Reactive</a:t>
            </a:r>
            <a:r>
              <a:rPr sz="1000" spc="1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Updates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65341" y="2537123"/>
            <a:ext cx="113185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Persistent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Data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92603" y="2537123"/>
            <a:ext cx="12375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User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Preferences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7945" y="3315910"/>
            <a:ext cx="108589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Firebase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09506" y="3315910"/>
            <a:ext cx="51253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intl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7945" y="3641269"/>
            <a:ext cx="4562001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tảng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Google,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cung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cấp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thực,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sở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thời</a:t>
            </a:r>
            <a:endParaRPr sz="1200" spc="-12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gian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lưu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trữ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đám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55" dirty="0">
                <a:solidFill>
                  <a:srgbClr val="374151"/>
                </a:solidFill>
                <a:latin typeface="DejaVu Sans"/>
                <a:cs typeface="DejaVu Sans"/>
              </a:rPr>
              <a:t>mây.</a:t>
            </a:r>
            <a:endParaRPr sz="1200" spc="-55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9506" y="3641269"/>
            <a:ext cx="4516622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dạng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ngày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giờ,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số,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văn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bản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theo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tắc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ngôn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khu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vực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khác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nhau.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3781" y="4203998"/>
            <a:ext cx="10921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Authentication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1157" y="4203998"/>
            <a:ext cx="7195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0" dirty="0">
                <a:solidFill>
                  <a:srgbClr val="166534"/>
                </a:solidFill>
                <a:latin typeface="DejaVu Sans"/>
                <a:cs typeface="DejaVu Sans"/>
              </a:rPr>
              <a:t>Firestore</a:t>
            </a:r>
            <a:endParaRPr sz="1000" spc="-1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65341" y="4203998"/>
            <a:ext cx="9128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Localization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71147" y="4203998"/>
            <a:ext cx="11981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Date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Formatting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7945" y="4973260"/>
            <a:ext cx="114901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http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/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dio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09506" y="4973260"/>
            <a:ext cx="95734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ﬂ_chart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7945" y="5298619"/>
            <a:ext cx="4742785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Gửi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nhận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mạng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bằng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yêu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HTTP,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hỗ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trợ</a:t>
            </a:r>
            <a:endParaRPr sz="1200" spc="-1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API.</a:t>
            </a:r>
            <a:endParaRPr sz="1200" spc="-12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09506" y="5298619"/>
            <a:ext cx="4631928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Tạo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loại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biểu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đồ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đẹp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mắt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tương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trực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hóa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370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dụng.</a:t>
            </a:r>
            <a:endParaRPr sz="1200" spc="-15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3781" y="5870873"/>
            <a:ext cx="11008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API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Integration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9938" y="5870873"/>
            <a:ext cx="10133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Data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166534"/>
                </a:solidFill>
                <a:latin typeface="DejaVu Sans"/>
                <a:cs typeface="DejaVu Sans"/>
              </a:rPr>
              <a:t>Transfer</a:t>
            </a:r>
            <a:endParaRPr sz="1000" spc="-15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65341" y="5870873"/>
            <a:ext cx="130096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Interactive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Charts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61672" y="5870873"/>
            <a:ext cx="99904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Data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Insights</a:t>
            </a:r>
            <a:endParaRPr sz="1000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4050" y="6916360"/>
            <a:ext cx="6318251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"Sự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hợp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minh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thư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chìa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khóa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để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xây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dựng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Flutter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mạnh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mẽ,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hiệu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quả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thân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với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dùng."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2567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5906" y="394469"/>
            <a:ext cx="8944631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372" dirty="0">
                <a:solidFill>
                  <a:srgbClr val="1F2937"/>
                </a:solidFill>
                <a:latin typeface="DejaVu Sans"/>
                <a:cs typeface="DejaVu Sans"/>
              </a:rPr>
              <a:t>V.</a:t>
            </a:r>
            <a:r>
              <a:rPr sz="3000" b="1" spc="389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DejaVu Sans"/>
                <a:cs typeface="DejaVu Sans"/>
              </a:rPr>
              <a:t>Giao</a:t>
            </a:r>
            <a:r>
              <a:rPr sz="30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DejaVu Sans"/>
                <a:cs typeface="DejaVu Sans"/>
              </a:rPr>
              <a:t>diện</a:t>
            </a:r>
            <a:r>
              <a:rPr sz="30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chức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năng</a:t>
            </a:r>
            <a:r>
              <a:rPr sz="3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DejaVu Sans"/>
                <a:cs typeface="DejaVu Sans"/>
              </a:rPr>
              <a:t>của</a:t>
            </a:r>
            <a:r>
              <a:rPr sz="3000" b="1" spc="1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16A34A"/>
                </a:solidFill>
                <a:latin typeface="DejaVu Sans"/>
                <a:cs typeface="DejaVu Sans"/>
              </a:rPr>
              <a:t>MyFitness</a:t>
            </a:r>
            <a:endParaRPr sz="3000" b="1" spc="15" dirty="0">
              <a:solidFill>
                <a:srgbClr val="16A34A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976" y="1646771"/>
            <a:ext cx="451540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5.1.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kế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giao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(UI/UX)</a:t>
            </a:r>
            <a:endParaRPr sz="2000" b="1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8967" y="1646771"/>
            <a:ext cx="318124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5.2.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Chức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chính</a:t>
            </a:r>
            <a:endParaRPr sz="2000" b="1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984" y="2202239"/>
            <a:ext cx="513461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Tập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trung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vào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trải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nghiệm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dùng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đơn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giản,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trực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quan</a:t>
            </a:r>
            <a:endParaRPr sz="1350" dirty="0">
              <a:solidFill>
                <a:srgbClr val="4B5563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tạo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động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lực.</a:t>
            </a:r>
            <a:endParaRPr sz="1350" dirty="0">
              <a:solidFill>
                <a:srgbClr val="4B5563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5937" y="2287964"/>
            <a:ext cx="1972644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Dinh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dưỡng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24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Quản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lý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Chỉ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cơ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thể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5439" y="2287964"/>
            <a:ext cx="185930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Luyện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tập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24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dõi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Nước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uống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576" y="2888039"/>
            <a:ext cx="2880313" cy="1389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Giao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sạch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sẽ,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thân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thiện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1435"/>
              </a:spcBef>
              <a:spcAft>
                <a:spcPts val="0"/>
              </a:spcAft>
            </a:pP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Luồng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thao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tác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mượt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mà,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logic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14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Màu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sắc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hiện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đại,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tạo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cảm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hứng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146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Cá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nhân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hóa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theo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sở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thích</a:t>
            </a:r>
            <a:endParaRPr sz="135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8967" y="3904196"/>
            <a:ext cx="4207685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5.3.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374151"/>
                </a:solidFill>
                <a:latin typeface="DejaVu Sans"/>
                <a:cs typeface="DejaVu Sans"/>
              </a:rPr>
              <a:t>Demo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ảnh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minh</a:t>
            </a:r>
            <a:endParaRPr sz="2000" b="1" spc="1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55"/>
              </a:spcBef>
              <a:spcAft>
                <a:spcPts val="0"/>
              </a:spcAft>
            </a:pP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họa</a:t>
            </a:r>
            <a:endParaRPr sz="2000" b="1" spc="1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976" y="5104346"/>
            <a:ext cx="344960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5.4.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Tính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độc</a:t>
            </a:r>
            <a:r>
              <a:rPr sz="2000" b="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374151"/>
                </a:solidFill>
                <a:latin typeface="DejaVu Sans"/>
                <a:cs typeface="DejaVu Sans"/>
              </a:rPr>
              <a:t>đáo</a:t>
            </a:r>
            <a:endParaRPr sz="2000" b="1" spc="1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984" y="5659814"/>
            <a:ext cx="520338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Các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tính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năng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nổi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bật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giúp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MyFitness</a:t>
            </a:r>
            <a:r>
              <a:rPr sz="1350" spc="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khác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biệt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hiệu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quả</a:t>
            </a:r>
            <a:endParaRPr sz="1350" dirty="0">
              <a:solidFill>
                <a:srgbClr val="4B5563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565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hơn.</a:t>
            </a:r>
            <a:endParaRPr sz="1350" dirty="0">
              <a:solidFill>
                <a:srgbClr val="4B5563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976" y="6469439"/>
            <a:ext cx="45143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3730A3"/>
                </a:solidFill>
                <a:latin typeface="DejaVu Sans"/>
                <a:cs typeface="DejaVu Sans"/>
              </a:rPr>
              <a:t>AI</a:t>
            </a:r>
            <a:r>
              <a:rPr sz="1350" b="1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3730A3"/>
                </a:solidFill>
                <a:latin typeface="DejaVu Sans"/>
                <a:cs typeface="DejaVu Sans"/>
              </a:rPr>
              <a:t>Coach:</a:t>
            </a:r>
            <a:r>
              <a:rPr sz="1350" b="1" spc="-40" dirty="0">
                <a:solidFill>
                  <a:srgbClr val="3730A3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Gợi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ý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kế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hoạch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dinh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dưỡng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luyện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tập</a:t>
            </a:r>
            <a:endParaRPr sz="135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976" y="6726614"/>
            <a:ext cx="118627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thông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minh.</a:t>
            </a:r>
            <a:endParaRPr sz="135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976" y="7364789"/>
            <a:ext cx="46089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9D174D"/>
                </a:solidFill>
                <a:latin typeface="DejaVu Sans"/>
                <a:cs typeface="DejaVu Sans"/>
              </a:rPr>
              <a:t>Quét</a:t>
            </a:r>
            <a:r>
              <a:rPr sz="1350" b="1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9D174D"/>
                </a:solidFill>
                <a:latin typeface="DejaVu Sans"/>
                <a:cs typeface="DejaVu Sans"/>
              </a:rPr>
              <a:t>mã</a:t>
            </a:r>
            <a:r>
              <a:rPr sz="1350" b="1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9D174D"/>
                </a:solidFill>
                <a:latin typeface="DejaVu Sans"/>
                <a:cs typeface="DejaVu Sans"/>
              </a:rPr>
              <a:t>vạch:</a:t>
            </a:r>
            <a:r>
              <a:rPr sz="1350" b="1" spc="-40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Nhập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liệu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thông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tin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dinh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dưỡng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sản</a:t>
            </a:r>
            <a:endParaRPr sz="135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976" y="7621964"/>
            <a:ext cx="186159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phẩm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nhanh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chóng.</a:t>
            </a:r>
            <a:endParaRPr sz="135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976" y="8260139"/>
            <a:ext cx="478477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15E59"/>
                </a:solidFill>
                <a:latin typeface="DejaVu Sans"/>
                <a:cs typeface="DejaVu Sans"/>
              </a:rPr>
              <a:t>Cộng</a:t>
            </a:r>
            <a:r>
              <a:rPr sz="1350" b="1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115E59"/>
                </a:solidFill>
                <a:latin typeface="DejaVu Sans"/>
                <a:cs typeface="DejaVu Sans"/>
              </a:rPr>
              <a:t>đồng:</a:t>
            </a:r>
            <a:r>
              <a:rPr sz="1350" b="1" spc="-40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Kết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nối,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chia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sẻ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thách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đấu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với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bạn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00"/>
                </a:solidFill>
                <a:latin typeface="DejaVu Sans"/>
                <a:cs typeface="DejaVu Sans"/>
              </a:rPr>
              <a:t>bè.</a:t>
            </a:r>
            <a:endParaRPr sz="1350" dirty="0">
              <a:solidFill>
                <a:srgbClr val="000000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54104" y="8422819"/>
            <a:ext cx="13819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Nhật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56" dirty="0">
                <a:solidFill>
                  <a:srgbClr val="4B5563"/>
                </a:solidFill>
                <a:latin typeface="DejaVu Sans"/>
                <a:cs typeface="DejaVu Sans"/>
              </a:rPr>
              <a:t>ký</a:t>
            </a:r>
            <a:r>
              <a:rPr sz="1200" spc="34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ăn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uống</a:t>
            </a:r>
            <a:endParaRPr sz="1200" spc="-15" dirty="0">
              <a:solidFill>
                <a:srgbClr val="4B5563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32315" y="8422819"/>
            <a:ext cx="11225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Chỉ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cơ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thể</a:t>
            </a:r>
            <a:endParaRPr sz="1200" spc="-12" dirty="0">
              <a:solidFill>
                <a:srgbClr val="4B5563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39969" y="8422819"/>
            <a:ext cx="12042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Lịch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DejaVu Sans"/>
                <a:cs typeface="DejaVu Sans"/>
              </a:rPr>
              <a:t>tập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luyện</a:t>
            </a:r>
            <a:endParaRPr sz="1200" spc="-12" dirty="0">
              <a:solidFill>
                <a:srgbClr val="4B5563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03820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3300"/>
            <a:ext cx="10069611" cy="1148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5.1.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Thiết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kế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endParaRPr sz="4050" b="1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28A745"/>
                </a:solidFill>
                <a:latin typeface="DejaVu Sans"/>
                <a:cs typeface="DejaVu Sans"/>
              </a:rPr>
              <a:t>(UI/UX)</a:t>
            </a:r>
            <a:endParaRPr sz="4050" b="1" spc="-10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984" y="1933029"/>
            <a:ext cx="3366235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Nguyên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tắc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cốt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lõi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55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UI/UX</a:t>
            </a:r>
            <a:endParaRPr sz="20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576" y="2802068"/>
            <a:ext cx="359565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Đơn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giản: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Tối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hóa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sự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spc="-28" dirty="0">
                <a:solidFill>
                  <a:srgbClr val="374151"/>
                </a:solidFill>
                <a:latin typeface="DejaVu Sans"/>
                <a:cs typeface="DejaVu Sans"/>
              </a:rPr>
              <a:t>rõ</a:t>
            </a:r>
            <a:r>
              <a:rPr sz="1500" spc="3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ràng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576" y="3097343"/>
            <a:ext cx="248017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dễ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hiểu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576" y="3573593"/>
            <a:ext cx="349876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36" dirty="0">
                <a:solidFill>
                  <a:srgbClr val="000080"/>
                </a:solidFill>
                <a:latin typeface="DejaVu Sans"/>
                <a:cs typeface="DejaVu Sans"/>
              </a:rPr>
              <a:t>Trực</a:t>
            </a:r>
            <a:r>
              <a:rPr sz="1500" b="1" spc="46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quan: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Đảm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dễ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dàng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tiếp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576" y="3868868"/>
            <a:ext cx="293474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cận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sử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dụng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ngay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lập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tức.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576" y="4335593"/>
            <a:ext cx="380080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Thân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thiện: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Tạo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trải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nghiệm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dễ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chịu,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576" y="4630868"/>
            <a:ext cx="247436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khuyến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khích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tương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tác.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3876" y="4622098"/>
            <a:ext cx="378111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Giao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hiện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đại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linh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hoạt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41614" y="5476330"/>
            <a:ext cx="457353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0080"/>
                </a:solidFill>
                <a:latin typeface="DejaVu Sans"/>
                <a:cs typeface="DejaVu Sans"/>
              </a:rPr>
              <a:t>Đồng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nhất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000080"/>
                </a:solidFill>
                <a:latin typeface="DejaVu Sans"/>
                <a:cs typeface="DejaVu Sans"/>
              </a:rPr>
              <a:t>Màu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sắc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2000" b="1" spc="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-15" dirty="0">
                <a:solidFill>
                  <a:srgbClr val="000080"/>
                </a:solidFill>
                <a:latin typeface="DejaVu Sans"/>
                <a:cs typeface="DejaVu Sans"/>
              </a:rPr>
              <a:t>Font</a:t>
            </a:r>
            <a:r>
              <a:rPr sz="2000" b="1" spc="2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chữ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3184" y="5771605"/>
            <a:ext cx="371770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6" dirty="0">
                <a:solidFill>
                  <a:srgbClr val="000080"/>
                </a:solidFill>
                <a:latin typeface="DejaVu Sans"/>
                <a:cs typeface="DejaVu Sans"/>
              </a:rPr>
              <a:t>Tùy</a:t>
            </a:r>
            <a:r>
              <a:rPr sz="2000" b="1" spc="72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chỉnh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&amp;</a:t>
            </a:r>
            <a:r>
              <a:rPr sz="2000" b="1" spc="1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hóa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79008" y="6040568"/>
            <a:ext cx="1235545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Bảng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spc="10" dirty="0">
                <a:solidFill>
                  <a:srgbClr val="000080"/>
                </a:solidFill>
                <a:latin typeface="DejaVu Sans"/>
                <a:cs typeface="DejaVu Sans"/>
              </a:rPr>
              <a:t>màu</a:t>
            </a:r>
            <a:endParaRPr sz="1500" b="1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chính: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1987" y="6040568"/>
            <a:ext cx="3340009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Nền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sáng,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chữ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đậm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màu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nhấn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mạnh.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776" y="6297743"/>
            <a:ext cx="337146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Linh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hoạt: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phép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dùng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9776" y="6602543"/>
            <a:ext cx="216078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điều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chỉnh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giao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diện.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77817" y="6850193"/>
            <a:ext cx="643992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11" dirty="0">
                <a:solidFill>
                  <a:srgbClr val="000080"/>
                </a:solidFill>
                <a:latin typeface="DejaVu Sans"/>
                <a:cs typeface="DejaVu Sans"/>
              </a:rPr>
              <a:t>Font</a:t>
            </a:r>
            <a:endParaRPr sz="1500" b="1" spc="-1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chữ: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22900" y="6850193"/>
            <a:ext cx="4333512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60" dirty="0">
                <a:solidFill>
                  <a:srgbClr val="374151"/>
                </a:solidFill>
                <a:latin typeface="DejaVu Sans"/>
                <a:cs typeface="DejaVu Sans"/>
              </a:rPr>
              <a:t>Rõ</a:t>
            </a:r>
            <a:r>
              <a:rPr sz="1500" spc="7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ràng,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dễ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đọc,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phù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nhận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thương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hiệu.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9776" y="7069268"/>
            <a:ext cx="3606262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36" dirty="0">
                <a:solidFill>
                  <a:srgbClr val="000080"/>
                </a:solidFill>
                <a:latin typeface="DejaVu Sans"/>
                <a:cs typeface="DejaVu Sans"/>
              </a:rPr>
              <a:t>Trải</a:t>
            </a:r>
            <a:r>
              <a:rPr sz="1500" b="1" spc="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nghiệm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độc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đáo: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Phù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9776" y="7364543"/>
            <a:ext cx="1797436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sở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thích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nhân.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71864" y="7659818"/>
            <a:ext cx="1184072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Tính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nhất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quán: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11069" y="7659818"/>
            <a:ext cx="3795515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Đảm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sự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đồng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bộ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trên</a:t>
            </a:r>
            <a:r>
              <a:rPr sz="1500" spc="17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toàn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bộ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sản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phẩm.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9776" y="7831268"/>
            <a:ext cx="362454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Tăng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cường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gắn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kết:</a:t>
            </a:r>
            <a:r>
              <a:rPr sz="1500" b="1" spc="-4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Nâng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cao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sự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9776" y="8136068"/>
            <a:ext cx="212666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hài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lòng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248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53431" y="376231"/>
            <a:ext cx="7437316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7E22CE"/>
                </a:solidFill>
                <a:latin typeface="Liberation Sans"/>
                <a:cs typeface="Liberation Sans"/>
              </a:rPr>
              <a:t>5.2.</a:t>
            </a:r>
            <a:r>
              <a:rPr sz="3000" b="1" spc="86" dirty="0">
                <a:solidFill>
                  <a:srgbClr val="7E22C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15" dirty="0">
                <a:solidFill>
                  <a:srgbClr val="1F2937"/>
                </a:solidFill>
                <a:latin typeface="Liberation Sans"/>
                <a:cs typeface="Liberation Sans"/>
              </a:rPr>
              <a:t>Các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3000" b="1" spc="1118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sz="3000" b="1" spc="2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Liberation Sans"/>
                <a:cs typeface="Liberation Sans"/>
              </a:rPr>
              <a:t>năng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1" dirty="0">
                <a:solidFill>
                  <a:srgbClr val="1F2937"/>
                </a:solidFill>
                <a:latin typeface="Liberation Sans"/>
                <a:cs typeface="Liberation Sans"/>
              </a:rPr>
              <a:t>chính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sz="3000" b="1" spc="113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sz="3000" b="1" spc="197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sz="3000" b="1" spc="113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endParaRPr sz="3000" b="1" spc="14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924" y="1321590"/>
            <a:ext cx="2648591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sz="1500" b="1" spc="48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Dinh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sz="1500" b="1" spc="146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sz="1500" b="1" spc="1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Calo</a:t>
            </a:r>
            <a:endParaRPr sz="15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3914" y="1321590"/>
            <a:ext cx="2763668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Theo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dõi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sz="1500" b="1" spc="482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đ</a:t>
            </a:r>
            <a:r>
              <a:rPr sz="1500" b="1" spc="49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r>
              <a:rPr sz="1500" b="1" spc="906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500" b="1" spc="48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endParaRPr sz="15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5054" y="1321590"/>
            <a:ext cx="2013850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Qu</a:t>
            </a:r>
            <a:r>
              <a:rPr sz="1500" b="1" spc="48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lý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500" b="1" spc="45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sz="1500" b="1" spc="91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sz="1500" b="1" spc="91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th</a:t>
            </a:r>
            <a:endParaRPr sz="15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639" y="1728268"/>
            <a:ext cx="21990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Ghi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ký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ăn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hàng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34" dirty="0">
                <a:solidFill>
                  <a:srgbClr val="4B5563"/>
                </a:solidFill>
                <a:latin typeface="Liberation Sans"/>
                <a:cs typeface="Liberation Sans"/>
              </a:rPr>
              <a:t>ngày.</a:t>
            </a:r>
            <a:endParaRPr sz="1200" spc="-34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629" y="1728268"/>
            <a:ext cx="23424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Theo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dõi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ươ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trình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sz="1200" spc="11" dirty="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p.</a:t>
            </a:r>
            <a:endParaRPr sz="1200" spc="-14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93769" y="1728268"/>
            <a:ext cx="193603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ng,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chi</a:t>
            </a:r>
            <a:r>
              <a:rPr sz="1200" spc="11" dirty="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cao,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BMI.</a:t>
            </a:r>
            <a:endParaRPr sz="1200" spc="-15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639" y="1988870"/>
            <a:ext cx="238432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5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Theo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dõi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Calo,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Carb,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Protein,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Fat.</a:t>
            </a:r>
            <a:endParaRPr sz="1200" spc="-11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2629" y="1985443"/>
            <a:ext cx="22468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sz="1200" spc="37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xu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bài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ti</a:t>
            </a:r>
            <a:r>
              <a:rPr sz="1200" spc="11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theo.</a:t>
            </a:r>
            <a:endParaRPr sz="1200" spc="-11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93769" y="1985443"/>
            <a:ext cx="196488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Đo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ườ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&amp;</a:t>
            </a:r>
            <a:r>
              <a:rPr sz="1200" spc="-23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theo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dõi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%</a:t>
            </a:r>
            <a:r>
              <a:rPr sz="1200" spc="-2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ỡ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.</a:t>
            </a:r>
            <a:endParaRPr sz="120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2924" y="4664865"/>
            <a:ext cx="2047114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Theo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dõi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sz="1500" b="1" spc="146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sz="1500" b="1" spc="146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endParaRPr sz="15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4484" y="4664865"/>
            <a:ext cx="2236970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K</a:t>
            </a:r>
            <a:r>
              <a:rPr sz="1500" b="1" spc="91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ho</a:t>
            </a:r>
            <a:r>
              <a:rPr sz="1500" b="1" spc="482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Cá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nhân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1F2937"/>
                </a:solidFill>
                <a:latin typeface="Liberation Sans"/>
                <a:cs typeface="Liberation Sans"/>
              </a:rPr>
              <a:t>hóa</a:t>
            </a:r>
            <a:endParaRPr sz="15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639" y="5071543"/>
            <a:ext cx="2725581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Ghi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chép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ướ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hàng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34" dirty="0">
                <a:solidFill>
                  <a:srgbClr val="4B5563"/>
                </a:solidFill>
                <a:latin typeface="Liberation Sans"/>
                <a:cs typeface="Liberation Sans"/>
              </a:rPr>
              <a:t>ngày.</a:t>
            </a:r>
            <a:endParaRPr sz="1200" spc="-34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53199" y="5071543"/>
            <a:ext cx="2404297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G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ợ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ý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ơ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phù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ợ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tiêu.</a:t>
            </a:r>
            <a:endParaRPr sz="1200" spc="-1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1639" y="5328718"/>
            <a:ext cx="309676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tiêu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ắ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ở</a:t>
            </a:r>
            <a:r>
              <a:rPr sz="1200" spc="41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ướ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c.</a:t>
            </a:r>
            <a:endParaRPr sz="1200" spc="-11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3199" y="5328718"/>
            <a:ext cx="2856406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sz="1200" spc="37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xu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k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200" spc="37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Liberation Sans"/>
                <a:cs typeface="Liberation Sans"/>
              </a:rPr>
              <a:t>ho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sz="1200" spc="11" dirty="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thông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minh.</a:t>
            </a:r>
            <a:endParaRPr sz="1200" spc="-12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43864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06700" y="375723"/>
            <a:ext cx="5130852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1F2937"/>
                </a:solidFill>
                <a:latin typeface="Liberation Sans"/>
                <a:cs typeface="Liberation Sans"/>
              </a:rPr>
              <a:t>5.3.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1F2937"/>
                </a:solidFill>
                <a:latin typeface="Liberation Sans"/>
                <a:cs typeface="Liberation Sans"/>
              </a:rPr>
              <a:t>Demo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1F2937"/>
                </a:solidFill>
                <a:latin typeface="Liberation Sans"/>
                <a:cs typeface="Liberation Sans"/>
              </a:rPr>
              <a:t>và</a:t>
            </a:r>
            <a:r>
              <a:rPr sz="3000" b="1" spc="188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1F2937"/>
                </a:solidFill>
                <a:latin typeface="Liberation Sans"/>
                <a:cs typeface="Liberation Sans"/>
              </a:rPr>
              <a:t>minh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h</a:t>
            </a:r>
            <a:r>
              <a:rPr sz="3000" b="1" spc="1056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endParaRPr sz="3000" b="1" dirty="0">
              <a:solidFill>
                <a:srgbClr val="1F2937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9809" y="926151"/>
            <a:ext cx="490476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23" dirty="0">
                <a:solidFill>
                  <a:srgbClr val="6B7280"/>
                </a:solidFill>
                <a:latin typeface="Liberation Sans"/>
                <a:cs typeface="Liberation Sans"/>
              </a:rPr>
              <a:t>Tr</a:t>
            </a:r>
            <a:r>
              <a:rPr sz="1500" spc="-18" dirty="0">
                <a:solidFill>
                  <a:srgbClr val="6B7280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i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nghi</a:t>
            </a:r>
            <a:r>
              <a:rPr sz="1500" spc="-23" dirty="0">
                <a:solidFill>
                  <a:srgbClr val="6B7280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th</a:t>
            </a:r>
            <a:r>
              <a:rPr sz="1500" spc="23" dirty="0">
                <a:solidFill>
                  <a:srgbClr val="6B7280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6B7280"/>
                </a:solidFill>
                <a:latin typeface="DejaVu Sans"/>
                <a:cs typeface="DejaVu Sans"/>
              </a:rPr>
              <a:t>ế</a:t>
            </a:r>
            <a:r>
              <a:rPr sz="1500" spc="21" dirty="0">
                <a:solidFill>
                  <a:srgbClr val="6B72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các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tính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năng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c</a:t>
            </a:r>
            <a:r>
              <a:rPr sz="1500" spc="-18" dirty="0">
                <a:solidFill>
                  <a:srgbClr val="6B7280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lõi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c</a:t>
            </a:r>
            <a:r>
              <a:rPr sz="1500" spc="23" dirty="0">
                <a:solidFill>
                  <a:srgbClr val="6B7280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6B728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6B7280"/>
                </a:solidFill>
                <a:latin typeface="Liberation Sans"/>
                <a:cs typeface="Liberation Sans"/>
              </a:rPr>
              <a:t>MyFitness</a:t>
            </a:r>
            <a:endParaRPr sz="1500" dirty="0">
              <a:solidFill>
                <a:srgbClr val="6B7280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256" y="5568968"/>
            <a:ext cx="2682315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11827"/>
                </a:solidFill>
                <a:latin typeface="Liberation Sans"/>
                <a:cs typeface="Liberation Sans"/>
              </a:rPr>
              <a:t>Màn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111827"/>
                </a:solidFill>
                <a:latin typeface="Liberation Sans"/>
                <a:cs typeface="Liberation Sans"/>
              </a:rPr>
              <a:t>hình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111827"/>
                </a:solidFill>
                <a:latin typeface="Liberation Sans"/>
                <a:cs typeface="Liberation Sans"/>
              </a:rPr>
              <a:t>Nh</a:t>
            </a:r>
            <a:r>
              <a:rPr sz="1700" b="1" spc="580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111827"/>
                </a:solidFill>
                <a:latin typeface="Liberation Sans"/>
                <a:cs typeface="Liberation Sans"/>
              </a:rPr>
              <a:t>ký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c</a:t>
            </a:r>
            <a:r>
              <a:rPr sz="1700" b="1" spc="565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a</a:t>
            </a:r>
            <a:r>
              <a:rPr sz="1700" b="1" spc="-17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111827"/>
                </a:solidFill>
                <a:latin typeface="Liberation Sans"/>
                <a:cs typeface="Liberation Sans"/>
              </a:rPr>
              <a:t>tôi</a:t>
            </a:r>
            <a:endParaRPr sz="1700" b="1" spc="-10" dirty="0">
              <a:solidFill>
                <a:srgbClr val="111827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5317" y="5568968"/>
            <a:ext cx="236002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11827"/>
                </a:solidFill>
                <a:latin typeface="Liberation Sans"/>
                <a:cs typeface="Liberation Sans"/>
              </a:rPr>
              <a:t>Theo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11827"/>
                </a:solidFill>
                <a:latin typeface="Liberation Sans"/>
                <a:cs typeface="Liberation Sans"/>
              </a:rPr>
              <a:t>dõi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111827"/>
                </a:solidFill>
                <a:latin typeface="Liberation Sans"/>
                <a:cs typeface="Liberation Sans"/>
              </a:rPr>
              <a:t>Ch</a:t>
            </a:r>
            <a:r>
              <a:rPr sz="1700" b="1" spc="446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s</a:t>
            </a:r>
            <a:r>
              <a:rPr sz="1700" b="1" spc="1032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C</a:t>
            </a:r>
            <a:r>
              <a:rPr sz="1700" b="1" spc="1028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th</a:t>
            </a:r>
            <a:endParaRPr sz="1700" b="1" dirty="0">
              <a:solidFill>
                <a:srgbClr val="111827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03654" y="5568968"/>
            <a:ext cx="218426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11827"/>
                </a:solidFill>
                <a:latin typeface="Liberation Sans"/>
                <a:cs typeface="Liberation Sans"/>
              </a:rPr>
              <a:t>Màn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111827"/>
                </a:solidFill>
                <a:latin typeface="Liberation Sans"/>
                <a:cs typeface="Liberation Sans"/>
              </a:rPr>
              <a:t>hình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111827"/>
                </a:solidFill>
                <a:latin typeface="Liberation Sans"/>
                <a:cs typeface="Liberation Sans"/>
              </a:rPr>
              <a:t>Luy</a:t>
            </a:r>
            <a:r>
              <a:rPr sz="1700" b="1" spc="578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t</a:t>
            </a:r>
            <a:r>
              <a:rPr sz="1700" b="1" spc="571" dirty="0">
                <a:solidFill>
                  <a:srgbClr val="111827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111827"/>
                </a:solidFill>
                <a:latin typeface="Liberation Sans"/>
                <a:cs typeface="Liberation Sans"/>
              </a:rPr>
              <a:t>p</a:t>
            </a:r>
            <a:endParaRPr sz="1700" b="1" dirty="0">
              <a:solidFill>
                <a:srgbClr val="111827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0862" y="6032305"/>
            <a:ext cx="282674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Theo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dõi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Calo: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lý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calo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4567" y="6032305"/>
            <a:ext cx="25429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350" b="1" spc="374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s</a:t>
            </a:r>
            <a:r>
              <a:rPr sz="1350" b="1" spc="818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chính: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ng,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8271" y="6032305"/>
            <a:ext cx="284699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Ch</a:t>
            </a:r>
            <a:r>
              <a:rPr sz="1350" b="1" spc="1276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trình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350" b="1" spc="448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p: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K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350" spc="30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ho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luy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0862" y="6289480"/>
            <a:ext cx="224517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đã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ăn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còn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spc="-28" dirty="0">
                <a:solidFill>
                  <a:srgbClr val="4B5563"/>
                </a:solidFill>
                <a:latin typeface="Liberation Sans"/>
                <a:cs typeface="Liberation Sans"/>
              </a:rPr>
              <a:t>ngày.</a:t>
            </a:r>
            <a:endParaRPr sz="1350" spc="-28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4567" y="6289480"/>
            <a:ext cx="15936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cao,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BMI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%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ỡ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8271" y="6289480"/>
            <a:ext cx="18701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cá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nhân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hóa.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0862" y="6670480"/>
            <a:ext cx="256196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Dinh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d</a:t>
            </a:r>
            <a:r>
              <a:rPr sz="1350" b="1" spc="127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đa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l</a:t>
            </a:r>
            <a:r>
              <a:rPr sz="1350" b="1" spc="1272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ng: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Cân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4567" y="6670480"/>
            <a:ext cx="28715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Tình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tr</a:t>
            </a:r>
            <a:r>
              <a:rPr sz="1350" b="1" spc="45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ng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sz="1350" b="1" spc="127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c:</a:t>
            </a:r>
            <a:r>
              <a:rPr sz="1350" b="1" spc="-25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Theo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dõi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ắ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8271" y="6670480"/>
            <a:ext cx="27328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Bài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350" b="1" spc="448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sz="1350" b="1" spc="450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p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theo: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H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ẫ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chi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0862" y="6931573"/>
            <a:ext cx="1858672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Carbs,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Protein,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Fat.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4567" y="6927655"/>
            <a:ext cx="161512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ở</a:t>
            </a:r>
            <a:r>
              <a:rPr sz="1350" spc="34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350" spc="-15" dirty="0">
                <a:solidFill>
                  <a:srgbClr val="4B5563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spc="-31" dirty="0">
                <a:solidFill>
                  <a:srgbClr val="4B5563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98271" y="6927655"/>
            <a:ext cx="18605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cho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350" spc="-31" dirty="0">
                <a:solidFill>
                  <a:srgbClr val="4B5563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tác.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0862" y="7318180"/>
            <a:ext cx="271322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sz="1350" b="1" spc="45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ký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b</a:t>
            </a:r>
            <a:r>
              <a:rPr sz="1350" b="1" spc="446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a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ăn: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Ghi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chép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chi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4567" y="7318180"/>
            <a:ext cx="273853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28" dirty="0">
                <a:solidFill>
                  <a:srgbClr val="1F2937"/>
                </a:solidFill>
                <a:latin typeface="Liberation Sans"/>
                <a:cs typeface="Liberation Sans"/>
              </a:rPr>
              <a:t>Ti</a:t>
            </a:r>
            <a:r>
              <a:rPr sz="1350" b="1" spc="476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trình: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Ghi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tr</a:t>
            </a:r>
            <a:r>
              <a:rPr sz="1350" spc="-31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quan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98271" y="7318180"/>
            <a:ext cx="274929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sz="1350" b="1" spc="45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nh</a:t>
            </a:r>
            <a:r>
              <a:rPr sz="1350" b="1" spc="822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&amp;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C</a:t>
            </a:r>
            <a:r>
              <a:rPr sz="1350" b="1" spc="818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1F2937"/>
                </a:solidFill>
                <a:latin typeface="Liberation Sans"/>
                <a:cs typeface="Liberation Sans"/>
              </a:rPr>
              <a:t>vũ:</a:t>
            </a:r>
            <a:r>
              <a:rPr sz="1350" b="1" spc="-23" dirty="0">
                <a:solidFill>
                  <a:srgbClr val="1F2937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o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l</a:t>
            </a:r>
            <a:r>
              <a:rPr sz="1350" spc="-31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0862" y="7575355"/>
            <a:ext cx="188490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các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b</a:t>
            </a:r>
            <a:r>
              <a:rPr sz="1350" spc="-31" dirty="0">
                <a:solidFill>
                  <a:srgbClr val="4B5563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a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ăn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trong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spc="-28" dirty="0">
                <a:solidFill>
                  <a:srgbClr val="4B5563"/>
                </a:solidFill>
                <a:latin typeface="Liberation Sans"/>
                <a:cs typeface="Liberation Sans"/>
              </a:rPr>
              <a:t>ngày.</a:t>
            </a:r>
            <a:endParaRPr sz="1350" spc="-28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4567" y="7575355"/>
            <a:ext cx="245798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hóa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4B556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thay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theo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gian.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98271" y="7579273"/>
            <a:ext cx="1650473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duy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trì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thói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4B5563"/>
                </a:solidFill>
                <a:latin typeface="Liberation Sans"/>
                <a:cs typeface="Liberation Sans"/>
              </a:rPr>
              <a:t>quen.</a:t>
            </a:r>
            <a:endParaRPr sz="1350" dirty="0">
              <a:solidFill>
                <a:srgbClr val="4B5563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5720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3300"/>
            <a:ext cx="935334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1F2937"/>
                </a:solidFill>
                <a:latin typeface="DejaVu Sans"/>
                <a:cs typeface="DejaVu Sans"/>
              </a:rPr>
              <a:t>VI.</a:t>
            </a:r>
            <a:r>
              <a:rPr sz="405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80"/>
                </a:solidFill>
                <a:latin typeface="DejaVu Sans"/>
                <a:cs typeface="DejaVu Sans"/>
              </a:rPr>
              <a:t>Hạn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chế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1F2937"/>
                </a:solidFill>
                <a:latin typeface="DejaVu Sans"/>
                <a:cs typeface="DejaVu Sans"/>
              </a:rPr>
              <a:t>và</a:t>
            </a:r>
            <a:r>
              <a:rPr sz="405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hướng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phát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 </a:t>
            </a:r>
            <a:r>
              <a:rPr sz="4050" b="1" dirty="0">
                <a:solidFill>
                  <a:srgbClr val="28A745"/>
                </a:solidFill>
                <a:latin typeface="DejaVu Sans"/>
                <a:cs typeface="DejaVu Sans"/>
              </a:rPr>
              <a:t>triển</a:t>
            </a:r>
            <a:endParaRPr sz="4050" b="1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0804" y="1428204"/>
            <a:ext cx="2043443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Tính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năng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dự</a:t>
            </a:r>
            <a:endParaRPr sz="2000" b="1" spc="10" dirty="0">
              <a:solidFill>
                <a:srgbClr val="1F2937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30"/>
              </a:spcBef>
              <a:spcAft>
                <a:spcPts val="0"/>
              </a:spcAft>
            </a:pP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kiến</a:t>
            </a:r>
            <a:endParaRPr sz="2000" b="1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6082" y="1428204"/>
            <a:ext cx="2196432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Tiềm</a:t>
            </a:r>
            <a:r>
              <a:rPr sz="2000" b="1" spc="12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năng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1F2937"/>
                </a:solidFill>
                <a:latin typeface="DejaVu Sans"/>
                <a:cs typeface="DejaVu Sans"/>
              </a:rPr>
              <a:t>mở</a:t>
            </a:r>
            <a:endParaRPr sz="2000" b="1" spc="15" dirty="0">
              <a:solidFill>
                <a:srgbClr val="1F2937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330"/>
              </a:spcBef>
              <a:spcAft>
                <a:spcPts val="0"/>
              </a:spcAft>
            </a:pP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rộng</a:t>
            </a:r>
            <a:endParaRPr sz="2000" b="1" spc="10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5526" y="1504404"/>
            <a:ext cx="250527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1F2937"/>
                </a:solidFill>
                <a:latin typeface="DejaVu Sans"/>
                <a:cs typeface="DejaVu Sans"/>
              </a:rPr>
              <a:t>Hạn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F2937"/>
                </a:solidFill>
                <a:latin typeface="DejaVu Sans"/>
                <a:cs typeface="DejaVu Sans"/>
              </a:rPr>
              <a:t>chế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hiện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F2937"/>
                </a:solidFill>
                <a:latin typeface="DejaVu Sans"/>
                <a:cs typeface="DejaVu Sans"/>
              </a:rPr>
              <a:t>tại</a:t>
            </a:r>
            <a:endParaRPr sz="2000" b="1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483" y="2116268"/>
            <a:ext cx="2911035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Cơ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sở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thực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phẩm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hạn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chế.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4291" y="2287718"/>
            <a:ext cx="2698890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nhân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hóa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lộ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trình.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06295" y="2287718"/>
            <a:ext cx="213174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bị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đeo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(Wearables).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3684" y="2840168"/>
            <a:ext cx="2978893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Giao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diện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có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thể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phức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tạp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mới.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6999" y="3011618"/>
            <a:ext cx="2721016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rộng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tùy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chỉnh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cá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nhân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sâu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hơn.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17011" y="3011618"/>
            <a:ext cx="287980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rộng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ra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spc="-34" dirty="0">
                <a:solidFill>
                  <a:srgbClr val="374151"/>
                </a:solidFill>
                <a:latin typeface="DejaVu Sans"/>
                <a:cs typeface="DejaVu Sans"/>
              </a:rPr>
              <a:t>Web</a:t>
            </a:r>
            <a:r>
              <a:rPr sz="1500" spc="46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Desktop.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02128" y="3440243"/>
            <a:ext cx="2541492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Cung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cấp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API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đối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tác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triển.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935" y="3573593"/>
            <a:ext cx="260205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cần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tối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trên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thiết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bị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cũ.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9706" y="3735518"/>
            <a:ext cx="3002342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triển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chế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độ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ngoại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tuyến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nâng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cao.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04212" y="4164143"/>
            <a:ext cx="2639175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Xây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dựng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hệ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sinh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thái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sức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khỏe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số.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185" y="4297493"/>
            <a:ext cx="2866037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Tính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năng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cộng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đồng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còn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sơ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khai.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92265" y="4468943"/>
            <a:ext cx="2921909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Phân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chuyên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sâu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cho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người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dùng.</a:t>
            </a:r>
            <a:endParaRPr sz="1500" dirty="0">
              <a:solidFill>
                <a:srgbClr val="374151"/>
              </a:solidFill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9745" y="5241977"/>
            <a:ext cx="9268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E40AF"/>
                </a:solidFill>
                <a:latin typeface="DejaVu Sans"/>
                <a:cs typeface="DejaVu Sans"/>
              </a:rPr>
              <a:t>UX</a:t>
            </a:r>
            <a:r>
              <a:rPr sz="120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40AF"/>
                </a:solidFill>
                <a:latin typeface="DejaVu Sans"/>
                <a:cs typeface="DejaVu Sans"/>
              </a:rPr>
              <a:t>Design</a:t>
            </a:r>
            <a:endParaRPr sz="1200" spc="-14" dirty="0">
              <a:solidFill>
                <a:srgbClr val="1E40AF"/>
              </a:solidFill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92647" y="5241977"/>
            <a:ext cx="11067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991B1B"/>
                </a:solidFill>
                <a:latin typeface="DejaVu Sans"/>
                <a:cs typeface="DejaVu Sans"/>
              </a:rPr>
              <a:t>Performance</a:t>
            </a:r>
            <a:endParaRPr sz="1200" spc="-20" dirty="0">
              <a:solidFill>
                <a:srgbClr val="991B1B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5023" y="5241977"/>
            <a:ext cx="5610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166534"/>
                </a:solidFill>
                <a:latin typeface="DejaVu Sans"/>
                <a:cs typeface="DejaVu Sans"/>
              </a:rPr>
              <a:t>AI/ML</a:t>
            </a:r>
            <a:endParaRPr sz="1200" spc="-12" dirty="0">
              <a:solidFill>
                <a:srgbClr val="166534"/>
              </a:solidFill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21957" y="5241977"/>
            <a:ext cx="1769654" cy="554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30A3"/>
                </a:solidFill>
                <a:latin typeface="DejaVu Sans"/>
                <a:cs typeface="DejaVu Sans"/>
              </a:rPr>
              <a:t>Personalization</a:t>
            </a:r>
            <a:endParaRPr sz="1200" spc="-15" dirty="0">
              <a:solidFill>
                <a:srgbClr val="3730A3"/>
              </a:solidFill>
              <a:latin typeface="DejaVu Sans"/>
              <a:cs typeface="DejaVu Sans"/>
            </a:endParaRPr>
          </a:p>
          <a:p>
            <a:pPr marL="535305" marR="0">
              <a:lnSpc>
                <a:spcPts val="1370"/>
              </a:lnSpc>
              <a:spcBef>
                <a:spcPts val="1330"/>
              </a:spcBef>
              <a:spcAft>
                <a:spcPts val="0"/>
              </a:spcAft>
            </a:pPr>
            <a:r>
              <a:rPr sz="1200" spc="-15" dirty="0">
                <a:solidFill>
                  <a:srgbClr val="9D174D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9D174D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D174D"/>
                </a:solidFill>
                <a:latin typeface="DejaVu Sans"/>
                <a:cs typeface="DejaVu Sans"/>
              </a:rPr>
              <a:t>Analytics</a:t>
            </a:r>
            <a:endParaRPr sz="1200" spc="-11" dirty="0">
              <a:solidFill>
                <a:srgbClr val="9D174D"/>
              </a:solidFill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10301" y="5241977"/>
            <a:ext cx="133147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155E75"/>
                </a:solidFill>
                <a:latin typeface="DejaVu Sans"/>
                <a:cs typeface="DejaVu Sans"/>
              </a:rPr>
              <a:t>Third-Party</a:t>
            </a:r>
            <a:r>
              <a:rPr sz="1200" dirty="0">
                <a:solidFill>
                  <a:srgbClr val="155E75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55E75"/>
                </a:solidFill>
                <a:latin typeface="DejaVu Sans"/>
                <a:cs typeface="DejaVu Sans"/>
              </a:rPr>
              <a:t>APIs</a:t>
            </a:r>
            <a:endParaRPr sz="1200" spc="-12" dirty="0">
              <a:solidFill>
                <a:srgbClr val="155E75"/>
              </a:solidFill>
              <a:latin typeface="DejaVu Sans"/>
              <a:cs typeface="DejaVu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87867" y="5241977"/>
            <a:ext cx="12514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A3412"/>
                </a:solidFill>
                <a:latin typeface="DejaVu Sans"/>
                <a:cs typeface="DejaVu Sans"/>
              </a:rPr>
              <a:t>Cross-Platform</a:t>
            </a:r>
            <a:endParaRPr sz="1200" spc="-15" dirty="0">
              <a:solidFill>
                <a:srgbClr val="9A3412"/>
              </a:solidFill>
              <a:latin typeface="DejaVu Sans"/>
              <a:cs typeface="DejaVu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9745" y="5584877"/>
            <a:ext cx="11461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854D0E"/>
                </a:solidFill>
                <a:latin typeface="DejaVu Sans"/>
                <a:cs typeface="DejaVu Sans"/>
              </a:rPr>
              <a:t>Compatibility</a:t>
            </a:r>
            <a:endParaRPr sz="1200" spc="-11" dirty="0">
              <a:solidFill>
                <a:srgbClr val="854D0E"/>
              </a:solidFill>
              <a:latin typeface="DejaVu Sans"/>
              <a:cs typeface="DejaVu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11424" y="5584877"/>
            <a:ext cx="12843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6B21A8"/>
                </a:solidFill>
                <a:latin typeface="DejaVu Sans"/>
                <a:cs typeface="DejaVu Sans"/>
              </a:rPr>
              <a:t>Social</a:t>
            </a:r>
            <a:r>
              <a:rPr sz="1200" dirty="0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6B21A8"/>
                </a:solidFill>
                <a:latin typeface="DejaVu Sans"/>
                <a:cs typeface="DejaVu Sans"/>
              </a:rPr>
              <a:t>Features</a:t>
            </a:r>
            <a:endParaRPr sz="1200" spc="-25" dirty="0">
              <a:solidFill>
                <a:srgbClr val="6B21A8"/>
              </a:solidFill>
              <a:latin typeface="DejaVu Sans"/>
              <a:cs typeface="DejaVu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15023" y="5584877"/>
            <a:ext cx="10963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Oﬄine</a:t>
            </a:r>
            <a:r>
              <a:rPr sz="1200" dirty="0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Mode</a:t>
            </a:r>
            <a:endParaRPr sz="1200" spc="-17" dirty="0">
              <a:solidFill>
                <a:srgbClr val="1F2937"/>
              </a:solidFill>
              <a:latin typeface="DejaVu Sans"/>
              <a:cs typeface="DejaVu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10301" y="5584877"/>
            <a:ext cx="15475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15E59"/>
                </a:solidFill>
                <a:latin typeface="DejaVu Sans"/>
                <a:cs typeface="DejaVu Sans"/>
              </a:rPr>
              <a:t>Ecosystem</a:t>
            </a:r>
            <a:r>
              <a:rPr sz="1200" spc="-18" dirty="0">
                <a:solidFill>
                  <a:srgbClr val="115E59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15E59"/>
                </a:solidFill>
                <a:latin typeface="DejaVu Sans"/>
                <a:cs typeface="DejaVu Sans"/>
              </a:rPr>
              <a:t>Growth</a:t>
            </a:r>
            <a:endParaRPr sz="1200" spc="-20" dirty="0">
              <a:solidFill>
                <a:srgbClr val="115E59"/>
              </a:solidFill>
              <a:latin typeface="DejaVu Sans"/>
              <a:cs typeface="DejaVu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87730" y="8405031"/>
            <a:ext cx="198604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80"/>
                </a:solidFill>
                <a:latin typeface="DejaVu Sans"/>
                <a:cs typeface="DejaVu Sans"/>
              </a:rPr>
              <a:t>Source:</a:t>
            </a:r>
            <a:r>
              <a:rPr sz="1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spc="-28" dirty="0">
                <a:solidFill>
                  <a:srgbClr val="000080"/>
                </a:solidFill>
                <a:latin typeface="DejaVu Sans"/>
                <a:cs typeface="DejaVu Sans"/>
              </a:rPr>
              <a:t>Free</a:t>
            </a:r>
            <a:r>
              <a:rPr sz="1000" spc="3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spc="-10" dirty="0">
                <a:solidFill>
                  <a:srgbClr val="000080"/>
                </a:solidFill>
                <a:latin typeface="DejaVu Sans"/>
                <a:cs typeface="DejaVu Sans"/>
              </a:rPr>
              <a:t>Vector</a:t>
            </a:r>
            <a:r>
              <a:rPr sz="1000" spc="1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000080"/>
                </a:solidFill>
                <a:latin typeface="DejaVu Sans"/>
                <a:cs typeface="DejaVu Sans"/>
              </a:rPr>
              <a:t>-</a:t>
            </a:r>
            <a:r>
              <a:rPr sz="1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000" spc="-11" dirty="0">
                <a:solidFill>
                  <a:srgbClr val="000080"/>
                </a:solidFill>
                <a:latin typeface="DejaVu Sans"/>
                <a:cs typeface="DejaVu Sans"/>
              </a:rPr>
              <a:t>Freepik</a:t>
            </a:r>
            <a:endParaRPr sz="1000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1776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50428" y="322631"/>
            <a:ext cx="1024337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6.1.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80"/>
                </a:solidFill>
                <a:latin typeface="DejaVu Sans"/>
                <a:cs typeface="DejaVu Sans"/>
              </a:rPr>
              <a:t>Hạn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chế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hiện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0080"/>
                </a:solidFill>
                <a:latin typeface="DejaVu Sans"/>
                <a:cs typeface="DejaVu Sans"/>
              </a:rPr>
              <a:t>tại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8A745"/>
                </a:solidFill>
                <a:latin typeface="DejaVu Sans"/>
                <a:cs typeface="DejaVu Sans"/>
              </a:rPr>
              <a:t>dụng</a:t>
            </a:r>
            <a:endParaRPr sz="4050" b="1" spc="-12" dirty="0">
              <a:solidFill>
                <a:srgbClr val="28A745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298" y="1558236"/>
            <a:ext cx="2330070" cy="80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solidFill>
                  <a:srgbClr val="000080"/>
                </a:solidFill>
                <a:latin typeface="DejaVu Sans"/>
                <a:cs typeface="DejaVu Sans"/>
              </a:rPr>
              <a:t>Dữ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liệu</a:t>
            </a: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thực</a:t>
            </a:r>
            <a:endParaRPr sz="2500" b="1" spc="1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930"/>
              </a:lnSpc>
              <a:spcBef>
                <a:spcPts val="190"/>
              </a:spcBef>
              <a:spcAft>
                <a:spcPts val="0"/>
              </a:spcAft>
            </a:pP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phẩm</a:t>
            </a:r>
            <a:endParaRPr sz="2500" b="1" spc="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2707" y="1558236"/>
            <a:ext cx="1624645" cy="80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nối</a:t>
            </a:r>
            <a:endParaRPr sz="2500" b="1" spc="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930"/>
              </a:lnSpc>
              <a:spcBef>
                <a:spcPts val="190"/>
              </a:spcBef>
              <a:spcAft>
                <a:spcPts val="0"/>
              </a:spcAft>
            </a:pP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Internet</a:t>
            </a:r>
            <a:endParaRPr sz="25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002" y="1691586"/>
            <a:ext cx="202926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solidFill>
                  <a:srgbClr val="000080"/>
                </a:solidFill>
                <a:latin typeface="DejaVu Sans"/>
                <a:cs typeface="DejaVu Sans"/>
              </a:rPr>
              <a:t>Đề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xuất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4" dirty="0">
                <a:solidFill>
                  <a:srgbClr val="000080"/>
                </a:solidFill>
                <a:latin typeface="DejaVu Sans"/>
                <a:cs typeface="DejaVu Sans"/>
              </a:rPr>
              <a:t>AI</a:t>
            </a:r>
            <a:endParaRPr sz="2500" b="1" spc="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6888" y="4629725"/>
            <a:ext cx="3049301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chính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xác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việc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đề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xuất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cần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cải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thiện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thông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qua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AI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tiên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tiến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hơn.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184" y="4753550"/>
            <a:ext cx="2996434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Cơ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sở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dữ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liệu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có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thể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chưa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đầy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đủ,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ảnh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hưởng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độ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chính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xác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khuyến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nghị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dinh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dưỡng.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0592" y="4753550"/>
            <a:ext cx="2925940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Một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số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chức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cốt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lõi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yêu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515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cầu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nối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internet,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hạn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chế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760"/>
              </a:lnSpc>
              <a:spcBef>
                <a:spcPts val="640"/>
              </a:spcBef>
              <a:spcAft>
                <a:spcPts val="0"/>
              </a:spcAft>
            </a:pP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sử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ngoại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0080"/>
                </a:solidFill>
                <a:latin typeface="DejaVu Sans"/>
                <a:cs typeface="DejaVu Sans"/>
              </a:rPr>
              <a:t>tuyến.</a:t>
            </a:r>
            <a:endParaRPr sz="150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1733" y="6145709"/>
            <a:ext cx="75119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Phạm</a:t>
            </a: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vi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2437" y="6145709"/>
            <a:ext cx="96551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Chất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0080"/>
                </a:solidFill>
                <a:latin typeface="DejaVu Sans"/>
                <a:cs typeface="DejaVu Sans"/>
              </a:rPr>
              <a:t>lượng</a:t>
            </a:r>
            <a:endParaRPr sz="1200" spc="-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5437" y="6145709"/>
            <a:ext cx="99408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AI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0080"/>
                </a:solidFill>
                <a:latin typeface="DejaVu Sans"/>
                <a:cs typeface="DejaVu Sans"/>
              </a:rPr>
              <a:t>Learning</a:t>
            </a:r>
            <a:endParaRPr sz="1200" spc="-18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9029" y="6145709"/>
            <a:ext cx="10957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Cá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nhân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0080"/>
                </a:solidFill>
                <a:latin typeface="DejaVu Sans"/>
                <a:cs typeface="DejaVu Sans"/>
              </a:rPr>
              <a:t>hóa</a:t>
            </a:r>
            <a:endParaRPr sz="1200" spc="-15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59142" y="6145709"/>
            <a:ext cx="10261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2" dirty="0">
                <a:solidFill>
                  <a:srgbClr val="000080"/>
                </a:solidFill>
                <a:latin typeface="DejaVu Sans"/>
                <a:cs typeface="DejaVu Sans"/>
              </a:rPr>
              <a:t>Trải</a:t>
            </a:r>
            <a:r>
              <a:rPr sz="1200" spc="38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0080"/>
                </a:solidFill>
                <a:latin typeface="DejaVu Sans"/>
                <a:cs typeface="DejaVu Sans"/>
              </a:rPr>
              <a:t>nghiệm</a:t>
            </a:r>
            <a:endParaRPr sz="1200" spc="-14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44732" y="6145709"/>
            <a:ext cx="8783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0080"/>
                </a:solidFill>
                <a:latin typeface="DejaVu Sans"/>
                <a:cs typeface="DejaVu Sans"/>
              </a:rPr>
              <a:t>Mạng</a:t>
            </a:r>
            <a:r>
              <a:rPr sz="12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0080"/>
                </a:solidFill>
                <a:latin typeface="DejaVu Sans"/>
                <a:cs typeface="DejaVu Sans"/>
              </a:rPr>
              <a:t>lưới</a:t>
            </a:r>
            <a:endParaRPr sz="1200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76231"/>
            <a:ext cx="7894790" cy="895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6.2.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Liberation Sans"/>
                <a:cs typeface="Liberation Sans"/>
              </a:rPr>
              <a:t>Các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tính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năng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3000" b="1" spc="197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ki</a:t>
            </a:r>
            <a:r>
              <a:rPr sz="3000" b="1" spc="103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phát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tri</a:t>
            </a:r>
            <a:r>
              <a:rPr sz="3000" b="1" spc="103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trong</a:t>
            </a:r>
            <a:endParaRPr sz="3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3000" b="1" spc="299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lai</a:t>
            </a:r>
            <a:endParaRPr sz="3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84160" y="416269"/>
            <a:ext cx="36598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21</a:t>
            </a:r>
            <a:endParaRPr sz="1500" b="1" dirty="0">
              <a:solidFill>
                <a:srgbClr val="FFFFFF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6984" y="2473321"/>
            <a:ext cx="348656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Tích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h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2000" b="1" spc="-6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AI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2000" b="1" spc="128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cá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nhân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hóa</a:t>
            </a:r>
            <a:endParaRPr sz="2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976" y="2473321"/>
            <a:ext cx="285176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Ch</a:t>
            </a:r>
            <a:r>
              <a:rPr sz="2000" b="1" spc="717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năng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endParaRPr sz="2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6984" y="2899088"/>
            <a:ext cx="314142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ề</a:t>
            </a:r>
            <a:r>
              <a:rPr sz="1350" spc="3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xu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thông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minh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a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trên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9976" y="2899088"/>
            <a:ext cx="301868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bè,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chia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ẻ</a:t>
            </a:r>
            <a:r>
              <a:rPr sz="1350" spc="3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tha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984" y="3156263"/>
            <a:ext cx="232524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nghi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trình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e.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9976" y="3156263"/>
            <a:ext cx="18126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nhau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duy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trì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c.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984" y="5092696"/>
            <a:ext cx="3107394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Tích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h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p</a:t>
            </a:r>
            <a:r>
              <a:rPr sz="2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thi</a:t>
            </a:r>
            <a:r>
              <a:rPr sz="2000" b="1" spc="715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b</a:t>
            </a:r>
            <a:r>
              <a:rPr sz="2000" b="1" spc="538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đeo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tay</a:t>
            </a:r>
            <a:endParaRPr sz="2000" b="1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9976" y="5092696"/>
            <a:ext cx="292747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2000" b="1" spc="1289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v</a:t>
            </a:r>
            <a:r>
              <a:rPr sz="2000" b="1" spc="653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chuyên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gia</a:t>
            </a:r>
            <a:r>
              <a:rPr sz="2000" b="1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Liberation Sans"/>
                <a:cs typeface="Liberation Sans"/>
              </a:rPr>
              <a:t>qua</a:t>
            </a:r>
            <a:endParaRPr sz="2000" b="1" spc="1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984" y="5527988"/>
            <a:ext cx="307548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u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0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smartwa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9976" y="5527988"/>
            <a:ext cx="30855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khuyên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và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</a:t>
            </a:r>
            <a:r>
              <a:rPr sz="1350" spc="-15" dirty="0">
                <a:solidFill>
                  <a:srgbClr val="000080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ẫ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tr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ế</a:t>
            </a:r>
            <a:endParaRPr sz="135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984" y="5785163"/>
            <a:ext cx="155663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dõi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s</a:t>
            </a:r>
            <a:r>
              <a:rPr sz="1350" spc="-31" dirty="0">
                <a:solidFill>
                  <a:srgbClr val="000080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e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24/7.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9976" y="5785163"/>
            <a:ext cx="305585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kh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e,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hu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luy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viên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chuyên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nghi</a:t>
            </a:r>
            <a:r>
              <a:rPr sz="1350" dirty="0">
                <a:solidFill>
                  <a:srgbClr val="000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0080"/>
                </a:solidFill>
                <a:latin typeface="Liberation Sans"/>
                <a:cs typeface="Liberation Sans"/>
              </a:rPr>
              <a:t>p.</a:t>
            </a:r>
            <a:endParaRPr sz="1350" dirty="0">
              <a:solidFill>
                <a:srgbClr val="00008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32256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37136" y="322631"/>
            <a:ext cx="386999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VII.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r>
              <a:rPr sz="4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80"/>
                </a:solidFill>
                <a:latin typeface="DejaVu Sans"/>
                <a:cs typeface="DejaVu Sans"/>
              </a:rPr>
              <a:t>Luận</a:t>
            </a:r>
            <a:endParaRPr sz="4050" b="1" spc="-12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262" y="1472511"/>
            <a:ext cx="3302068" cy="80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000080"/>
                </a:solidFill>
                <a:latin typeface="DejaVu Sans"/>
                <a:cs typeface="DejaVu Sans"/>
              </a:rPr>
              <a:t>Điểm</a:t>
            </a:r>
            <a:r>
              <a:rPr sz="2500" b="1" spc="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4" dirty="0">
                <a:solidFill>
                  <a:srgbClr val="000080"/>
                </a:solidFill>
                <a:latin typeface="DejaVu Sans"/>
                <a:cs typeface="DejaVu Sans"/>
              </a:rPr>
              <a:t>Nổi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Bật</a:t>
            </a:r>
            <a:r>
              <a:rPr sz="2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endParaRPr sz="2500" b="1" spc="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930"/>
              </a:lnSpc>
              <a:spcBef>
                <a:spcPts val="19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0080"/>
                </a:solidFill>
                <a:latin typeface="DejaVu Sans"/>
                <a:cs typeface="DejaVu Sans"/>
              </a:rPr>
              <a:t>MyFitness</a:t>
            </a:r>
            <a:endParaRPr sz="2500" b="1" spc="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0310" y="2158311"/>
            <a:ext cx="4669323" cy="2172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315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"MyFitness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chỉ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endParaRPr sz="2500" b="1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231775" marR="0">
              <a:lnSpc>
                <a:spcPts val="2930"/>
              </a:lnSpc>
              <a:spcBef>
                <a:spcPts val="565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dụng,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8" dirty="0">
                <a:solidFill>
                  <a:srgbClr val="FFFFFF"/>
                </a:solidFill>
                <a:latin typeface="DejaVu Sans"/>
                <a:cs typeface="DejaVu Sans"/>
              </a:rPr>
              <a:t>mà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endParaRPr sz="2500" b="1" spc="12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259715" marR="0">
              <a:lnSpc>
                <a:spcPts val="2930"/>
              </a:lnSpc>
              <a:spcBef>
                <a:spcPts val="515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bạn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lối</a:t>
            </a:r>
            <a:endParaRPr sz="2500" b="1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930"/>
              </a:lnSpc>
              <a:spcBef>
                <a:spcPts val="565"/>
              </a:spcBef>
              <a:spcAft>
                <a:spcPts val="0"/>
              </a:spcAft>
            </a:pP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sống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khỏe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5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hạnh</a:t>
            </a:r>
            <a:endParaRPr sz="2500" b="1" spc="12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677670" marR="0">
              <a:lnSpc>
                <a:spcPts val="2930"/>
              </a:lnSpc>
              <a:spcBef>
                <a:spcPts val="590"/>
              </a:spcBef>
              <a:spcAft>
                <a:spcPts val="0"/>
              </a:spcAft>
            </a:pP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phúc."</a:t>
            </a:r>
            <a:endParaRPr sz="2500" b="1" spc="1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3819" y="2590620"/>
            <a:ext cx="3718075" cy="1648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Giải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pháp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toàn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diện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endParaRPr sz="1700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955"/>
              </a:lnSpc>
              <a:spcBef>
                <a:spcPts val="3320"/>
              </a:spcBef>
              <a:spcAft>
                <a:spcPts val="0"/>
              </a:spcAft>
            </a:pPr>
            <a:r>
              <a:rPr sz="1700" spc="-69" dirty="0">
                <a:solidFill>
                  <a:srgbClr val="000080"/>
                </a:solidFill>
                <a:latin typeface="DejaVu Sans"/>
                <a:cs typeface="DejaVu Sans"/>
              </a:rPr>
              <a:t>Trải</a:t>
            </a:r>
            <a:r>
              <a:rPr sz="1700" spc="57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nghiệm</a:t>
            </a:r>
            <a:r>
              <a:rPr sz="1700" spc="-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người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dùng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độc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đáo</a:t>
            </a:r>
            <a:endParaRPr sz="1700" spc="-12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1955"/>
              </a:lnSpc>
              <a:spcBef>
                <a:spcPts val="3445"/>
              </a:spcBef>
              <a:spcAft>
                <a:spcPts val="0"/>
              </a:spcAft>
            </a:pP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Cộng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đồng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gắn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0080"/>
                </a:solidFill>
                <a:latin typeface="DejaVu Sans"/>
                <a:cs typeface="DejaVu Sans"/>
              </a:rPr>
              <a:t>kết</a:t>
            </a:r>
            <a:endParaRPr sz="1700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3819" y="4638495"/>
            <a:ext cx="368985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8" dirty="0">
                <a:solidFill>
                  <a:srgbClr val="000080"/>
                </a:solidFill>
                <a:latin typeface="DejaVu Sans"/>
                <a:cs typeface="DejaVu Sans"/>
              </a:rPr>
              <a:t>Tiềm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0080"/>
                </a:solidFill>
                <a:latin typeface="DejaVu Sans"/>
                <a:cs typeface="DejaVu Sans"/>
              </a:rPr>
              <a:t>năng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tăng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0080"/>
                </a:solidFill>
                <a:latin typeface="DejaVu Sans"/>
                <a:cs typeface="DejaVu Sans"/>
              </a:rPr>
              <a:t>trưởng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000080"/>
                </a:solidFill>
                <a:latin typeface="DejaVu Sans"/>
                <a:cs typeface="DejaVu Sans"/>
              </a:rPr>
              <a:t>mạnh</a:t>
            </a:r>
            <a:r>
              <a:rPr sz="17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000080"/>
                </a:solidFill>
                <a:latin typeface="DejaVu Sans"/>
                <a:cs typeface="DejaVu Sans"/>
              </a:rPr>
              <a:t>mẽ</a:t>
            </a:r>
            <a:endParaRPr sz="1700" spc="-2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270" y="5808561"/>
            <a:ext cx="857027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8" dirty="0">
                <a:solidFill>
                  <a:srgbClr val="000080"/>
                </a:solidFill>
                <a:latin typeface="DejaVu Sans"/>
                <a:cs typeface="DejaVu Sans"/>
              </a:rPr>
              <a:t>Hãy</a:t>
            </a:r>
            <a:r>
              <a:rPr sz="2000" b="1" spc="3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cùng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MyFitness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định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hình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tương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lai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sức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khỏe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r>
              <a:rPr sz="2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0080"/>
                </a:solidFill>
                <a:latin typeface="DejaVu Sans"/>
                <a:cs typeface="DejaVu Sans"/>
              </a:rPr>
              <a:t>bạn!</a:t>
            </a:r>
            <a:endParaRPr sz="2000" b="1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8706" y="6372800"/>
            <a:ext cx="216117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Tải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ứng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dụng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ngay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3137" y="6372800"/>
            <a:ext cx="305454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Gửi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phản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hồi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chúng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tôi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2674" y="625151"/>
            <a:ext cx="4772836" cy="159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5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28A745"/>
                </a:solidFill>
                <a:latin typeface="DejaVu Sans"/>
                <a:cs typeface="DejaVu Sans"/>
              </a:rPr>
              <a:t>VIII.</a:t>
            </a:r>
            <a:r>
              <a:rPr sz="5050" b="1" spc="494" dirty="0">
                <a:solidFill>
                  <a:srgbClr val="28A74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Cảm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5050" b="1" dirty="0">
                <a:solidFill>
                  <a:srgbClr val="000080"/>
                </a:solidFill>
                <a:latin typeface="DejaVu Sans"/>
                <a:cs typeface="DejaVu Sans"/>
              </a:rPr>
              <a:t>ơn</a:t>
            </a:r>
            <a:endParaRPr sz="5050" b="1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417195" marR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Cảm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ơn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thầy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endParaRPr sz="3000" b="1" spc="15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417195" marR="0">
              <a:lnSpc>
                <a:spcPts val="3520"/>
              </a:lnSpc>
              <a:spcBef>
                <a:spcPts val="280"/>
              </a:spcBef>
              <a:spcAft>
                <a:spcPts val="0"/>
              </a:spcAft>
            </a:pPr>
            <a:r>
              <a:rPr sz="3000" b="1" spc="15" dirty="0">
                <a:solidFill>
                  <a:srgbClr val="000080"/>
                </a:solidFill>
                <a:latin typeface="DejaVu Sans"/>
                <a:cs typeface="DejaVu Sans"/>
              </a:rPr>
              <a:t>bạn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đã</a:t>
            </a:r>
            <a:r>
              <a:rPr sz="30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0080"/>
                </a:solidFill>
                <a:latin typeface="DejaVu Sans"/>
                <a:cs typeface="DejaVu Sans"/>
              </a:rPr>
              <a:t>lắng</a:t>
            </a:r>
            <a:r>
              <a:rPr sz="3000" b="1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0080"/>
                </a:solidFill>
                <a:latin typeface="DejaVu Sans"/>
                <a:cs typeface="DejaVu Sans"/>
              </a:rPr>
              <a:t>nghe!</a:t>
            </a:r>
            <a:endParaRPr sz="3000" b="1" spc="17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37" y="2610320"/>
            <a:ext cx="4686011" cy="2422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Em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xin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chân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thành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cảm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ơn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thầy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endParaRPr sz="20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đã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dành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thời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gian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theo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dõi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buổi</a:t>
            </a:r>
            <a:endParaRPr sz="2000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thuyết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này,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em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hi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vọng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được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nhận</a:t>
            </a:r>
            <a:endParaRPr sz="2000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930"/>
              </a:spcBef>
              <a:spcAft>
                <a:spcPts val="0"/>
              </a:spcAft>
            </a:pP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thật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nhiều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ý</a:t>
            </a:r>
            <a:r>
              <a:rPr sz="2000" spc="14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kiến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đóng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góp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của</a:t>
            </a:r>
            <a:endParaRPr sz="200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thầy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và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các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bạn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để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hoàn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thiện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hơn</a:t>
            </a:r>
            <a:endParaRPr sz="2000" spc="10" dirty="0">
              <a:solidFill>
                <a:srgbClr val="00008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5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cho</a:t>
            </a:r>
            <a:r>
              <a:rPr sz="2000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-10" dirty="0">
                <a:solidFill>
                  <a:srgbClr val="000080"/>
                </a:solidFill>
                <a:latin typeface="DejaVu Sans"/>
                <a:cs typeface="DejaVu Sans"/>
              </a:rPr>
              <a:t>MyFitness</a:t>
            </a:r>
            <a:r>
              <a:rPr sz="2000" spc="23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0080"/>
                </a:solidFill>
                <a:latin typeface="DejaVu Sans"/>
                <a:cs typeface="DejaVu Sans"/>
              </a:rPr>
              <a:t>App.</a:t>
            </a:r>
            <a:endParaRPr sz="2000" spc="10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4117" y="5479608"/>
            <a:ext cx="160039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Email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Liên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000080"/>
                </a:solidFill>
                <a:latin typeface="DejaVu Sans"/>
                <a:cs typeface="DejaVu Sans"/>
              </a:rPr>
              <a:t>hệ</a:t>
            </a:r>
            <a:endParaRPr sz="1500" b="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4117" y="5774129"/>
            <a:ext cx="2728659" cy="50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1700" spc="-11" dirty="0">
                <a:solidFill>
                  <a:srgbClr val="000080"/>
                </a:solidFill>
                <a:latin typeface="DejaVu Sans"/>
                <a:cs typeface="DejaVu Sans"/>
              </a:rPr>
              <a:t>23017208@st.phenikaa-uni.edu.</a:t>
            </a:r>
            <a:r>
              <a:rPr lang="vi-VN" sz="1700" spc="-11" dirty="0">
                <a:solidFill>
                  <a:srgbClr val="000080"/>
                </a:solidFill>
                <a:latin typeface="DejaVu Sans"/>
                <a:cs typeface="DejaVu Sans"/>
              </a:rPr>
              <a:t>vn</a:t>
            </a:r>
            <a:endParaRPr lang="vi-VN" sz="1700" spc="-11" dirty="0">
              <a:solidFill>
                <a:srgbClr val="000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12180</Words>
  <Application>WPS Presentation</Application>
  <PresentationFormat>On-screen Show (4:3)</PresentationFormat>
  <Paragraphs>829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SimSun</vt:lpstr>
      <vt:lpstr>Wingdings</vt:lpstr>
      <vt:lpstr>DejaVu Sans</vt:lpstr>
      <vt:lpstr>Calibri</vt:lpstr>
      <vt:lpstr>Times New Roman</vt:lpstr>
      <vt:lpstr>Liberation Sans</vt:lpstr>
      <vt:lpstr>Segoe Print</vt:lpstr>
      <vt:lpstr>Microsoft YaHei</vt:lpstr>
      <vt:lpstr>Arial Unicode MS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/>
  <cp:lastModifiedBy>ACER</cp:lastModifiedBy>
  <cp:revision>2</cp:revision>
  <dcterms:created xsi:type="dcterms:W3CDTF">2025-09-24T02:47:14Z</dcterms:created>
  <dcterms:modified xsi:type="dcterms:W3CDTF">2025-09-24T02:47:56Z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FE0545839EEC48D8961611015C5D291C_12</vt:lpwstr>
  </property>
  <property fmtid="{D5CDD505-2E9C-101B-9397-08002B2CF9AE}" pid="3" name="KSOProductBuildVer">
    <vt:lpwstr>1033-12.2.0.22549</vt:lpwstr>
  </property>
</Properties>
</file>