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8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12192000" cy="6858000"/>
  <p:embeddedFontLst>
    <p:embeddedFont>
      <p:font typeface="Bell MT" panose="02020503060305020303" pitchFamily="18" charset="0"/>
      <p:regular r:id="rId29"/>
      <p:bold r:id="rId30"/>
      <p:italic r:id="rId31"/>
    </p:embeddedFont>
    <p:embeddedFont>
      <p:font typeface="FOEIPR+Be Vietnam Pro ExtraBold" panose="020B0604020202020204" charset="0"/>
      <p:regular r:id="rId32"/>
    </p:embeddedFont>
    <p:embeddedFont>
      <p:font typeface="GTVVPV+Be Vietnam Pro Medium" panose="020B0604020202020204" charset="0"/>
      <p:regular r:id="rId33"/>
    </p:embeddedFont>
    <p:embeddedFont>
      <p:font typeface="LKIEVF+Be Vietnam Pro Medium" panose="020B0604020202020204" charset="0"/>
      <p:regular r:id="rId34"/>
    </p:embeddedFont>
    <p:embeddedFont>
      <p:font typeface="NLWDPL+Be Vietnam Pro ExtraBold" panose="020B0604020202020204" charset="0"/>
      <p:regular r:id="rId35"/>
    </p:embeddedFont>
    <p:embeddedFont>
      <p:font typeface="NPPDBE+Be Vietnam Pro ExtraBold" panose="020B0604020202020204" charset="0"/>
      <p:regular r:id="rId36"/>
    </p:embeddedFont>
    <p:embeddedFont>
      <p:font typeface="PDEPVN+Be Vietnam Pro Medium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-30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 dirty="0"/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92968" y="1144810"/>
            <a:ext cx="4643118" cy="3774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148"/>
              </a:lnSpc>
            </a:pPr>
            <a:r>
              <a:rPr lang="vi-VN" sz="2400" b="1" dirty="0">
                <a:solidFill>
                  <a:srgbClr val="0056B3"/>
                </a:solidFill>
                <a:latin typeface="+mj-lt"/>
                <a:cs typeface="EFCLVJ+Montserrat Thin Bold"/>
              </a:rPr>
              <a:t>Thuyết Trình</a:t>
            </a:r>
            <a:endParaRPr lang="en-US" sz="2400" b="1" dirty="0">
              <a:solidFill>
                <a:srgbClr val="0056B3"/>
              </a:solidFill>
              <a:latin typeface="+mj-lt"/>
              <a:cs typeface="EFCLVJ+Montserrat Thin Bold"/>
            </a:endParaRPr>
          </a:p>
        </p:txBody>
      </p:sp>
      <p:sp>
        <p:nvSpPr>
          <p:cNvPr id="4" name="object 4"/>
          <p:cNvSpPr txBox="1">
            <a:spLocks/>
          </p:cNvSpPr>
          <p:nvPr/>
        </p:nvSpPr>
        <p:spPr>
          <a:xfrm>
            <a:off x="892968" y="1613346"/>
            <a:ext cx="4126455" cy="3400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6297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23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KHAI</a:t>
            </a:r>
            <a:r>
              <a:rPr sz="4050" b="1" spc="23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 </a:t>
            </a:r>
            <a:r>
              <a:rPr sz="4050" b="1" spc="-81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PHÁ</a:t>
            </a:r>
            <a:r>
              <a:rPr sz="4050" b="1" spc="33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 </a:t>
            </a:r>
            <a:r>
              <a:rPr sz="4050" b="1" spc="-44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D</a:t>
            </a:r>
            <a:r>
              <a:rPr sz="4050" b="1" dirty="0">
                <a:solidFill>
                  <a:srgbClr val="0056B3"/>
                </a:solidFill>
                <a:latin typeface="EENORM+Montserrat Thin Bold"/>
                <a:cs typeface="EENORM+Montserrat Thin Bold"/>
              </a:rPr>
              <a:t>Ữ</a:t>
            </a:r>
          </a:p>
          <a:p>
            <a:pPr marL="0" marR="0">
              <a:lnSpc>
                <a:spcPts val="51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LI</a:t>
            </a:r>
            <a:r>
              <a:rPr sz="4050" b="1" spc="-18" dirty="0">
                <a:solidFill>
                  <a:srgbClr val="0056B3"/>
                </a:solidFill>
                <a:latin typeface="EENORM+Montserrat Thin Bold"/>
                <a:cs typeface="EENORM+Montserrat Thin Bold"/>
              </a:rPr>
              <a:t>Ệ</a:t>
            </a:r>
            <a:r>
              <a:rPr sz="4050" b="1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U</a:t>
            </a:r>
            <a:r>
              <a:rPr sz="4050" b="1" spc="-62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 </a:t>
            </a:r>
            <a:r>
              <a:rPr sz="4050" b="1" spc="-37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TH</a:t>
            </a:r>
            <a:r>
              <a:rPr sz="4050" b="1" spc="-43" dirty="0">
                <a:solidFill>
                  <a:srgbClr val="0056B3"/>
                </a:solidFill>
                <a:latin typeface="EENORM+Montserrat Thin Bold"/>
                <a:cs typeface="EENORM+Montserrat Thin Bold"/>
              </a:rPr>
              <a:t>Ờ</a:t>
            </a:r>
            <a:r>
              <a:rPr sz="4050" b="1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I T</a:t>
            </a:r>
            <a:r>
              <a:rPr lang="en-US" sz="4050" b="1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I</a:t>
            </a:r>
            <a:r>
              <a:rPr sz="4050" b="1" spc="-18" dirty="0">
                <a:solidFill>
                  <a:srgbClr val="0056B3"/>
                </a:solidFill>
                <a:latin typeface="EENORM+Montserrat Thin Bold"/>
                <a:cs typeface="EENORM+Montserrat Thin Bold"/>
              </a:rPr>
              <a:t>Ế</a:t>
            </a:r>
            <a:r>
              <a:rPr sz="4050" b="1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T</a:t>
            </a:r>
          </a:p>
          <a:p>
            <a:pPr marL="0" marR="0">
              <a:lnSpc>
                <a:spcPts val="5025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71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VÀ</a:t>
            </a:r>
            <a:r>
              <a:rPr sz="4050" b="1" spc="123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 </a:t>
            </a:r>
            <a:r>
              <a:rPr sz="4050" b="1" spc="-93" dirty="0">
                <a:solidFill>
                  <a:srgbClr val="0056B3"/>
                </a:solidFill>
                <a:latin typeface="EENORM+Montserrat Thin Bold"/>
                <a:cs typeface="EENORM+Montserrat Thin Bold"/>
              </a:rPr>
              <a:t>Ứ</a:t>
            </a:r>
            <a:r>
              <a:rPr sz="4050" b="1" spc="-46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NG</a:t>
            </a:r>
            <a:r>
              <a:rPr sz="4050" b="1" spc="-20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 </a:t>
            </a:r>
            <a:r>
              <a:rPr sz="4050" b="1" spc="-44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D</a:t>
            </a:r>
            <a:r>
              <a:rPr lang="en-US" sz="4050" b="1" spc="-40" dirty="0">
                <a:solidFill>
                  <a:srgbClr val="0056B3"/>
                </a:solidFill>
                <a:latin typeface="EENORM+Montserrat Thin Bold"/>
                <a:cs typeface="EENORM+Montserrat Thin Bold"/>
              </a:rPr>
              <a:t>Ụ</a:t>
            </a:r>
            <a:r>
              <a:rPr sz="4050" b="1" spc="-46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NG</a:t>
            </a:r>
          </a:p>
          <a:p>
            <a:pPr marL="0" marR="0">
              <a:lnSpc>
                <a:spcPts val="5025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37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VÀO</a:t>
            </a:r>
            <a:r>
              <a:rPr sz="4050" b="1" spc="72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 </a:t>
            </a:r>
            <a:r>
              <a:rPr sz="4050" b="1" spc="-44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D</a:t>
            </a:r>
            <a:r>
              <a:rPr sz="4050" b="1" dirty="0">
                <a:solidFill>
                  <a:srgbClr val="0056B3"/>
                </a:solidFill>
                <a:latin typeface="EENORM+Montserrat Thin Bold"/>
                <a:cs typeface="EENORM+Montserrat Thin Bold"/>
              </a:rPr>
              <a:t>Ự</a:t>
            </a:r>
            <a:r>
              <a:rPr sz="4050" b="1" spc="18" dirty="0">
                <a:solidFill>
                  <a:srgbClr val="0056B3"/>
                </a:solidFill>
                <a:latin typeface="Times New Roman"/>
                <a:cs typeface="Times New Roman"/>
              </a:rPr>
              <a:t> </a:t>
            </a:r>
            <a:r>
              <a:rPr sz="4050" b="1" spc="-62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BÁO</a:t>
            </a:r>
          </a:p>
          <a:p>
            <a:pPr marL="0" marR="0">
              <a:lnSpc>
                <a:spcPts val="5025"/>
              </a:lnSpc>
              <a:spcBef>
                <a:spcPts val="50"/>
              </a:spcBef>
              <a:spcAft>
                <a:spcPts val="0"/>
              </a:spcAft>
            </a:pPr>
            <a:r>
              <a:rPr sz="4050" b="1" spc="-23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NHI</a:t>
            </a:r>
            <a:r>
              <a:rPr sz="4050" b="1" spc="-18" dirty="0">
                <a:solidFill>
                  <a:srgbClr val="0056B3"/>
                </a:solidFill>
                <a:latin typeface="EENORM+Montserrat Thin Bold"/>
                <a:cs typeface="EENORM+Montserrat Thin Bold"/>
              </a:rPr>
              <a:t>Ệ</a:t>
            </a:r>
            <a:r>
              <a:rPr sz="4050" b="1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T</a:t>
            </a:r>
            <a:r>
              <a:rPr sz="4050" b="1" spc="-49" dirty="0">
                <a:solidFill>
                  <a:srgbClr val="0056B3"/>
                </a:solidFill>
                <a:latin typeface="EFCLVJ+Montserrat Thin Bold"/>
                <a:cs typeface="EFCLVJ+Montserrat Thin Bold"/>
              </a:rPr>
              <a:t> </a:t>
            </a:r>
            <a:r>
              <a:rPr sz="4050" b="1" spc="-98" dirty="0">
                <a:solidFill>
                  <a:srgbClr val="0056B3"/>
                </a:solidFill>
                <a:latin typeface="FLSTOL+Montserrat Thin Bold"/>
                <a:cs typeface="FLSTOL+Montserrat Thin Bold"/>
              </a:rPr>
              <a:t>Đ</a:t>
            </a:r>
            <a:r>
              <a:rPr sz="4050" b="1" dirty="0">
                <a:solidFill>
                  <a:srgbClr val="0056B3"/>
                </a:solidFill>
                <a:latin typeface="EENORM+Montserrat Thin Bold"/>
                <a:cs typeface="EENORM+Montserrat Thin Bold"/>
              </a:rPr>
              <a:t>Ộ</a:t>
            </a:r>
          </a:p>
        </p:txBody>
      </p:sp>
      <p:sp>
        <p:nvSpPr>
          <p:cNvPr id="5" name="object 5"/>
          <p:cNvSpPr txBox="1">
            <a:spLocks/>
          </p:cNvSpPr>
          <p:nvPr/>
        </p:nvSpPr>
        <p:spPr>
          <a:xfrm>
            <a:off x="892968" y="5373608"/>
            <a:ext cx="1344305" cy="3117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1700" b="1" spc="-36" dirty="0">
                <a:solidFill>
                  <a:srgbClr val="0056B3"/>
                </a:solidFill>
                <a:latin typeface="Bell MT" panose="02020503060305020303" pitchFamily="18" charset="0"/>
                <a:cs typeface="EFCLVJ+Montserrat Thin Bold"/>
              </a:rPr>
              <a:t>Nhóm 5</a:t>
            </a:r>
            <a:endParaRPr sz="1700" b="1" spc="-36" dirty="0">
              <a:solidFill>
                <a:srgbClr val="0056B3"/>
              </a:solidFill>
              <a:latin typeface="Bell MT" panose="02020503060305020303" pitchFamily="18" charset="0"/>
              <a:cs typeface="EFCLVJ+Montserrat Thi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934419" y="346067"/>
            <a:ext cx="4488369" cy="610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04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05" dirty="0">
                <a:solidFill>
                  <a:srgbClr val="004D66"/>
                </a:solidFill>
                <a:latin typeface="Liberation Sans"/>
                <a:cs typeface="Liberation Sans"/>
              </a:rPr>
              <a:t>I. </a:t>
            </a:r>
            <a:r>
              <a:rPr sz="4050" b="1" spc="-114" dirty="0">
                <a:solidFill>
                  <a:srgbClr val="004D66"/>
                </a:solidFill>
                <a:latin typeface="Liberation Sans"/>
                <a:cs typeface="Liberation Sans"/>
              </a:rPr>
              <a:t>Gi</a:t>
            </a:r>
            <a:r>
              <a:rPr sz="4050" b="1" spc="125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  <a:r>
              <a:rPr sz="4050" b="1" spc="-2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4050" b="1" spc="-112" dirty="0">
                <a:solidFill>
                  <a:srgbClr val="004D66"/>
                </a:solidFill>
                <a:latin typeface="Liberation Sans"/>
                <a:cs typeface="Liberation Sans"/>
              </a:rPr>
              <a:t>Thi</a:t>
            </a:r>
            <a:r>
              <a:rPr sz="4050" b="1" spc="125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4050" b="1" spc="-21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4050" b="1" spc="-112" dirty="0">
                <a:solidFill>
                  <a:srgbClr val="4CAF50"/>
                </a:solidFill>
                <a:latin typeface="Liberation Sans"/>
                <a:cs typeface="Liberation Sans"/>
              </a:rPr>
              <a:t>Nhóm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40176" y="1178980"/>
            <a:ext cx="777904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Nhóm 5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71736" y="3206746"/>
            <a:ext cx="2207329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-101" dirty="0">
                <a:solidFill>
                  <a:srgbClr val="004D66"/>
                </a:solidFill>
                <a:latin typeface="Liberation Sans"/>
                <a:cs typeface="Liberation Sans"/>
              </a:rPr>
              <a:t>Tr</a:t>
            </a:r>
            <a:r>
              <a:rPr sz="2000" b="1" spc="202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Văn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Di</a:t>
            </a:r>
            <a:r>
              <a:rPr sz="2000" b="1" spc="7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72694" y="3206746"/>
            <a:ext cx="1599023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Vũ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Đ</a:t>
            </a:r>
            <a:r>
              <a:rPr sz="2000" b="1" spc="73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2000" b="1" spc="-6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Anh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53499" y="3206746"/>
            <a:ext cx="2030908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Đinh Đ</a:t>
            </a:r>
            <a:r>
              <a:rPr sz="2000" b="1" spc="73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2000" b="1" spc="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2000" b="1" spc="65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nh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73572" y="3607591"/>
            <a:ext cx="1403742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-75" dirty="0">
                <a:solidFill>
                  <a:srgbClr val="4CAF50"/>
                </a:solidFill>
                <a:latin typeface="Liberation Sans"/>
                <a:cs typeface="Liberation Sans"/>
              </a:rPr>
              <a:t>Tr</a:t>
            </a:r>
            <a:r>
              <a:rPr sz="1500" b="1" spc="1539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ng Nhóm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589239" y="3607591"/>
            <a:ext cx="1165797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Thành viên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385993" y="3607591"/>
            <a:ext cx="1165797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Thành viên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93576" y="4194488"/>
            <a:ext cx="2610179" cy="737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trách đi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ph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chung,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ổ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ợ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 báo cáo và xây d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ng,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</a:p>
          <a:p>
            <a:pPr marL="0" marR="0">
              <a:lnSpc>
                <a:spcPts val="1501"/>
              </a:lnSpc>
              <a:spcBef>
                <a:spcPts val="416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hóa các mô hình chính.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790330" y="4194488"/>
            <a:ext cx="2761923" cy="7375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Th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 hi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thu th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p, làm s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ch, ti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x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lý 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và phân tích khám</a:t>
            </a:r>
          </a:p>
          <a:p>
            <a:pPr marL="0" marR="0">
              <a:lnSpc>
                <a:spcPts val="1501"/>
              </a:lnSpc>
              <a:spcBef>
                <a:spcPts val="416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phá (EDA).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587084" y="4194488"/>
            <a:ext cx="2770307" cy="741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28" dirty="0">
                <a:solidFill>
                  <a:srgbClr val="004D66"/>
                </a:solidFill>
                <a:latin typeface="Liberation Sans"/>
                <a:cs typeface="Liberation Sans"/>
              </a:rPr>
              <a:t>Ti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hành tr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 quan hóa 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u,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đánh giá hi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su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các mô hình và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so sánh k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qu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991599" y="5618160"/>
            <a:ext cx="1341465" cy="562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-50" dirty="0">
                <a:solidFill>
                  <a:srgbClr val="004D66"/>
                </a:solidFill>
                <a:latin typeface="Liberation Sans"/>
                <a:cs typeface="Liberation Sans"/>
              </a:rPr>
              <a:t>Tr</a:t>
            </a:r>
            <a:r>
              <a:rPr sz="1000" b="1" spc="45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c quan hóa</a:t>
            </a:r>
          </a:p>
          <a:p>
            <a:pPr marL="613023" marR="0">
              <a:lnSpc>
                <a:spcPts val="1126"/>
              </a:lnSpc>
              <a:spcBef>
                <a:spcPts val="1873"/>
              </a:spcBef>
              <a:spcAft>
                <a:spcPts val="0"/>
              </a:spcAft>
            </a:pP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Phân tích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253215" y="5618160"/>
            <a:ext cx="692880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Đánh giá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016347" y="5999160"/>
            <a:ext cx="626838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Qu</a:t>
            </a:r>
            <a:r>
              <a:rPr sz="1000" b="1" spc="32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n lý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870174" y="5999160"/>
            <a:ext cx="905992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Mô hình hóa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003202" y="5999160"/>
            <a:ext cx="731288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000" b="1" spc="32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ng h</a:t>
            </a:r>
            <a:r>
              <a:rPr sz="1000" b="1" spc="32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778126" y="5999160"/>
            <a:ext cx="1158242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Thu th</a:t>
            </a:r>
            <a:r>
              <a:rPr sz="1000" b="1" spc="32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p d</a:t>
            </a:r>
            <a:r>
              <a:rPr sz="1000" b="1" spc="68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000" b="1" spc="32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163418" y="5999160"/>
            <a:ext cx="752998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Ti</a:t>
            </a:r>
            <a:r>
              <a:rPr sz="1000" b="1" spc="33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n x</a:t>
            </a:r>
            <a:r>
              <a:rPr sz="1000" b="1" spc="68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lý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7143451" y="5999160"/>
            <a:ext cx="422683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EDA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001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95587" y="376231"/>
            <a:ext cx="6753081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I. </a:t>
            </a:r>
            <a:r>
              <a:rPr sz="3000" b="1" spc="18" dirty="0">
                <a:solidFill>
                  <a:srgbClr val="004D66"/>
                </a:solidFill>
                <a:latin typeface="Liberation Sans"/>
                <a:cs typeface="Liberation Sans"/>
              </a:rPr>
              <a:t>Gi</a:t>
            </a:r>
            <a:r>
              <a:rPr sz="3000" b="1" spc="103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  <a:r>
              <a:rPr sz="3000" b="1" spc="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Thi</a:t>
            </a:r>
            <a:r>
              <a:rPr sz="3000" b="1" spc="103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u: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B</a:t>
            </a:r>
            <a:r>
              <a:rPr sz="3000" b="1" spc="105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  <a:r>
              <a:rPr sz="3000" b="1" spc="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3000" b="1" spc="105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nh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2" dirty="0">
                <a:solidFill>
                  <a:srgbClr val="004D66"/>
                </a:solidFill>
                <a:latin typeface="Liberation Sans"/>
                <a:cs typeface="Liberation Sans"/>
              </a:rPr>
              <a:t>và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Đ</a:t>
            </a:r>
            <a:r>
              <a:rPr sz="3000" b="1" spc="1057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4CAF50"/>
                </a:solidFill>
                <a:latin typeface="Liberation Sans"/>
                <a:cs typeface="Liberation Sans"/>
              </a:rPr>
              <a:t>ng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 L</a:t>
            </a:r>
            <a:r>
              <a:rPr sz="3000" b="1" spc="1131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5058" y="1622769"/>
            <a:ext cx="4536805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2000" b="1" spc="65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2000" b="1" spc="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quan tr</a:t>
            </a:r>
            <a:r>
              <a:rPr sz="2000" b="1" spc="64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c</a:t>
            </a:r>
            <a:r>
              <a:rPr sz="2000" b="1" spc="72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a</a:t>
            </a:r>
            <a:r>
              <a:rPr sz="2000" b="1" spc="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2000" b="1" spc="1289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báo th</a:t>
            </a:r>
            <a:r>
              <a:rPr sz="2000" b="1" spc="64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i ti</a:t>
            </a:r>
            <a:r>
              <a:rPr sz="2000" b="1" spc="71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45058" y="2066831"/>
            <a:ext cx="287908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• </a:t>
            </a:r>
            <a:r>
              <a:rPr sz="1500" spc="23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nh h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ưở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ng </a:t>
            </a: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Đ</a:t>
            </a:r>
            <a:r>
              <a:rPr sz="1500" b="1" spc="492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i s</a:t>
            </a:r>
            <a:r>
              <a:rPr sz="1500" b="1" spc="490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ng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&amp;</a:t>
            </a:r>
            <a:r>
              <a:rPr sz="1500" spc="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Kinh 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5058" y="2409731"/>
            <a:ext cx="3685400" cy="6045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• B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o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v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spc="23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Môi tr</a:t>
            </a:r>
            <a:r>
              <a:rPr sz="1500" b="1" spc="1459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ng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&amp;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Nông nghi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p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• H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ỗ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tr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ợ</a:t>
            </a:r>
            <a:r>
              <a:rPr sz="1500" spc="2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Phòng ch</a:t>
            </a:r>
            <a:r>
              <a:rPr sz="1500" b="1" spc="484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ng thiên tai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qu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82109" y="4074050"/>
            <a:ext cx="2910251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700" b="1" spc="56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l</a:t>
            </a:r>
            <a:r>
              <a:rPr sz="1700" b="1" spc="57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700" b="1" spc="-1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nhóm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nghiên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c</a:t>
            </a:r>
            <a:r>
              <a:rPr sz="1700" b="1" spc="56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60549" y="4112150"/>
            <a:ext cx="4779552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004D66"/>
                </a:solidFill>
                <a:latin typeface="Liberation Sans"/>
                <a:cs typeface="Liberation Sans"/>
              </a:rPr>
              <a:t>Nhu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c</a:t>
            </a:r>
            <a:r>
              <a:rPr sz="1700" b="1" spc="56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70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700" b="1" spc="56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p</a:t>
            </a:r>
            <a:r>
              <a:rPr sz="170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thi</a:t>
            </a:r>
            <a:r>
              <a:rPr sz="1700" b="1" spc="58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t: D</a:t>
            </a:r>
            <a:r>
              <a:rPr sz="1700" b="1" spc="102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báo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nhi</a:t>
            </a:r>
            <a:r>
              <a:rPr sz="1700" b="1" spc="58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700" b="1" spc="103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chính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xác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686102" y="4518338"/>
            <a:ext cx="3416586" cy="836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Gi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quy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v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ề</a:t>
            </a:r>
            <a:r>
              <a:rPr sz="1350" spc="3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 bách trong th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</a:p>
          <a:p>
            <a:pPr marL="0" marR="0">
              <a:lnSpc>
                <a:spcPts val="1564"/>
              </a:lnSpc>
              <a:spcBef>
                <a:spcPts val="835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Đóng góp vào s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phát tri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c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ủ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a c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ồ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sz="1350" spc="-33" dirty="0">
                <a:solidFill>
                  <a:srgbClr val="004D66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d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công ngh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spc="3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báo tiên ti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4542" y="4556438"/>
            <a:ext cx="2952477" cy="836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ủ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thích 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bi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ổ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khí 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</a:p>
          <a:p>
            <a:pPr marL="0" marR="0">
              <a:lnSpc>
                <a:spcPts val="1564"/>
              </a:lnSpc>
              <a:spcBef>
                <a:spcPts val="835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hóa s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xu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và kinh doanh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thi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ch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l</a:t>
            </a:r>
            <a:r>
              <a:rPr sz="1350" spc="-15" dirty="0">
                <a:solidFill>
                  <a:srgbClr val="004D66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cu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 s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60549" y="6036200"/>
            <a:ext cx="3286429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Thách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th</a:t>
            </a:r>
            <a:r>
              <a:rPr sz="1700" b="1" spc="57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700" b="1" spc="-1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700" b="1" spc="103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700" b="1" spc="5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70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l</a:t>
            </a:r>
            <a:r>
              <a:rPr sz="1700" b="1" spc="57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70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th</a:t>
            </a:r>
            <a:r>
              <a:rPr sz="1700" b="1" spc="57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ti</a:t>
            </a:r>
            <a:r>
              <a:rPr sz="1700" b="1" spc="5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81774" y="6403533"/>
            <a:ext cx="4891955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i="1" dirty="0">
                <a:solidFill>
                  <a:srgbClr val="004D66"/>
                </a:solidFill>
                <a:latin typeface="Liberation Sans"/>
                <a:cs typeface="Liberation Sans"/>
              </a:rPr>
              <a:t>"Chúng tôi tin r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ằ</a:t>
            </a:r>
            <a:r>
              <a:rPr sz="1500" i="1" dirty="0">
                <a:solidFill>
                  <a:srgbClr val="004D66"/>
                </a:solidFill>
                <a:latin typeface="Liberation Sans"/>
                <a:cs typeface="Liberation Sans"/>
              </a:rPr>
              <a:t>ng, vi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i="1" dirty="0">
                <a:solidFill>
                  <a:srgbClr val="004D66"/>
                </a:solidFill>
                <a:latin typeface="Liberation Sans"/>
                <a:cs typeface="Liberation Sans"/>
              </a:rPr>
              <a:t>c làm ch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ủ</a:t>
            </a:r>
            <a:r>
              <a:rPr sz="1500" spc="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i="1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500" spc="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i="1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i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i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i="1" dirty="0">
                <a:solidFill>
                  <a:srgbClr val="004D66"/>
                </a:solidFill>
                <a:latin typeface="Liberation Sans"/>
                <a:cs typeface="Liberation Sans"/>
              </a:rPr>
              <a:t>th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ờ</a:t>
            </a:r>
            <a:r>
              <a:rPr sz="1500" i="1" dirty="0">
                <a:solidFill>
                  <a:srgbClr val="004D66"/>
                </a:solidFill>
                <a:latin typeface="Liberation Sans"/>
                <a:cs typeface="Liberation Sans"/>
              </a:rPr>
              <a:t>i ti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500" i="1" dirty="0">
                <a:solidFill>
                  <a:srgbClr val="004D66"/>
                </a:solidFill>
                <a:latin typeface="Liberation Sans"/>
                <a:cs typeface="Liberation Sans"/>
              </a:rPr>
              <a:t>t là chìa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6835" y="6494478"/>
            <a:ext cx="2807322" cy="9225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4CAF50"/>
                </a:solidFill>
                <a:latin typeface="Liberation Sans"/>
                <a:cs typeface="Liberation Sans"/>
              </a:rPr>
              <a:t>•</a:t>
            </a:r>
            <a:r>
              <a:rPr sz="1350" b="1" spc="630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991B1B"/>
                </a:solidFill>
                <a:latin typeface="Liberation Sans"/>
                <a:cs typeface="Liberation Sans"/>
              </a:rPr>
              <a:t>Thu</a:t>
            </a:r>
            <a:r>
              <a:rPr sz="1200" b="1" dirty="0">
                <a:solidFill>
                  <a:srgbClr val="991B1B"/>
                </a:solidFill>
                <a:latin typeface="Liberation Sans"/>
                <a:cs typeface="Liberation Sans"/>
              </a:rPr>
              <a:t> th</a:t>
            </a:r>
            <a:r>
              <a:rPr sz="1200" b="1" spc="409" dirty="0">
                <a:solidFill>
                  <a:srgbClr val="991B1B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991B1B"/>
                </a:solidFill>
                <a:latin typeface="Liberation Sans"/>
                <a:cs typeface="Liberation Sans"/>
              </a:rPr>
              <a:t>p:</a:t>
            </a:r>
            <a:r>
              <a:rPr sz="1200" b="1" spc="719" dirty="0">
                <a:solidFill>
                  <a:srgbClr val="991B1B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Đa 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&amp; L</a:t>
            </a:r>
            <a:r>
              <a:rPr sz="1350" spc="-15" dirty="0">
                <a:solidFill>
                  <a:srgbClr val="004D66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l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564"/>
              </a:lnSpc>
              <a:spcBef>
                <a:spcPts val="1123"/>
              </a:spcBef>
              <a:spcAft>
                <a:spcPts val="0"/>
              </a:spcAft>
            </a:pPr>
            <a:r>
              <a:rPr sz="1350" b="1" dirty="0">
                <a:solidFill>
                  <a:srgbClr val="4CAF50"/>
                </a:solidFill>
                <a:latin typeface="Liberation Sans"/>
                <a:cs typeface="Liberation Sans"/>
              </a:rPr>
              <a:t>•</a:t>
            </a:r>
            <a:r>
              <a:rPr sz="1350" b="1" spc="630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854D0E"/>
                </a:solidFill>
                <a:latin typeface="Liberation Sans"/>
                <a:cs typeface="Liberation Sans"/>
              </a:rPr>
              <a:t>X</a:t>
            </a:r>
            <a:r>
              <a:rPr sz="1200" b="1" spc="726" dirty="0">
                <a:solidFill>
                  <a:srgbClr val="854D0E"/>
                </a:solidFill>
                <a:latin typeface="Liberation Sans"/>
                <a:cs typeface="Liberation Sans"/>
              </a:rPr>
              <a:t> </a:t>
            </a:r>
            <a:r>
              <a:rPr sz="1200" b="1" spc="-10" dirty="0">
                <a:solidFill>
                  <a:srgbClr val="854D0E"/>
                </a:solidFill>
                <a:latin typeface="Liberation Sans"/>
                <a:cs typeface="Liberation Sans"/>
              </a:rPr>
              <a:t>lý:</a:t>
            </a:r>
            <a:r>
              <a:rPr sz="1200" b="1" spc="690" dirty="0">
                <a:solidFill>
                  <a:srgbClr val="854D0E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&amp;</a:t>
            </a:r>
            <a:r>
              <a:rPr sz="1350" spc="-3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Tài nguyên</a:t>
            </a:r>
          </a:p>
          <a:p>
            <a:pPr marL="0" marR="0">
              <a:lnSpc>
                <a:spcPts val="1564"/>
              </a:lnSpc>
              <a:spcBef>
                <a:spcPts val="1081"/>
              </a:spcBef>
              <a:spcAft>
                <a:spcPts val="0"/>
              </a:spcAft>
            </a:pPr>
            <a:r>
              <a:rPr sz="1350" b="1" dirty="0">
                <a:solidFill>
                  <a:srgbClr val="4CAF50"/>
                </a:solidFill>
                <a:latin typeface="Liberation Sans"/>
                <a:cs typeface="Liberation Sans"/>
              </a:rPr>
              <a:t>•</a:t>
            </a:r>
            <a:r>
              <a:rPr sz="1350" b="1" spc="630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1E40AF"/>
                </a:solidFill>
                <a:latin typeface="Liberation Sans"/>
                <a:cs typeface="Liberation Sans"/>
              </a:rPr>
              <a:t>Phân</a:t>
            </a:r>
            <a:r>
              <a:rPr sz="1200" b="1" dirty="0">
                <a:solidFill>
                  <a:srgbClr val="1E40AF"/>
                </a:solidFill>
                <a:latin typeface="Liberation Sans"/>
                <a:cs typeface="Liberation Sans"/>
              </a:rPr>
              <a:t> </a:t>
            </a:r>
            <a:r>
              <a:rPr sz="1200" b="1" spc="-10" dirty="0">
                <a:solidFill>
                  <a:srgbClr val="1E40AF"/>
                </a:solidFill>
                <a:latin typeface="Liberation Sans"/>
                <a:cs typeface="Liberation Sans"/>
              </a:rPr>
              <a:t>tích:</a:t>
            </a:r>
            <a:r>
              <a:rPr sz="1200" b="1" spc="713" dirty="0">
                <a:solidFill>
                  <a:srgbClr val="1E40AF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Ph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 &amp; Mô hình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81774" y="6708333"/>
            <a:ext cx="3105694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i="1" dirty="0">
                <a:solidFill>
                  <a:srgbClr val="004D66"/>
                </a:solidFill>
                <a:latin typeface="Liberation Sans"/>
                <a:cs typeface="Liberation Sans"/>
              </a:rPr>
              <a:t>khóa cho </a:t>
            </a:r>
            <a:r>
              <a:rPr sz="1500" i="1" spc="1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500" i="1" dirty="0">
                <a:solidFill>
                  <a:srgbClr val="004D66"/>
                </a:solidFill>
                <a:latin typeface="Liberation Sans"/>
                <a:cs typeface="Liberation Sans"/>
              </a:rPr>
              <a:t>t t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ươ</a:t>
            </a:r>
            <a:r>
              <a:rPr sz="1500" i="1" dirty="0">
                <a:solidFill>
                  <a:srgbClr val="004D66"/>
                </a:solidFill>
                <a:latin typeface="Liberation Sans"/>
                <a:cs typeface="Liberation Sans"/>
              </a:rPr>
              <a:t>ng lai b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ề</a:t>
            </a:r>
            <a:r>
              <a:rPr sz="1500" i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i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i="1" dirty="0">
                <a:solidFill>
                  <a:srgbClr val="004D66"/>
                </a:solidFill>
                <a:latin typeface="Liberation Sans"/>
                <a:cs typeface="Liberation Sans"/>
              </a:rPr>
              <a:t>v</a:t>
            </a:r>
            <a:r>
              <a:rPr sz="1500" spc="23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500" i="1" dirty="0">
                <a:solidFill>
                  <a:srgbClr val="004D66"/>
                </a:solidFill>
                <a:latin typeface="Liberation Sans"/>
                <a:cs typeface="Liberation Sans"/>
              </a:rPr>
              <a:t>ng."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3618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945010" y="356876"/>
            <a:ext cx="6454121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I. </a:t>
            </a:r>
            <a:r>
              <a:rPr sz="3000" b="1" spc="14" dirty="0">
                <a:solidFill>
                  <a:srgbClr val="004D66"/>
                </a:solidFill>
                <a:latin typeface="DejaVu Sans"/>
                <a:cs typeface="DejaVu Sans"/>
              </a:rPr>
              <a:t>Giới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4D66"/>
                </a:solidFill>
                <a:latin typeface="DejaVu Sans"/>
                <a:cs typeface="DejaVu Sans"/>
              </a:rPr>
              <a:t>Thiệu: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20" dirty="0">
                <a:solidFill>
                  <a:srgbClr val="4CAF50"/>
                </a:solidFill>
                <a:latin typeface="DejaVu Sans"/>
                <a:cs typeface="DejaVu Sans"/>
              </a:rPr>
              <a:t>Mục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4CAF50"/>
                </a:solidFill>
                <a:latin typeface="DejaVu Sans"/>
                <a:cs typeface="DejaVu Sans"/>
              </a:rPr>
              <a:t>Tiêu</a:t>
            </a:r>
            <a:r>
              <a:rPr sz="3000" b="1" spc="1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20" dirty="0">
                <a:solidFill>
                  <a:srgbClr val="4CAF50"/>
                </a:solidFill>
                <a:latin typeface="DejaVu Sans"/>
                <a:cs typeface="DejaVu Sans"/>
              </a:rPr>
              <a:t>Đề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-112" dirty="0">
                <a:solidFill>
                  <a:srgbClr val="4CAF50"/>
                </a:solidFill>
                <a:latin typeface="DejaVu Sans"/>
                <a:cs typeface="DejaVu Sans"/>
              </a:rPr>
              <a:t>Tà</a:t>
            </a:r>
            <a:r>
              <a:rPr sz="3000" b="1" spc="-1028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563290" y="2239338"/>
            <a:ext cx="428947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40" dirty="0">
                <a:solidFill>
                  <a:srgbClr val="004D66"/>
                </a:solidFill>
                <a:latin typeface="DejaVu Sans"/>
                <a:cs typeface="DejaVu Sans"/>
              </a:rPr>
              <a:t>Xây</a:t>
            </a:r>
            <a:r>
              <a:rPr sz="1700" b="1" spc="2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dựng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21" dirty="0">
                <a:solidFill>
                  <a:srgbClr val="004D66"/>
                </a:solidFill>
                <a:latin typeface="DejaVu Sans"/>
                <a:cs typeface="DejaVu Sans"/>
              </a:rPr>
              <a:t>mô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DejaVu Sans"/>
                <a:cs typeface="DejaVu Sans"/>
              </a:rPr>
              <a:t>hình</a:t>
            </a:r>
            <a:r>
              <a:rPr sz="1700" b="1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dự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D66"/>
                </a:solidFill>
                <a:latin typeface="DejaVu Sans"/>
                <a:cs typeface="DejaVu Sans"/>
              </a:rPr>
              <a:t>báo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nhiệt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độ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65019" y="2239338"/>
            <a:ext cx="3620083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Ứng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dụng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và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đánh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DejaVu Sans"/>
                <a:cs typeface="DejaVu Sans"/>
              </a:rPr>
              <a:t>giá </a:t>
            </a: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các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D66"/>
                </a:solidFill>
                <a:latin typeface="DejaVu Sans"/>
                <a:cs typeface="DejaVu Sans"/>
              </a:rPr>
              <a:t>kỹ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563290" y="2534613"/>
            <a:ext cx="119652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4D66"/>
                </a:solidFill>
                <a:latin typeface="DejaVu Sans"/>
                <a:cs typeface="DejaVu Sans"/>
              </a:rPr>
              <a:t>hiệu</a:t>
            </a:r>
            <a:r>
              <a:rPr sz="1700" b="1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quả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65019" y="2534613"/>
            <a:ext cx="2807203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thuật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D66"/>
                </a:solidFill>
                <a:latin typeface="DejaVu Sans"/>
                <a:cs typeface="DejaVu Sans"/>
              </a:rPr>
              <a:t>khai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phá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dữ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563290" y="2822626"/>
            <a:ext cx="220415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(Nhiệt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đa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&amp;</a:t>
            </a:r>
            <a:r>
              <a:rPr sz="1200" spc="-27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DejaVu Sans"/>
                <a:cs typeface="DejaVu Sans"/>
              </a:rPr>
              <a:t>tối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thiểu)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65019" y="2822626"/>
            <a:ext cx="167322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3" dirty="0">
                <a:solidFill>
                  <a:srgbClr val="004D66"/>
                </a:solidFill>
                <a:latin typeface="DejaVu Sans"/>
                <a:cs typeface="DejaVu Sans"/>
              </a:rPr>
              <a:t>Tiên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tiến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hiện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đại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861839" y="3218786"/>
            <a:ext cx="801742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Nhiệt độ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22996" y="3218786"/>
            <a:ext cx="625976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Tối ưu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363568" y="3218786"/>
            <a:ext cx="1077161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Data Mining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800206" y="3218786"/>
            <a:ext cx="818974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Tiên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tiến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563290" y="4172913"/>
            <a:ext cx="398902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So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D66"/>
                </a:solidFill>
                <a:latin typeface="DejaVu Sans"/>
                <a:cs typeface="DejaVu Sans"/>
              </a:rPr>
              <a:t>sánh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DejaVu Sans"/>
                <a:cs typeface="DejaVu Sans"/>
              </a:rPr>
              <a:t>hiệu</a:t>
            </a:r>
            <a:r>
              <a:rPr sz="1700" b="1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D66"/>
                </a:solidFill>
                <a:latin typeface="DejaVu Sans"/>
                <a:cs typeface="DejaVu Sans"/>
              </a:rPr>
              <a:t>suất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D66"/>
                </a:solidFill>
                <a:latin typeface="DejaVu Sans"/>
                <a:cs typeface="DejaVu Sans"/>
              </a:rPr>
              <a:t>của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các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thuật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065019" y="4172913"/>
            <a:ext cx="371870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7" dirty="0">
                <a:solidFill>
                  <a:srgbClr val="004D66"/>
                </a:solidFill>
                <a:latin typeface="DejaVu Sans"/>
                <a:cs typeface="DejaVu Sans"/>
              </a:rPr>
              <a:t>Đề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D66"/>
                </a:solidFill>
                <a:latin typeface="DejaVu Sans"/>
                <a:cs typeface="DejaVu Sans"/>
              </a:rPr>
              <a:t>xuất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8" dirty="0">
                <a:solidFill>
                  <a:srgbClr val="004D66"/>
                </a:solidFill>
                <a:latin typeface="DejaVu Sans"/>
                <a:cs typeface="DejaVu Sans"/>
              </a:rPr>
              <a:t>một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DejaVu Sans"/>
                <a:cs typeface="DejaVu Sans"/>
              </a:rPr>
              <a:t>giải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pháp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dự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D66"/>
                </a:solidFill>
                <a:latin typeface="DejaVu Sans"/>
                <a:cs typeface="DejaVu Sans"/>
              </a:rPr>
              <a:t>báo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563290" y="4468188"/>
            <a:ext cx="290821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toán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D66"/>
                </a:solidFill>
                <a:latin typeface="DejaVu Sans"/>
                <a:cs typeface="DejaVu Sans"/>
              </a:rPr>
              <a:t>Machine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Learning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065019" y="4468188"/>
            <a:ext cx="326321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nhiệt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độ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DejaVu Sans"/>
                <a:cs typeface="DejaVu Sans"/>
              </a:rPr>
              <a:t>có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DejaVu Sans"/>
                <a:cs typeface="DejaVu Sans"/>
              </a:rPr>
              <a:t>tính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ứng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dụng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563290" y="4765726"/>
            <a:ext cx="210189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Tìm</a:t>
            </a:r>
            <a:r>
              <a:rPr sz="1200" spc="-2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ra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DejaVu Sans"/>
                <a:cs typeface="DejaVu Sans"/>
              </a:rPr>
              <a:t>thuật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toán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DejaVu Sans"/>
                <a:cs typeface="DejaVu Sans"/>
              </a:rPr>
              <a:t>tốt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nhất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065019" y="4765726"/>
            <a:ext cx="149781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004D66"/>
                </a:solidFill>
                <a:latin typeface="DejaVu Sans"/>
                <a:cs typeface="DejaVu Sans"/>
              </a:rPr>
              <a:t>Tính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DejaVu Sans"/>
                <a:cs typeface="DejaVu Sans"/>
              </a:rPr>
              <a:t>thực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tiễn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DejaVu Sans"/>
                <a:cs typeface="DejaVu Sans"/>
              </a:rPr>
              <a:t>cao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861839" y="5152361"/>
            <a:ext cx="1509687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Machine Learning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730971" y="5152361"/>
            <a:ext cx="882262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Hiệu suất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363568" y="5152361"/>
            <a:ext cx="916827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Ứng dụng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639769" y="5152361"/>
            <a:ext cx="868278" cy="2168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407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Thực tiễn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905595" y="6068388"/>
            <a:ext cx="853300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"Hướng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tới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dự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báo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nhiệt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độ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chính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FFFFFF"/>
                </a:solidFill>
                <a:latin typeface="DejaVu Sans"/>
                <a:cs typeface="DejaVu Sans"/>
              </a:rPr>
              <a:t>xác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và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ứng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FFFFFF"/>
                </a:solidFill>
                <a:latin typeface="DejaVu Sans"/>
                <a:cs typeface="DejaVu Sans"/>
              </a:rPr>
              <a:t>dụng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cao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DejaVu Sans"/>
                <a:cs typeface="DejaVu Sans"/>
              </a:rPr>
              <a:t>trong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FFFFFF"/>
                </a:solidFill>
                <a:latin typeface="DejaVu Sans"/>
                <a:cs typeface="DejaVu Sans"/>
              </a:rPr>
              <a:t>thực</a:t>
            </a:r>
            <a:r>
              <a:rPr sz="17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FFFFFF"/>
                </a:solidFill>
                <a:latin typeface="DejaVu Sans"/>
                <a:cs typeface="DejaVu Sans"/>
              </a:rPr>
              <a:t>tế."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5376862" y="6480226"/>
            <a:ext cx="176124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FFFFFF"/>
                </a:solidFill>
                <a:latin typeface="DejaVu Sans"/>
                <a:cs typeface="DejaVu Sans"/>
              </a:rPr>
              <a:t>Dự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báo</a:t>
            </a:r>
            <a:r>
              <a:rPr sz="1200" b="1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FFFFFF"/>
                </a:solidFill>
                <a:latin typeface="DejaVu Sans"/>
                <a:cs typeface="DejaVu Sans"/>
              </a:rPr>
              <a:t>thông</a:t>
            </a:r>
            <a:r>
              <a:rPr sz="1200" b="1" spc="-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FFFFFF"/>
                </a:solidFill>
                <a:latin typeface="DejaVu Sans"/>
                <a:cs typeface="DejaVu Sans"/>
              </a:rPr>
              <a:t>minh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57892"/>
            <a:ext cx="7495704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34E4A"/>
                </a:solidFill>
                <a:latin typeface="DejaVu Sans"/>
                <a:cs typeface="DejaVu Sans"/>
              </a:rPr>
              <a:t>II. </a:t>
            </a:r>
            <a:r>
              <a:rPr sz="3000" b="1" spc="17" dirty="0">
                <a:solidFill>
                  <a:srgbClr val="134E4A"/>
                </a:solidFill>
                <a:latin typeface="DejaVu Sans"/>
                <a:cs typeface="DejaVu Sans"/>
              </a:rPr>
              <a:t>Phát</a:t>
            </a:r>
            <a:r>
              <a:rPr sz="3000" b="1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134E4A"/>
                </a:solidFill>
                <a:latin typeface="DejaVu Sans"/>
                <a:cs typeface="DejaVu Sans"/>
              </a:rPr>
              <a:t>Biểu</a:t>
            </a:r>
            <a:r>
              <a:rPr sz="3000" b="1" spc="10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134E4A"/>
                </a:solidFill>
                <a:latin typeface="DejaVu Sans"/>
                <a:cs typeface="DejaVu Sans"/>
              </a:rPr>
              <a:t>Bài</a:t>
            </a:r>
            <a:r>
              <a:rPr sz="3000" b="1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3000" b="1" spc="-67" dirty="0">
                <a:solidFill>
                  <a:srgbClr val="134E4A"/>
                </a:solidFill>
                <a:latin typeface="DejaVu Sans"/>
                <a:cs typeface="DejaVu Sans"/>
              </a:rPr>
              <a:t>Toán:</a:t>
            </a:r>
            <a:r>
              <a:rPr sz="3000" b="1" spc="86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22C55E"/>
                </a:solidFill>
                <a:latin typeface="DejaVu Sans"/>
                <a:cs typeface="DejaVu Sans"/>
              </a:rPr>
              <a:t>Đặt</a:t>
            </a:r>
            <a:r>
              <a:rPr sz="3000" b="1" dirty="0">
                <a:solidFill>
                  <a:srgbClr val="22C55E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22C55E"/>
                </a:solidFill>
                <a:latin typeface="DejaVu Sans"/>
                <a:cs typeface="DejaVu Sans"/>
              </a:rPr>
              <a:t>Vấn</a:t>
            </a:r>
            <a:r>
              <a:rPr sz="3000" b="1" dirty="0">
                <a:solidFill>
                  <a:srgbClr val="22C55E"/>
                </a:solidFill>
                <a:latin typeface="DejaVu Sans"/>
                <a:cs typeface="DejaVu Sans"/>
              </a:rPr>
              <a:t> </a:t>
            </a:r>
            <a:r>
              <a:rPr sz="3000" b="1" spc="20" dirty="0">
                <a:solidFill>
                  <a:srgbClr val="22C55E"/>
                </a:solidFill>
                <a:latin typeface="DejaVu Sans"/>
                <a:cs typeface="DejaVu Sans"/>
              </a:rPr>
              <a:t>Đề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3927" y="1297379"/>
            <a:ext cx="333026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134E4A"/>
                </a:solidFill>
                <a:latin typeface="DejaVu Sans"/>
                <a:cs typeface="DejaVu Sans"/>
              </a:rPr>
              <a:t>Biến</a:t>
            </a:r>
            <a:r>
              <a:rPr sz="1700" b="1" spc="-10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134E4A"/>
                </a:solidFill>
                <a:latin typeface="DejaVu Sans"/>
                <a:cs typeface="DejaVu Sans"/>
              </a:rPr>
              <a:t>Đổi</a:t>
            </a:r>
            <a:r>
              <a:rPr sz="1700" b="1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134E4A"/>
                </a:solidFill>
                <a:latin typeface="DejaVu Sans"/>
                <a:cs typeface="DejaVu Sans"/>
              </a:rPr>
              <a:t>Khí</a:t>
            </a:r>
            <a:r>
              <a:rPr sz="1700" b="1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134E4A"/>
                </a:solidFill>
                <a:latin typeface="DejaVu Sans"/>
                <a:cs typeface="DejaVu Sans"/>
              </a:rPr>
              <a:t>Hậu</a:t>
            </a:r>
            <a:r>
              <a:rPr sz="1700" b="1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66" dirty="0">
                <a:solidFill>
                  <a:srgbClr val="134E4A"/>
                </a:solidFill>
                <a:latin typeface="DejaVu Sans"/>
                <a:cs typeface="DejaVu Sans"/>
              </a:rPr>
              <a:t>Toàn</a:t>
            </a:r>
            <a:r>
              <a:rPr sz="1700" b="1" spc="43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134E4A"/>
                </a:solidFill>
                <a:latin typeface="DejaVu Sans"/>
                <a:cs typeface="DejaVu Sans"/>
              </a:rPr>
              <a:t>Cầu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26919" y="1297379"/>
            <a:ext cx="272660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134E4A"/>
                </a:solidFill>
                <a:latin typeface="DejaVu Sans"/>
                <a:cs typeface="DejaVu Sans"/>
              </a:rPr>
              <a:t>Ảnh</a:t>
            </a:r>
            <a:r>
              <a:rPr sz="1700" b="1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134E4A"/>
                </a:solidFill>
                <a:latin typeface="DejaVu Sans"/>
                <a:cs typeface="DejaVu Sans"/>
              </a:rPr>
              <a:t>Hưởng</a:t>
            </a:r>
            <a:r>
              <a:rPr sz="1700" b="1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134E4A"/>
                </a:solidFill>
                <a:latin typeface="DejaVu Sans"/>
                <a:cs typeface="DejaVu Sans"/>
              </a:rPr>
              <a:t>Đa</a:t>
            </a:r>
            <a:r>
              <a:rPr sz="1700" b="1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134E4A"/>
                </a:solidFill>
                <a:latin typeface="DejaVu Sans"/>
                <a:cs typeface="DejaVu Sans"/>
              </a:rPr>
              <a:t>Ngành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83927" y="1641788"/>
            <a:ext cx="471764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spc="-76" dirty="0">
                <a:solidFill>
                  <a:srgbClr val="134E4A"/>
                </a:solidFill>
                <a:latin typeface="DejaVu Sans"/>
                <a:cs typeface="DejaVu Sans"/>
              </a:rPr>
              <a:t>Tác</a:t>
            </a:r>
            <a:r>
              <a:rPr sz="1350" spc="70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34E4A"/>
                </a:solidFill>
                <a:latin typeface="DejaVu Sans"/>
                <a:cs typeface="DejaVu Sans"/>
              </a:rPr>
              <a:t>động ngày càng </a:t>
            </a:r>
            <a:r>
              <a:rPr sz="1350" spc="-31" dirty="0">
                <a:solidFill>
                  <a:srgbClr val="134E4A"/>
                </a:solidFill>
                <a:latin typeface="DejaVu Sans"/>
                <a:cs typeface="DejaVu Sans"/>
              </a:rPr>
              <a:t>rõ</a:t>
            </a:r>
            <a:r>
              <a:rPr sz="1350" spc="25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134E4A"/>
                </a:solidFill>
                <a:latin typeface="DejaVu Sans"/>
                <a:cs typeface="DejaVu Sans"/>
              </a:rPr>
              <a:t>rệt lên thời tiết và môi trường.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026919" y="1641788"/>
            <a:ext cx="4334629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34E4A"/>
                </a:solidFill>
                <a:latin typeface="DejaVu Sans"/>
                <a:cs typeface="DejaVu Sans"/>
              </a:rPr>
              <a:t>Sức khỏe cộng đồng, nông nghiệp và năng lượng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34E4A"/>
                </a:solidFill>
                <a:latin typeface="DejaVu Sans"/>
                <a:cs typeface="DejaVu Sans"/>
              </a:rPr>
              <a:t>chịu tác động sâu rộng.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83927" y="2935679"/>
            <a:ext cx="379565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134E4A"/>
                </a:solidFill>
                <a:latin typeface="DejaVu Sans"/>
                <a:cs typeface="DejaVu Sans"/>
              </a:rPr>
              <a:t>Hạn</a:t>
            </a:r>
            <a:r>
              <a:rPr sz="1700" b="1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134E4A"/>
                </a:solidFill>
                <a:latin typeface="DejaVu Sans"/>
                <a:cs typeface="DejaVu Sans"/>
              </a:rPr>
              <a:t>Chế</a:t>
            </a:r>
            <a:r>
              <a:rPr sz="1700" b="1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134E4A"/>
                </a:solidFill>
                <a:latin typeface="DejaVu Sans"/>
                <a:cs typeface="DejaVu Sans"/>
              </a:rPr>
              <a:t>Dự</a:t>
            </a:r>
            <a:r>
              <a:rPr sz="1700" b="1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134E4A"/>
                </a:solidFill>
                <a:latin typeface="DejaVu Sans"/>
                <a:cs typeface="DejaVu Sans"/>
              </a:rPr>
              <a:t>Báo</a:t>
            </a:r>
            <a:r>
              <a:rPr sz="1700" b="1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41" dirty="0">
                <a:solidFill>
                  <a:srgbClr val="134E4A"/>
                </a:solidFill>
                <a:latin typeface="DejaVu Sans"/>
                <a:cs typeface="DejaVu Sans"/>
              </a:rPr>
              <a:t>Truyền</a:t>
            </a:r>
            <a:r>
              <a:rPr sz="1700" b="1" spc="20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134E4A"/>
                </a:solidFill>
                <a:latin typeface="DejaVu Sans"/>
                <a:cs typeface="DejaVu Sans"/>
              </a:rPr>
              <a:t>Thống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26919" y="2935679"/>
            <a:ext cx="288714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134E4A"/>
                </a:solidFill>
                <a:latin typeface="DejaVu Sans"/>
                <a:cs typeface="DejaVu Sans"/>
              </a:rPr>
              <a:t>Nhu</a:t>
            </a:r>
            <a:r>
              <a:rPr sz="1700" b="1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134E4A"/>
                </a:solidFill>
                <a:latin typeface="DejaVu Sans"/>
                <a:cs typeface="DejaVu Sans"/>
              </a:rPr>
              <a:t>Cầu</a:t>
            </a:r>
            <a:r>
              <a:rPr sz="1700" b="1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134E4A"/>
                </a:solidFill>
                <a:latin typeface="DejaVu Sans"/>
                <a:cs typeface="DejaVu Sans"/>
              </a:rPr>
              <a:t>Hệ</a:t>
            </a:r>
            <a:r>
              <a:rPr sz="1700" b="1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134E4A"/>
                </a:solidFill>
                <a:latin typeface="DejaVu Sans"/>
                <a:cs typeface="DejaVu Sans"/>
              </a:rPr>
              <a:t>Thống</a:t>
            </a:r>
            <a:r>
              <a:rPr sz="1700" b="1" dirty="0">
                <a:solidFill>
                  <a:srgbClr val="134E4A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134E4A"/>
                </a:solidFill>
                <a:latin typeface="DejaVu Sans"/>
                <a:cs typeface="DejaVu Sans"/>
              </a:rPr>
              <a:t>Mới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83927" y="3280088"/>
            <a:ext cx="4460781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34E4A"/>
                </a:solidFill>
                <a:latin typeface="DejaVu Sans"/>
                <a:cs typeface="DejaVu Sans"/>
              </a:rPr>
              <a:t>Không hiệu quả </a:t>
            </a:r>
            <a:r>
              <a:rPr sz="1350" spc="-10" dirty="0">
                <a:solidFill>
                  <a:srgbClr val="134E4A"/>
                </a:solidFill>
                <a:latin typeface="DejaVu Sans"/>
                <a:cs typeface="DejaVu Sans"/>
              </a:rPr>
              <a:t>trong</a:t>
            </a:r>
            <a:r>
              <a:rPr sz="1350" dirty="0">
                <a:solidFill>
                  <a:srgbClr val="134E4A"/>
                </a:solidFill>
                <a:latin typeface="DejaVu Sans"/>
                <a:cs typeface="DejaVu Sans"/>
              </a:rPr>
              <a:t> bối cảnh dữ liệu lớn và phức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34E4A"/>
                </a:solidFill>
                <a:latin typeface="DejaVu Sans"/>
                <a:cs typeface="DejaVu Sans"/>
              </a:rPr>
              <a:t>tạp.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26919" y="3280088"/>
            <a:ext cx="4301066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134E4A"/>
                </a:solidFill>
                <a:latin typeface="DejaVu Sans"/>
                <a:cs typeface="DejaVu Sans"/>
              </a:rPr>
              <a:t>Cần một hệ thống linh hoạt, chính xác và có khả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134E4A"/>
                </a:solidFill>
                <a:latin typeface="DejaVu Sans"/>
                <a:cs typeface="DejaVu Sans"/>
              </a:rPr>
              <a:t>năng thích ứng </a:t>
            </a:r>
            <a:r>
              <a:rPr sz="1350" spc="-11" dirty="0">
                <a:solidFill>
                  <a:srgbClr val="134E4A"/>
                </a:solidFill>
                <a:latin typeface="DejaVu Sans"/>
                <a:cs typeface="DejaVu Sans"/>
              </a:rPr>
              <a:t>cao.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694562" y="5031933"/>
            <a:ext cx="3966870" cy="8617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3574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0" dirty="0">
                <a:solidFill>
                  <a:srgbClr val="134E4A"/>
                </a:solidFill>
                <a:latin typeface="DejaVu Sans"/>
                <a:cs typeface="DejaVu Sans"/>
              </a:rPr>
              <a:t>Để</a:t>
            </a:r>
            <a:r>
              <a:rPr sz="1500" b="1" dirty="0">
                <a:solidFill>
                  <a:srgbClr val="134E4A"/>
                </a:solidFill>
                <a:latin typeface="DejaVu Sans"/>
                <a:cs typeface="DejaVu Sans"/>
              </a:rPr>
              <a:t> đối phó với thách thức </a:t>
            </a:r>
            <a:r>
              <a:rPr sz="1500" b="1" spc="-46" dirty="0">
                <a:solidFill>
                  <a:srgbClr val="134E4A"/>
                </a:solidFill>
                <a:latin typeface="DejaVu Sans"/>
                <a:cs typeface="DejaVu Sans"/>
              </a:rPr>
              <a:t>này,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b="1" dirty="0">
                <a:solidFill>
                  <a:srgbClr val="134E4A"/>
                </a:solidFill>
                <a:latin typeface="DejaVu Sans"/>
                <a:cs typeface="DejaVu Sans"/>
              </a:rPr>
              <a:t>chúng ta cần </a:t>
            </a:r>
            <a:r>
              <a:rPr sz="1500" b="1" spc="10" dirty="0">
                <a:solidFill>
                  <a:srgbClr val="134E4A"/>
                </a:solidFill>
                <a:latin typeface="DejaVu Sans"/>
                <a:cs typeface="DejaVu Sans"/>
              </a:rPr>
              <a:t>một</a:t>
            </a:r>
            <a:r>
              <a:rPr sz="1500" b="1" dirty="0">
                <a:solidFill>
                  <a:srgbClr val="134E4A"/>
                </a:solidFill>
                <a:latin typeface="DejaVu Sans"/>
                <a:cs typeface="DejaVu Sans"/>
              </a:rPr>
              <a:t> cách tiếp cận đột</a:t>
            </a:r>
          </a:p>
          <a:p>
            <a:pPr marL="466129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b="1" dirty="0">
                <a:solidFill>
                  <a:srgbClr val="134E4A"/>
                </a:solidFill>
                <a:latin typeface="DejaVu Sans"/>
                <a:cs typeface="DejaVu Sans"/>
              </a:rPr>
              <a:t>phá trong dự báo thời tiết.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543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35040" y="376231"/>
            <a:ext cx="4074151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II. 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Phát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7" dirty="0">
                <a:solidFill>
                  <a:srgbClr val="004D66"/>
                </a:solidFill>
                <a:latin typeface="Liberation Sans"/>
                <a:cs typeface="Liberation Sans"/>
              </a:rPr>
              <a:t>Bi</a:t>
            </a:r>
            <a:r>
              <a:rPr sz="3000" b="1" spc="103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3000" b="1" spc="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5" dirty="0">
                <a:solidFill>
                  <a:srgbClr val="004D66"/>
                </a:solidFill>
                <a:latin typeface="Liberation Sans"/>
                <a:cs typeface="Liberation Sans"/>
              </a:rPr>
              <a:t>Bài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-46" dirty="0">
                <a:solidFill>
                  <a:srgbClr val="004D66"/>
                </a:solidFill>
                <a:latin typeface="Liberation Sans"/>
                <a:cs typeface="Liberation Sans"/>
              </a:rPr>
              <a:t>Toán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05808" y="825496"/>
            <a:ext cx="2570837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2000" b="1" spc="10" dirty="0">
                <a:solidFill>
                  <a:srgbClr val="4CAF50"/>
                </a:solidFill>
                <a:latin typeface="Liberation Sans"/>
                <a:cs typeface="Liberation Sans"/>
              </a:rPr>
              <a:t>       </a:t>
            </a:r>
            <a:r>
              <a:rPr lang="en-US" sz="2000" b="1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lang="en-US" sz="2000" b="1" spc="10" dirty="0" err="1">
                <a:solidFill>
                  <a:srgbClr val="4CAF50"/>
                </a:solidFill>
                <a:latin typeface="Liberation Sans"/>
                <a:cs typeface="Liberation Sans"/>
              </a:rPr>
              <a:t>Bài</a:t>
            </a:r>
            <a:r>
              <a:rPr lang="en-US" sz="2000" b="1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lang="en-US" sz="2000" b="1" spc="-30" dirty="0" err="1">
                <a:solidFill>
                  <a:srgbClr val="4CAF50"/>
                </a:solidFill>
                <a:latin typeface="Liberation Sans"/>
                <a:cs typeface="Liberation Sans"/>
              </a:rPr>
              <a:t>Toán</a:t>
            </a:r>
            <a:r>
              <a:rPr lang="en-US" sz="2000" b="1" spc="43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lang="en-US" sz="2000" b="1" dirty="0">
                <a:solidFill>
                  <a:srgbClr val="4CAF50"/>
                </a:solidFill>
                <a:latin typeface="Liberation Sans"/>
                <a:cs typeface="Liberation Sans"/>
              </a:rPr>
              <a:t>C</a:t>
            </a:r>
            <a:r>
              <a:rPr lang="en-US" sz="2000" b="1" spc="1290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lang="en-US" sz="2000" b="1" spc="10" dirty="0">
                <a:solidFill>
                  <a:srgbClr val="4CAF50"/>
                </a:solidFill>
                <a:latin typeface="Liberation Sans"/>
                <a:cs typeface="Liberation Sans"/>
              </a:rPr>
              <a:t>Th</a:t>
            </a:r>
            <a:endParaRPr sz="2000" b="1" spc="10" dirty="0">
              <a:solidFill>
                <a:srgbClr val="4CAF50"/>
              </a:solidFill>
              <a:latin typeface="Liberation Sans"/>
              <a:cs typeface="Liberation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8148" y="1816625"/>
            <a:ext cx="1648425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700" b="1" spc="559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700" b="1" spc="-1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tiêu</a:t>
            </a:r>
            <a:r>
              <a:rPr sz="170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 chính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44939" y="1816625"/>
            <a:ext cx="1761109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sz="1700" b="1" spc="102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700" b="1" spc="57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700" b="1" spc="-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đ</a:t>
            </a:r>
            <a:r>
              <a:rPr sz="1700" b="1" spc="56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700" b="1" spc="-1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FFFFFF"/>
                </a:solidFill>
                <a:latin typeface="Liberation Sans"/>
                <a:cs typeface="Liberation Sans"/>
              </a:rPr>
              <a:t>vào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69168" y="2422083"/>
            <a:ext cx="3222692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500" spc="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báo nhi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 đ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 đa </a:t>
            </a:r>
            <a:r>
              <a:rPr sz="1500" spc="-10" dirty="0">
                <a:solidFill>
                  <a:srgbClr val="004D66"/>
                </a:solidFill>
                <a:latin typeface="Liberation Sans"/>
                <a:cs typeface="Liberation Sans"/>
              </a:rPr>
              <a:t>(maxTempC)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14528" y="2426490"/>
            <a:ext cx="1081015" cy="6717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cloudcover</a:t>
            </a:r>
          </a:p>
          <a:p>
            <a:pPr marL="0" marR="0">
              <a:lnSpc>
                <a:spcPts val="1689"/>
              </a:lnSpc>
              <a:spcBef>
                <a:spcPts val="161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tempC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380040" y="2426490"/>
            <a:ext cx="867426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humidity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69168" y="2841183"/>
            <a:ext cx="337964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500" spc="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báo nhi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 đ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 thi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spc="-10" dirty="0">
                <a:solidFill>
                  <a:srgbClr val="004D66"/>
                </a:solidFill>
                <a:latin typeface="Liberation Sans"/>
                <a:cs typeface="Liberation Sans"/>
              </a:rPr>
              <a:t>(minTempC)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380040" y="2845590"/>
            <a:ext cx="878209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sunHour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14528" y="3274215"/>
            <a:ext cx="1123865" cy="6812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heatindexC</a:t>
            </a:r>
          </a:p>
          <a:p>
            <a:pPr marL="0" marR="0">
              <a:lnSpc>
                <a:spcPts val="1689"/>
              </a:lnSpc>
              <a:spcBef>
                <a:spcPts val="1685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pressure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380040" y="3274215"/>
            <a:ext cx="1540073" cy="6812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precipMM</a:t>
            </a:r>
          </a:p>
          <a:p>
            <a:pPr marL="0" marR="0">
              <a:lnSpc>
                <a:spcPts val="1689"/>
              </a:lnSpc>
              <a:spcBef>
                <a:spcPts val="1685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Liberation Sans"/>
                <a:cs typeface="Liberation Sans"/>
              </a:rPr>
              <a:t>windspeedkmph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35273" y="6131715"/>
            <a:ext cx="947125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PH</a:t>
            </a:r>
            <a:r>
              <a:rPr sz="1500" b="1" spc="63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500" b="1" spc="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VI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7087789" y="6131715"/>
            <a:ext cx="1011169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YÊU C</a:t>
            </a:r>
            <a:r>
              <a:rPr sz="1500" b="1" spc="64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235273" y="6423338"/>
            <a:ext cx="4451296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Xác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nh b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c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nh thu th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 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v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ề</a:t>
            </a:r>
            <a:r>
              <a:rPr sz="1350" spc="3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ờ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gian và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a lý,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087789" y="6423338"/>
            <a:ext cx="446974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Mô hình c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chính xác cao và 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ổ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nh, ho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235273" y="6670988"/>
            <a:ext cx="344494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m b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o tính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di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cho mô hình 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báo.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087789" y="6670988"/>
            <a:ext cx="382454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hi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qu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350" spc="33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trong các đi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ề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ki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th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ờ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ti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khác nhau.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7703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64547"/>
            <a:ext cx="10120128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II. 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Phát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7" dirty="0">
                <a:solidFill>
                  <a:srgbClr val="004D66"/>
                </a:solidFill>
                <a:latin typeface="Liberation Sans"/>
                <a:cs typeface="Liberation Sans"/>
              </a:rPr>
              <a:t>Bi</a:t>
            </a:r>
            <a:r>
              <a:rPr sz="3000" b="1" spc="103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3000" b="1" spc="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5" dirty="0">
                <a:solidFill>
                  <a:srgbClr val="004D66"/>
                </a:solidFill>
                <a:latin typeface="Liberation Sans"/>
                <a:cs typeface="Liberation Sans"/>
              </a:rPr>
              <a:t>Bài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-34" dirty="0">
                <a:solidFill>
                  <a:srgbClr val="004D66"/>
                </a:solidFill>
                <a:latin typeface="Liberation Sans"/>
                <a:cs typeface="Liberation Sans"/>
              </a:rPr>
              <a:t>Toán:</a:t>
            </a:r>
            <a:r>
              <a:rPr sz="3000" b="1" spc="49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5" dirty="0">
                <a:solidFill>
                  <a:srgbClr val="4CAF50"/>
                </a:solidFill>
                <a:latin typeface="Liberation Sans"/>
                <a:cs typeface="Liberation Sans"/>
              </a:rPr>
              <a:t>Các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5" dirty="0">
                <a:solidFill>
                  <a:srgbClr val="4CAF50"/>
                </a:solidFill>
                <a:latin typeface="Liberation Sans"/>
                <a:cs typeface="Liberation Sans"/>
              </a:rPr>
              <a:t>Ph</a:t>
            </a:r>
            <a:r>
              <a:rPr sz="3000" b="1" spc="2989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4CAF50"/>
                </a:solidFill>
                <a:latin typeface="Liberation Sans"/>
                <a:cs typeface="Liberation Sans"/>
              </a:rPr>
              <a:t>ng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4CAF50"/>
                </a:solidFill>
                <a:latin typeface="Liberation Sans"/>
                <a:cs typeface="Liberation Sans"/>
              </a:rPr>
              <a:t>Pháp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 D</a:t>
            </a:r>
            <a:r>
              <a:rPr sz="3000" b="1" spc="1972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5" dirty="0">
                <a:solidFill>
                  <a:srgbClr val="4CAF50"/>
                </a:solidFill>
                <a:latin typeface="Liberation Sans"/>
                <a:cs typeface="Liberation Sans"/>
              </a:rPr>
              <a:t>Báo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5" dirty="0">
                <a:solidFill>
                  <a:srgbClr val="4CAF50"/>
                </a:solidFill>
                <a:latin typeface="Liberation Sans"/>
                <a:cs typeface="Liberation Sans"/>
              </a:rPr>
              <a:t>Khác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83726" y="470912"/>
            <a:ext cx="294792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FFFFFF"/>
                </a:solidFill>
                <a:latin typeface="Liberation Sans"/>
                <a:cs typeface="Liberation Sans"/>
              </a:rPr>
              <a:t>7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36612" y="1376317"/>
            <a:ext cx="2658498" cy="571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7" dirty="0">
                <a:solidFill>
                  <a:srgbClr val="004D66"/>
                </a:solidFill>
                <a:latin typeface="Liberation Sans"/>
                <a:cs typeface="Liberation Sans"/>
              </a:rPr>
              <a:t>Mô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hình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v</a:t>
            </a:r>
            <a:r>
              <a:rPr sz="1700" b="1" spc="56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lý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 khí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quy</a:t>
            </a:r>
            <a:r>
              <a:rPr sz="1700" b="1" spc="5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876"/>
              </a:lnSpc>
              <a:spcBef>
                <a:spcPts val="448"/>
              </a:spcBef>
              <a:spcAft>
                <a:spcPts val="0"/>
              </a:spcAft>
            </a:pPr>
            <a:r>
              <a:rPr sz="1700" b="1" spc="-14" dirty="0">
                <a:solidFill>
                  <a:srgbClr val="004D66"/>
                </a:solidFill>
                <a:latin typeface="Liberation Sans"/>
                <a:cs typeface="Liberation Sans"/>
              </a:rPr>
              <a:t>(NWP)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131891" y="1376317"/>
            <a:ext cx="2534061" cy="5717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004D66"/>
                </a:solidFill>
                <a:latin typeface="Liberation Sans"/>
                <a:cs typeface="Liberation Sans"/>
              </a:rPr>
              <a:t>Chu</a:t>
            </a:r>
            <a:r>
              <a:rPr sz="1700" b="1" spc="5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th</a:t>
            </a:r>
            <a:r>
              <a:rPr sz="1700" b="1" spc="57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gian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c</a:t>
            </a:r>
            <a:r>
              <a:rPr sz="1700" b="1" spc="103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đi</a:t>
            </a:r>
            <a:r>
              <a:rPr sz="1700" b="1" spc="58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876"/>
              </a:lnSpc>
              <a:spcBef>
                <a:spcPts val="448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(ARIMA)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27169" y="1376317"/>
            <a:ext cx="2689260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7" dirty="0">
                <a:solidFill>
                  <a:srgbClr val="004D66"/>
                </a:solidFill>
                <a:latin typeface="Liberation Sans"/>
                <a:cs typeface="Liberation Sans"/>
              </a:rPr>
              <a:t>ML</a:t>
            </a:r>
            <a:r>
              <a:rPr sz="1700" b="1" spc="-3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700" b="1" spc="102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B</a:t>
            </a:r>
            <a:r>
              <a:rPr sz="1700" b="1" spc="56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70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(H</a:t>
            </a:r>
            <a:r>
              <a:rPr sz="1700" b="1" spc="569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40" dirty="0">
                <a:solidFill>
                  <a:srgbClr val="004D66"/>
                </a:solidFill>
                <a:latin typeface="Liberation Sans"/>
                <a:cs typeface="Liberation Sans"/>
              </a:rPr>
              <a:t>quy,</a:t>
            </a:r>
            <a:r>
              <a:rPr sz="1700" b="1" spc="2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Cây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027169" y="1671592"/>
            <a:ext cx="1314208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quy</a:t>
            </a:r>
            <a:r>
              <a:rPr sz="1700" b="1" spc="5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700" b="1" spc="-3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nh)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94270" y="2096829"/>
            <a:ext cx="3055623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a trên các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nh lu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v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lý, toán 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ọ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ph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mô ph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ỏ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tr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thái khí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quy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489548" y="2096829"/>
            <a:ext cx="334089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Phân tích các m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ẫ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và xu h</a:t>
            </a:r>
            <a:r>
              <a:rPr sz="1350" spc="-15" dirty="0">
                <a:solidFill>
                  <a:srgbClr val="004D66"/>
                </a:solidFill>
                <a:latin typeface="DejaVu Sans"/>
                <a:cs typeface="DejaVu Sans"/>
              </a:rPr>
              <a:t>ướ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ừ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384826" y="2096829"/>
            <a:ext cx="3237461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S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các thu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toán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gi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ọ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quan 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spc="3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gi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a các bi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vào và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ra.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489548" y="2354004"/>
            <a:ext cx="278187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ch s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a ra 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báo t</a:t>
            </a:r>
            <a:r>
              <a:rPr sz="1350" spc="-15" dirty="0">
                <a:solidFill>
                  <a:srgbClr val="004D66"/>
                </a:solidFill>
                <a:latin typeface="DejaVu Sans"/>
                <a:cs typeface="DejaVu Sans"/>
              </a:rPr>
              <a:t>ươ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lai.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64827" y="4744779"/>
            <a:ext cx="127193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a trên v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lý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660105" y="4744779"/>
            <a:ext cx="142690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Phân tích l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ch s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ử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8555383" y="4744779"/>
            <a:ext cx="2002896" cy="9225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Thu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toán 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ọ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 máy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X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lý 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có c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trúc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ễ</a:t>
            </a:r>
            <a:r>
              <a:rPr sz="1350" spc="3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tri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khai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64827" y="5087679"/>
            <a:ext cx="1642541" cy="579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Mô ph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ỏ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ph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siêu máy tính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660105" y="5087679"/>
            <a:ext cx="1765848" cy="5796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Mô hình th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kê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Gi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350" spc="33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nh tính 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ổ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nh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607343" y="6404987"/>
            <a:ext cx="6327051" cy="324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Khai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phá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d</a:t>
            </a:r>
            <a:r>
              <a:rPr sz="2000" b="1" spc="1289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2000" b="1" spc="719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u: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S</a:t>
            </a:r>
            <a:r>
              <a:rPr sz="2000" b="1" spc="1289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khác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bi</a:t>
            </a:r>
            <a:r>
              <a:rPr sz="2000" b="1" spc="71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&amp;</a:t>
            </a:r>
            <a:r>
              <a:rPr sz="2000" b="1" spc="174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2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đi</a:t>
            </a:r>
            <a:r>
              <a:rPr sz="2000" b="1" spc="71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2000" b="1" spc="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v</a:t>
            </a:r>
            <a:r>
              <a:rPr sz="2000" b="1" spc="192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tr</a:t>
            </a:r>
            <a:r>
              <a:rPr sz="2000" b="1" spc="64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866006" y="6839525"/>
            <a:ext cx="6873647" cy="1290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Phát 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500" b="1" spc="49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i quan h</a:t>
            </a:r>
            <a:r>
              <a:rPr sz="1500" b="1" spc="9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ph</a:t>
            </a:r>
            <a:r>
              <a:rPr sz="1500" b="1" spc="55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500" b="1" spc="48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p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, phi tuy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tính 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mà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 các 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mô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 hình khác b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ỏ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qua.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X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ử</a:t>
            </a:r>
            <a:r>
              <a:rPr sz="1500" spc="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lý 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qu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500" spc="25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500" b="1" spc="98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500" b="1" spc="48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l</a:t>
            </a:r>
            <a:r>
              <a:rPr sz="1500" b="1" spc="48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n, đa d</a:t>
            </a:r>
            <a:r>
              <a:rPr sz="1500" b="1" spc="49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ng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và không đ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ồ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ng nh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 t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ừ</a:t>
            </a:r>
            <a:r>
              <a:rPr sz="1500" spc="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ề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ngu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ồ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 thi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500" b="1" spc="9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chính xác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500" spc="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báo và có kh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500" spc="25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năng thích </a:t>
            </a:r>
            <a:r>
              <a:rPr sz="1500" spc="23" dirty="0">
                <a:solidFill>
                  <a:srgbClr val="004D66"/>
                </a:solidFill>
                <a:latin typeface="DejaVu Sans"/>
                <a:cs typeface="DejaVu Sans"/>
              </a:rPr>
              <a:t>ứ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ng cao v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ớ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 d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500" spc="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m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ớ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i.</a:t>
            </a:r>
          </a:p>
          <a:p>
            <a:pPr marL="0" marR="0">
              <a:lnSpc>
                <a:spcPts val="1760"/>
              </a:lnSpc>
              <a:spcBef>
                <a:spcPts val="939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Tìm ki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500" spc="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500" b="1" spc="49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b="1" spc="9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và các quy t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ắ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 ti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ề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500" spc="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ẩ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n, t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o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ra ki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th</a:t>
            </a:r>
            <a:r>
              <a:rPr sz="1500" spc="23" dirty="0">
                <a:solidFill>
                  <a:srgbClr val="004D66"/>
                </a:solidFill>
                <a:latin typeface="DejaVu Sans"/>
                <a:cs typeface="DejaVu Sans"/>
              </a:rPr>
              <a:t>ứ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 có giá tr</a:t>
            </a:r>
            <a:r>
              <a:rPr sz="1500" spc="33" dirty="0">
                <a:solidFill>
                  <a:srgbClr val="004D66"/>
                </a:solidFill>
                <a:latin typeface="DejaVu Sans"/>
                <a:cs typeface="DejaVu Sans"/>
              </a:rPr>
              <a:t>ị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445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787056" y="396363"/>
            <a:ext cx="2770075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II.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Phát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Bi</a:t>
            </a:r>
            <a:r>
              <a:rPr sz="2000" b="1" spc="7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2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Bài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-30" dirty="0">
                <a:solidFill>
                  <a:srgbClr val="004D66"/>
                </a:solidFill>
                <a:latin typeface="Liberation Sans"/>
                <a:cs typeface="Liberation Sans"/>
              </a:rPr>
              <a:t>Toán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33463" y="804348"/>
            <a:ext cx="8210825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3000" b="1" spc="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7" dirty="0">
                <a:solidFill>
                  <a:srgbClr val="004D66"/>
                </a:solidFill>
                <a:latin typeface="Liberation Sans"/>
                <a:cs typeface="Liberation Sans"/>
              </a:rPr>
              <a:t>Nh</a:t>
            </a:r>
            <a:r>
              <a:rPr sz="3000" b="1" spc="298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3000" b="1" spc="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7" dirty="0">
                <a:solidFill>
                  <a:srgbClr val="004D66"/>
                </a:solidFill>
                <a:latin typeface="Liberation Sans"/>
                <a:cs typeface="Liberation Sans"/>
              </a:rPr>
              <a:t>Đi</a:t>
            </a:r>
            <a:r>
              <a:rPr sz="3000" b="1" spc="103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3000" b="1" spc="2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5" dirty="0">
                <a:solidFill>
                  <a:srgbClr val="4CAF50"/>
                </a:solidFill>
                <a:latin typeface="Liberation Sans"/>
                <a:cs typeface="Liberation Sans"/>
              </a:rPr>
              <a:t>Các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4CAF50"/>
                </a:solidFill>
                <a:latin typeface="Liberation Sans"/>
                <a:cs typeface="Liberation Sans"/>
              </a:rPr>
              <a:t>Thu</a:t>
            </a:r>
            <a:r>
              <a:rPr sz="3000" b="1" spc="1040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t</a:t>
            </a:r>
            <a:r>
              <a:rPr sz="3000" b="1" spc="14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-46" dirty="0">
                <a:solidFill>
                  <a:srgbClr val="4CAF50"/>
                </a:solidFill>
                <a:latin typeface="Liberation Sans"/>
                <a:cs typeface="Liberation Sans"/>
              </a:rPr>
              <a:t>Toán</a:t>
            </a:r>
            <a:r>
              <a:rPr sz="3000" b="1" spc="67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20" dirty="0">
                <a:solidFill>
                  <a:srgbClr val="4CAF50"/>
                </a:solidFill>
                <a:latin typeface="Liberation Sans"/>
                <a:cs typeface="Liberation Sans"/>
              </a:rPr>
              <a:t>ML</a:t>
            </a:r>
            <a:r>
              <a:rPr sz="3000" b="1" spc="-52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5" dirty="0">
                <a:solidFill>
                  <a:srgbClr val="4CAF50"/>
                </a:solidFill>
                <a:latin typeface="Liberation Sans"/>
                <a:cs typeface="Liberation Sans"/>
              </a:rPr>
              <a:t>Ph</a:t>
            </a:r>
            <a:r>
              <a:rPr sz="3000" b="1" spc="1879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7" dirty="0">
                <a:solidFill>
                  <a:srgbClr val="4CAF50"/>
                </a:solidFill>
                <a:latin typeface="Liberation Sans"/>
                <a:cs typeface="Liberation Sans"/>
              </a:rPr>
              <a:t>Bi</a:t>
            </a:r>
            <a:r>
              <a:rPr sz="3000" b="1" spc="1031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20650" y="2197118"/>
            <a:ext cx="2713344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RandomForestRegressor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37273" y="2197118"/>
            <a:ext cx="167019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XGBRegressor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89813" y="2197118"/>
            <a:ext cx="2156087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CatBoostRegressor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22027" y="2702208"/>
            <a:ext cx="778669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đi</a:t>
            </a:r>
            <a:r>
              <a:rPr sz="1500" b="1" spc="4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117305" y="2702208"/>
            <a:ext cx="778669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đi</a:t>
            </a:r>
            <a:r>
              <a:rPr sz="1500" b="1" spc="4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012583" y="2702208"/>
            <a:ext cx="778669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đi</a:t>
            </a:r>
            <a:r>
              <a:rPr sz="1500" b="1" spc="4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930919" y="3131363"/>
            <a:ext cx="1848151" cy="58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X</a:t>
            </a:r>
            <a:r>
              <a:rPr sz="1200" b="1" spc="726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lý</a:t>
            </a:r>
            <a:r>
              <a:rPr sz="1200" b="1" spc="-14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d</a:t>
            </a:r>
            <a:r>
              <a:rPr sz="1200" b="1" spc="728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li</a:t>
            </a:r>
            <a:r>
              <a:rPr sz="1200" b="1" spc="417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u</a:t>
            </a:r>
            <a:r>
              <a:rPr sz="1200" b="1" spc="-21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00838F"/>
                </a:solidFill>
                <a:latin typeface="Liberation Sans"/>
                <a:cs typeface="Liberation Sans"/>
              </a:rPr>
              <a:t>ph</a:t>
            </a:r>
            <a:r>
              <a:rPr sz="1200" b="1" spc="417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c</a:t>
            </a:r>
            <a:r>
              <a:rPr sz="1200" b="1" spc="-20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t</a:t>
            </a:r>
            <a:r>
              <a:rPr sz="1200" b="1" spc="407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p</a:t>
            </a:r>
          </a:p>
          <a:p>
            <a:pPr marL="0" marR="0">
              <a:lnSpc>
                <a:spcPts val="1313"/>
              </a:lnSpc>
              <a:spcBef>
                <a:spcPts val="1686"/>
              </a:spcBef>
              <a:spcAft>
                <a:spcPts val="0"/>
              </a:spcAft>
            </a:pP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Ít </a:t>
            </a:r>
            <a:r>
              <a:rPr sz="1200" b="1" spc="-15" dirty="0">
                <a:solidFill>
                  <a:srgbClr val="00838F"/>
                </a:solidFill>
                <a:latin typeface="Liberation Sans"/>
                <a:cs typeface="Liberation Sans"/>
              </a:rPr>
              <a:t>quá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spc="-14" dirty="0">
                <a:solidFill>
                  <a:srgbClr val="00838F"/>
                </a:solidFill>
                <a:latin typeface="Liberation Sans"/>
                <a:cs typeface="Liberation Sans"/>
              </a:rPr>
              <a:t>kh</a:t>
            </a:r>
            <a:r>
              <a:rPr sz="1200" b="1" spc="415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p</a:t>
            </a:r>
            <a:r>
              <a:rPr sz="1200" b="1" spc="-21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spc="-10" dirty="0">
                <a:solidFill>
                  <a:srgbClr val="00838F"/>
                </a:solidFill>
                <a:latin typeface="Liberation Sans"/>
                <a:cs typeface="Liberation Sans"/>
              </a:rPr>
              <a:t>(Overfitting)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826197" y="3131363"/>
            <a:ext cx="1392009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838F"/>
                </a:solidFill>
                <a:latin typeface="Liberation Sans"/>
                <a:cs typeface="Liberation Sans"/>
              </a:rPr>
              <a:t>Hi</a:t>
            </a:r>
            <a:r>
              <a:rPr sz="1200" b="1" spc="428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u</a:t>
            </a:r>
            <a:r>
              <a:rPr sz="1200" b="1" spc="-21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spc="-14" dirty="0">
                <a:solidFill>
                  <a:srgbClr val="00838F"/>
                </a:solidFill>
                <a:latin typeface="Liberation Sans"/>
                <a:cs typeface="Liberation Sans"/>
              </a:rPr>
              <a:t>su</a:t>
            </a:r>
            <a:r>
              <a:rPr sz="1200" b="1" spc="415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t</a:t>
            </a:r>
            <a:r>
              <a:rPr sz="1200" b="1" spc="-15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r</a:t>
            </a:r>
            <a:r>
              <a:rPr sz="1200" b="1" spc="407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t</a:t>
            </a:r>
            <a:r>
              <a:rPr sz="1200" b="1" spc="-15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spc="-14" dirty="0">
                <a:solidFill>
                  <a:srgbClr val="00838F"/>
                </a:solidFill>
                <a:latin typeface="Liberation Sans"/>
                <a:cs typeface="Liberation Sans"/>
              </a:rPr>
              <a:t>cao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721476" y="3131363"/>
            <a:ext cx="1996999" cy="585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X</a:t>
            </a:r>
            <a:r>
              <a:rPr sz="1200" b="1" spc="726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lý</a:t>
            </a:r>
            <a:r>
              <a:rPr sz="1200" b="1" spc="-14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t</a:t>
            </a:r>
            <a:r>
              <a:rPr sz="1200" b="1" spc="407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t</a:t>
            </a:r>
            <a:r>
              <a:rPr sz="1200" b="1" spc="-15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d</a:t>
            </a:r>
            <a:r>
              <a:rPr sz="1200" b="1" spc="728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li</a:t>
            </a:r>
            <a:r>
              <a:rPr sz="1200" b="1" spc="417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u</a:t>
            </a:r>
            <a:r>
              <a:rPr sz="1200" b="1" spc="-21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00838F"/>
                </a:solidFill>
                <a:latin typeface="Liberation Sans"/>
                <a:cs typeface="Liberation Sans"/>
              </a:rPr>
              <a:t>phân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 lo</a:t>
            </a:r>
            <a:r>
              <a:rPr sz="1200" b="1" spc="407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i</a:t>
            </a:r>
          </a:p>
          <a:p>
            <a:pPr marL="0" marR="0">
              <a:lnSpc>
                <a:spcPts val="1313"/>
              </a:lnSpc>
              <a:spcBef>
                <a:spcPts val="1686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838F"/>
                </a:solidFill>
                <a:latin typeface="Liberation Sans"/>
                <a:cs typeface="Liberation Sans"/>
              </a:rPr>
              <a:t>Hi</a:t>
            </a:r>
            <a:r>
              <a:rPr sz="1200" b="1" spc="428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u</a:t>
            </a:r>
            <a:r>
              <a:rPr sz="1200" b="1" spc="-21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spc="-14" dirty="0">
                <a:solidFill>
                  <a:srgbClr val="00838F"/>
                </a:solidFill>
                <a:latin typeface="Liberation Sans"/>
                <a:cs typeface="Liberation Sans"/>
              </a:rPr>
              <a:t>su</a:t>
            </a:r>
            <a:r>
              <a:rPr sz="1200" b="1" spc="415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t</a:t>
            </a:r>
            <a:r>
              <a:rPr sz="1200" b="1" spc="-15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spc="-14" dirty="0">
                <a:solidFill>
                  <a:srgbClr val="00838F"/>
                </a:solidFill>
                <a:latin typeface="Liberation Sans"/>
                <a:cs typeface="Liberation Sans"/>
              </a:rPr>
              <a:t>cao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826197" y="3512363"/>
            <a:ext cx="1574135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838F"/>
                </a:solidFill>
                <a:latin typeface="Liberation Sans"/>
                <a:cs typeface="Liberation Sans"/>
              </a:rPr>
              <a:t>Ch</a:t>
            </a:r>
            <a:r>
              <a:rPr sz="1200" b="1" spc="419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00838F"/>
                </a:solidFill>
                <a:latin typeface="Liberation Sans"/>
                <a:cs typeface="Liberation Sans"/>
              </a:rPr>
              <a:t>ng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00838F"/>
                </a:solidFill>
                <a:latin typeface="Liberation Sans"/>
                <a:cs typeface="Liberation Sans"/>
              </a:rPr>
              <a:t>quá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spc="-14" dirty="0">
                <a:solidFill>
                  <a:srgbClr val="00838F"/>
                </a:solidFill>
                <a:latin typeface="Liberation Sans"/>
                <a:cs typeface="Liberation Sans"/>
              </a:rPr>
              <a:t>kh</a:t>
            </a:r>
            <a:r>
              <a:rPr sz="1200" b="1" spc="415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p</a:t>
            </a:r>
            <a:r>
              <a:rPr sz="1200" b="1" spc="-21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t</a:t>
            </a:r>
            <a:r>
              <a:rPr sz="1200" b="1" spc="407" dirty="0">
                <a:solidFill>
                  <a:srgbClr val="00838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00838F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60102" y="3940458"/>
            <a:ext cx="1262216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Nh</a:t>
            </a:r>
            <a:r>
              <a:rPr sz="1500" b="1" spc="145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đi</a:t>
            </a:r>
            <a:r>
              <a:rPr sz="1500" b="1" spc="4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826197" y="3940458"/>
            <a:ext cx="1525058" cy="1015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9182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Nh</a:t>
            </a:r>
            <a:r>
              <a:rPr sz="1500" b="1" spc="145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đi</a:t>
            </a:r>
            <a:r>
              <a:rPr sz="1500" b="1" spc="4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</a:p>
          <a:p>
            <a:pPr marL="0" marR="0">
              <a:lnSpc>
                <a:spcPts val="1313"/>
              </a:lnSpc>
              <a:spcBef>
                <a:spcPts val="1689"/>
              </a:spcBef>
              <a:spcAft>
                <a:spcPts val="0"/>
              </a:spcAft>
            </a:pP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Đ</a:t>
            </a:r>
            <a:r>
              <a:rPr sz="1200" b="1" spc="725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B91C1C"/>
                </a:solidFill>
                <a:latin typeface="Liberation Sans"/>
                <a:cs typeface="Liberation Sans"/>
              </a:rPr>
              <a:t>ph</a:t>
            </a:r>
            <a:r>
              <a:rPr sz="1200" b="1" spc="417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c</a:t>
            </a:r>
            <a:r>
              <a:rPr sz="1200" b="1" spc="-20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t</a:t>
            </a:r>
            <a:r>
              <a:rPr sz="1200" b="1" spc="407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p</a:t>
            </a:r>
            <a:r>
              <a:rPr sz="1200" b="1" spc="-21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spc="-14" dirty="0">
                <a:solidFill>
                  <a:srgbClr val="B91C1C"/>
                </a:solidFill>
                <a:latin typeface="Liberation Sans"/>
                <a:cs typeface="Liberation Sans"/>
              </a:rPr>
              <a:t>cao</a:t>
            </a:r>
          </a:p>
          <a:p>
            <a:pPr marL="0" marR="0">
              <a:lnSpc>
                <a:spcPts val="1313"/>
              </a:lnSpc>
              <a:spcBef>
                <a:spcPts val="1686"/>
              </a:spcBef>
              <a:spcAft>
                <a:spcPts val="0"/>
              </a:spcAft>
            </a:pPr>
            <a:r>
              <a:rPr sz="1200" b="1" spc="-15" dirty="0">
                <a:solidFill>
                  <a:srgbClr val="B91C1C"/>
                </a:solidFill>
                <a:latin typeface="Liberation Sans"/>
                <a:cs typeface="Liberation Sans"/>
              </a:rPr>
              <a:t>Yêu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 c</a:t>
            </a:r>
            <a:r>
              <a:rPr sz="1200" b="1" spc="403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u</a:t>
            </a:r>
            <a:r>
              <a:rPr sz="1200" b="1" spc="-21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spc="-10" dirty="0">
                <a:solidFill>
                  <a:srgbClr val="B91C1C"/>
                </a:solidFill>
                <a:latin typeface="Liberation Sans"/>
                <a:cs typeface="Liberation Sans"/>
              </a:rPr>
              <a:t>tài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spc="-14" dirty="0">
                <a:solidFill>
                  <a:srgbClr val="B91C1C"/>
                </a:solidFill>
                <a:latin typeface="Liberation Sans"/>
                <a:cs typeface="Liberation Sans"/>
              </a:rPr>
              <a:t>nguyên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850658" y="3940458"/>
            <a:ext cx="1262215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Nh</a:t>
            </a:r>
            <a:r>
              <a:rPr sz="1500" b="1" spc="145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đi</a:t>
            </a:r>
            <a:r>
              <a:rPr sz="1500" b="1" spc="4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721476" y="4369613"/>
            <a:ext cx="1673722" cy="585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B91C1C"/>
                </a:solidFill>
                <a:latin typeface="Liberation Sans"/>
                <a:cs typeface="Liberation Sans"/>
              </a:rPr>
              <a:t>Tiêu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 t</a:t>
            </a:r>
            <a:r>
              <a:rPr sz="1200" b="1" spc="407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n</a:t>
            </a:r>
            <a:r>
              <a:rPr sz="1200" b="1" spc="-21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spc="-10" dirty="0">
                <a:solidFill>
                  <a:srgbClr val="B91C1C"/>
                </a:solidFill>
                <a:latin typeface="Liberation Sans"/>
                <a:cs typeface="Liberation Sans"/>
              </a:rPr>
              <a:t>tài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spc="-14" dirty="0">
                <a:solidFill>
                  <a:srgbClr val="B91C1C"/>
                </a:solidFill>
                <a:latin typeface="Liberation Sans"/>
                <a:cs typeface="Liberation Sans"/>
              </a:rPr>
              <a:t>nguyên</a:t>
            </a:r>
          </a:p>
          <a:p>
            <a:pPr marL="0" marR="0">
              <a:lnSpc>
                <a:spcPts val="1313"/>
              </a:lnSpc>
              <a:spcBef>
                <a:spcPts val="1686"/>
              </a:spcBef>
              <a:spcAft>
                <a:spcPts val="0"/>
              </a:spcAft>
            </a:pPr>
            <a:r>
              <a:rPr sz="1200" b="1" spc="-15" dirty="0">
                <a:solidFill>
                  <a:srgbClr val="B91C1C"/>
                </a:solidFill>
                <a:latin typeface="Liberation Sans"/>
                <a:cs typeface="Liberation Sans"/>
              </a:rPr>
              <a:t>Th</a:t>
            </a:r>
            <a:r>
              <a:rPr sz="1200" b="1" spc="417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i</a:t>
            </a:r>
            <a:r>
              <a:rPr sz="1200" b="1" spc="-14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spc="-11" dirty="0">
                <a:solidFill>
                  <a:srgbClr val="B91C1C"/>
                </a:solidFill>
                <a:latin typeface="Liberation Sans"/>
                <a:cs typeface="Liberation Sans"/>
              </a:rPr>
              <a:t>gian</a:t>
            </a:r>
            <a:r>
              <a:rPr sz="1200" b="1" spc="-10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B91C1C"/>
                </a:solidFill>
                <a:latin typeface="Liberation Sans"/>
                <a:cs typeface="Liberation Sans"/>
              </a:rPr>
              <a:t>hu</a:t>
            </a:r>
            <a:r>
              <a:rPr sz="1200" b="1" spc="417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n</a:t>
            </a:r>
            <a:r>
              <a:rPr sz="1200" b="1" spc="-21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spc="-10" dirty="0">
                <a:solidFill>
                  <a:srgbClr val="B91C1C"/>
                </a:solidFill>
                <a:latin typeface="Liberation Sans"/>
                <a:cs typeface="Liberation Sans"/>
              </a:rPr>
              <a:t>luy</a:t>
            </a:r>
            <a:r>
              <a:rPr sz="1200" b="1" spc="413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30919" y="4445813"/>
            <a:ext cx="1093482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T</a:t>
            </a:r>
            <a:r>
              <a:rPr sz="1200" b="1" spc="401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c</a:t>
            </a:r>
            <a:r>
              <a:rPr sz="1200" b="1" spc="-20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đ</a:t>
            </a:r>
            <a:r>
              <a:rPr sz="1200" b="1" spc="728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spc="-14" dirty="0">
                <a:solidFill>
                  <a:srgbClr val="B91C1C"/>
                </a:solidFill>
                <a:latin typeface="Liberation Sans"/>
                <a:cs typeface="Liberation Sans"/>
              </a:rPr>
              <a:t>ch</a:t>
            </a:r>
            <a:r>
              <a:rPr sz="1200" b="1" spc="415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m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175420" y="4445813"/>
            <a:ext cx="1151508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B91C1C"/>
                </a:solidFill>
                <a:latin typeface="Liberation Sans"/>
                <a:cs typeface="Liberation Sans"/>
              </a:rPr>
              <a:t>Khó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B91C1C"/>
                </a:solidFill>
                <a:latin typeface="Liberation Sans"/>
                <a:cs typeface="Liberation Sans"/>
              </a:rPr>
              <a:t>gi</a:t>
            </a:r>
            <a:r>
              <a:rPr sz="1200" b="1" spc="425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B91C1C"/>
                </a:solidFill>
                <a:latin typeface="Liberation Sans"/>
                <a:cs typeface="Liberation Sans"/>
              </a:rPr>
              <a:t>i</a:t>
            </a:r>
            <a:r>
              <a:rPr sz="1200" b="1" spc="-14" dirty="0">
                <a:solidFill>
                  <a:srgbClr val="B91C1C"/>
                </a:solidFill>
                <a:latin typeface="Liberation Sans"/>
                <a:cs typeface="Liberation Sans"/>
              </a:rPr>
              <a:t> </a:t>
            </a:r>
            <a:r>
              <a:rPr sz="1200" b="1" spc="-10" dirty="0">
                <a:solidFill>
                  <a:srgbClr val="B91C1C"/>
                </a:solidFill>
                <a:latin typeface="Liberation Sans"/>
                <a:cs typeface="Liberation Sans"/>
              </a:rPr>
              <a:t>thích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5134718" y="5359418"/>
            <a:ext cx="2074864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4" dirty="0">
                <a:solidFill>
                  <a:srgbClr val="004D66"/>
                </a:solidFill>
                <a:latin typeface="Liberation Sans"/>
                <a:cs typeface="Liberation Sans"/>
              </a:rPr>
              <a:t>So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sánh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t</a:t>
            </a:r>
            <a:r>
              <a:rPr sz="1700" b="1" spc="57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quan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46067"/>
            <a:ext cx="11051040" cy="1124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504"/>
              </a:lnSpc>
              <a:spcBef>
                <a:spcPts val="0"/>
              </a:spcBef>
              <a:spcAft>
                <a:spcPts val="0"/>
              </a:spcAft>
            </a:pPr>
            <a:r>
              <a:rPr sz="4050" b="1" dirty="0">
                <a:solidFill>
                  <a:srgbClr val="004D66"/>
                </a:solidFill>
                <a:latin typeface="Liberation Sans"/>
                <a:cs typeface="Liberation Sans"/>
              </a:rPr>
              <a:t>III. </a:t>
            </a:r>
            <a:r>
              <a:rPr sz="405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Thu</a:t>
            </a:r>
            <a:r>
              <a:rPr sz="4050" b="1" spc="135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405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4050" b="1" spc="-82" dirty="0">
                <a:solidFill>
                  <a:srgbClr val="004D66"/>
                </a:solidFill>
                <a:latin typeface="Liberation Sans"/>
                <a:cs typeface="Liberation Sans"/>
              </a:rPr>
              <a:t>Toán</a:t>
            </a:r>
            <a:r>
              <a:rPr sz="4050" b="1" spc="6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405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Chi</a:t>
            </a:r>
            <a:r>
              <a:rPr sz="405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4050" b="1" spc="-83" dirty="0">
                <a:solidFill>
                  <a:srgbClr val="004D66"/>
                </a:solidFill>
                <a:latin typeface="Liberation Sans"/>
                <a:cs typeface="Liberation Sans"/>
              </a:rPr>
              <a:t>Ti</a:t>
            </a:r>
            <a:r>
              <a:rPr sz="4050" b="1" spc="142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004D66"/>
                </a:solidFill>
                <a:latin typeface="Liberation Sans"/>
                <a:cs typeface="Liberation Sans"/>
              </a:rPr>
              <a:t>t: </a:t>
            </a:r>
            <a:r>
              <a:rPr sz="4050" b="1" dirty="0">
                <a:solidFill>
                  <a:srgbClr val="4CAF50"/>
                </a:solidFill>
                <a:latin typeface="Liberation Sans"/>
                <a:cs typeface="Liberation Sans"/>
              </a:rPr>
              <a:t>K</a:t>
            </a:r>
            <a:r>
              <a:rPr sz="4050" b="1" spc="2380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4050" b="1" spc="-10" dirty="0">
                <a:solidFill>
                  <a:srgbClr val="4CAF50"/>
                </a:solidFill>
                <a:latin typeface="Liberation Sans"/>
                <a:cs typeface="Liberation Sans"/>
              </a:rPr>
              <a:t>Thu</a:t>
            </a:r>
            <a:r>
              <a:rPr sz="4050" b="1" spc="1350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4CAF50"/>
                </a:solidFill>
                <a:latin typeface="Liberation Sans"/>
                <a:cs typeface="Liberation Sans"/>
              </a:rPr>
              <a:t>t</a:t>
            </a:r>
            <a:r>
              <a:rPr sz="4050" b="1" spc="-10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4050" b="1" spc="-11" dirty="0">
                <a:solidFill>
                  <a:srgbClr val="4CAF50"/>
                </a:solidFill>
                <a:latin typeface="Liberation Sans"/>
                <a:cs typeface="Liberation Sans"/>
              </a:rPr>
              <a:t>Khai</a:t>
            </a:r>
            <a:r>
              <a:rPr sz="4050" b="1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4050" b="1" spc="-11" dirty="0">
                <a:solidFill>
                  <a:srgbClr val="4CAF50"/>
                </a:solidFill>
                <a:latin typeface="Liberation Sans"/>
                <a:cs typeface="Liberation Sans"/>
              </a:rPr>
              <a:t>Phá</a:t>
            </a:r>
            <a:r>
              <a:rPr sz="4050" b="1" dirty="0">
                <a:solidFill>
                  <a:srgbClr val="4CAF50"/>
                </a:solidFill>
                <a:latin typeface="Liberation Sans"/>
                <a:cs typeface="Liberation Sans"/>
              </a:rPr>
              <a:t> D</a:t>
            </a:r>
          </a:p>
          <a:p>
            <a:pPr marL="0" marR="0">
              <a:lnSpc>
                <a:spcPts val="4050"/>
              </a:lnSpc>
              <a:spcBef>
                <a:spcPts val="50"/>
              </a:spcBef>
              <a:spcAft>
                <a:spcPts val="0"/>
              </a:spcAft>
            </a:pPr>
            <a:r>
              <a:rPr sz="4050" b="1" spc="-10" dirty="0">
                <a:solidFill>
                  <a:srgbClr val="4CAF50"/>
                </a:solidFill>
                <a:latin typeface="Liberation Sans"/>
                <a:cs typeface="Liberation Sans"/>
              </a:rPr>
              <a:t>Li</a:t>
            </a:r>
            <a:r>
              <a:rPr sz="4050" b="1" spc="1356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4050" b="1" dirty="0">
                <a:solidFill>
                  <a:srgbClr val="4CAF50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7155" y="1935554"/>
            <a:ext cx="11190068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4" dirty="0">
                <a:solidFill>
                  <a:srgbClr val="004D66"/>
                </a:solidFill>
                <a:latin typeface="Liberation Sans"/>
                <a:cs typeface="Liberation Sans"/>
              </a:rPr>
              <a:t>Quy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 trình</a:t>
            </a:r>
            <a:r>
              <a:rPr sz="1700" spc="-10" dirty="0">
                <a:solidFill>
                  <a:srgbClr val="004D66"/>
                </a:solidFill>
                <a:latin typeface="Liberation Sans"/>
                <a:cs typeface="Liberation Sans"/>
              </a:rPr>
              <a:t> khai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Liberation Sans"/>
                <a:cs typeface="Liberation Sans"/>
              </a:rPr>
              <a:t>phá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700" spc="1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700" spc="-1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là</a:t>
            </a:r>
            <a:r>
              <a:rPr sz="1700" spc="-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ề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700" spc="-1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700" spc="-11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Liberation Sans"/>
                <a:cs typeface="Liberation Sans"/>
              </a:rPr>
              <a:t>cho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700" spc="1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Liberation Sans"/>
                <a:cs typeface="Liberation Sans"/>
              </a:rPr>
              <a:t>báo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 th</a:t>
            </a:r>
            <a:r>
              <a:rPr sz="1700" spc="10" dirty="0">
                <a:solidFill>
                  <a:srgbClr val="004D66"/>
                </a:solidFill>
                <a:latin typeface="DejaVu Sans"/>
                <a:cs typeface="DejaVu Sans"/>
              </a:rPr>
              <a:t>ờ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  <a:r>
              <a:rPr sz="1700" spc="-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ti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700" spc="-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Liberation Sans"/>
                <a:cs typeface="Liberation Sans"/>
              </a:rPr>
              <a:t>chính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Liberation Sans"/>
                <a:cs typeface="Liberation Sans"/>
              </a:rPr>
              <a:t>xác,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Liberation Sans"/>
                <a:cs typeface="Liberation Sans"/>
              </a:rPr>
              <a:t>chuy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700" spc="-1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700" spc="10" dirty="0">
                <a:solidFill>
                  <a:srgbClr val="004D66"/>
                </a:solidFill>
                <a:latin typeface="DejaVu Sans"/>
                <a:cs typeface="DejaVu Sans"/>
              </a:rPr>
              <a:t>ổ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  <a:r>
              <a:rPr sz="1700" spc="-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700" spc="1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700" spc="-1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thô </a:t>
            </a:r>
            <a:r>
              <a:rPr sz="1700" spc="-10" dirty="0">
                <a:solidFill>
                  <a:srgbClr val="004D66"/>
                </a:solidFill>
                <a:latin typeface="Liberation Sans"/>
                <a:cs typeface="Liberation Sans"/>
              </a:rPr>
              <a:t>thành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Liberation Sans"/>
                <a:cs typeface="Liberation Sans"/>
              </a:rPr>
              <a:t>thông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 tin</a:t>
            </a:r>
            <a:r>
              <a:rPr sz="1700" spc="-11" dirty="0">
                <a:solidFill>
                  <a:srgbClr val="004D66"/>
                </a:solidFill>
                <a:latin typeface="Liberation Sans"/>
                <a:cs typeface="Liberation Sans"/>
              </a:rPr>
              <a:t> h</a:t>
            </a:r>
            <a:r>
              <a:rPr sz="1700" spc="-27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700" spc="-1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dirty="0">
                <a:solidFill>
                  <a:srgbClr val="004D66"/>
                </a:solidFill>
                <a:latin typeface="Liberation Sans"/>
                <a:cs typeface="Liberation Sans"/>
              </a:rPr>
              <a:t>ích.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46100" y="2721765"/>
            <a:ext cx="1183822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1. Thu th</a:t>
            </a:r>
            <a:r>
              <a:rPr sz="1500" b="1" spc="48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325266" y="2721765"/>
            <a:ext cx="1261991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2. </a:t>
            </a:r>
            <a:r>
              <a:rPr sz="1500" b="1" spc="-20" dirty="0">
                <a:solidFill>
                  <a:srgbClr val="004D66"/>
                </a:solidFill>
                <a:latin typeface="Liberation Sans"/>
                <a:cs typeface="Liberation Sans"/>
              </a:rPr>
              <a:t>Ti</a:t>
            </a:r>
            <a:r>
              <a:rPr sz="1500" b="1" spc="50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x</a:t>
            </a:r>
            <a:r>
              <a:rPr sz="1500" b="1" spc="98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lý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704432" y="2721765"/>
            <a:ext cx="1229919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3. Phân tích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083598" y="2721765"/>
            <a:ext cx="1101582" cy="5479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4. </a:t>
            </a:r>
            <a:r>
              <a:rPr sz="1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Mô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 hình</a:t>
            </a:r>
          </a:p>
          <a:p>
            <a:pPr marL="0" marR="0">
              <a:lnSpc>
                <a:spcPts val="1689"/>
              </a:lnSpc>
              <a:spcBef>
                <a:spcPts val="635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hóa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462765" y="2721765"/>
            <a:ext cx="1176577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5. Đánh giá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86841" y="3099868"/>
            <a:ext cx="1392203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200" spc="-2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Liberation Sans"/>
                <a:cs typeface="Liberation Sans"/>
              </a:rPr>
              <a:t>bi</a:t>
            </a:r>
            <a:r>
              <a:rPr sz="1200" spc="11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n,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Liberation Sans"/>
                <a:cs typeface="Liberation Sans"/>
              </a:rPr>
              <a:t>v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200" spc="3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Liberation Sans"/>
                <a:cs typeface="Liberation Sans"/>
              </a:rPr>
              <a:t>tinh,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069728" y="3099868"/>
            <a:ext cx="1479610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Làm </a:t>
            </a:r>
            <a:r>
              <a:rPr sz="1200" spc="-11" dirty="0">
                <a:solidFill>
                  <a:srgbClr val="004D66"/>
                </a:solidFill>
                <a:latin typeface="Liberation Sans"/>
                <a:cs typeface="Liberation Sans"/>
              </a:rPr>
              <a:t>s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200" spc="-12" dirty="0">
                <a:solidFill>
                  <a:srgbClr val="004D66"/>
                </a:solidFill>
                <a:latin typeface="Liberation Sans"/>
                <a:cs typeface="Liberation Sans"/>
              </a:rPr>
              <a:t>ch,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tích</a:t>
            </a:r>
            <a:r>
              <a:rPr sz="1200" spc="-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h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ợ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p,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48150" y="3099868"/>
            <a:ext cx="1599764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004D66"/>
                </a:solidFill>
                <a:latin typeface="Liberation Sans"/>
                <a:cs typeface="Liberation Sans"/>
              </a:rPr>
              <a:t>Tìm</a:t>
            </a:r>
            <a:r>
              <a:rPr sz="1200" spc="-1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ki</a:t>
            </a:r>
            <a:r>
              <a:rPr sz="1200" spc="11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200" spc="-2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20" dirty="0">
                <a:solidFill>
                  <a:srgbClr val="004D66"/>
                </a:solidFill>
                <a:latin typeface="Liberation Sans"/>
                <a:cs typeface="Liberation Sans"/>
              </a:rPr>
              <a:t>mô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Liberation Sans"/>
                <a:cs typeface="Liberation Sans"/>
              </a:rPr>
              <a:t>hình,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Liberation Sans"/>
                <a:cs typeface="Liberation Sans"/>
              </a:rPr>
              <a:t>xu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205739" y="3099868"/>
            <a:ext cx="1463633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004D66"/>
                </a:solidFill>
                <a:latin typeface="Liberation Sans"/>
                <a:cs typeface="Liberation Sans"/>
              </a:rPr>
              <a:t>Ki</a:t>
            </a:r>
            <a:r>
              <a:rPr sz="1200" spc="11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200" spc="-2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200" spc="-33" dirty="0">
                <a:solidFill>
                  <a:srgbClr val="004D66"/>
                </a:solidFill>
                <a:latin typeface="DejaVu Sans"/>
                <a:cs typeface="DejaVu Sans"/>
              </a:rPr>
              <a:t>ị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nh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Liberation Sans"/>
                <a:cs typeface="Liberation Sans"/>
              </a:rPr>
              <a:t>và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t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  <a:r>
              <a:rPr sz="1200" spc="-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ư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6841" y="3309418"/>
            <a:ext cx="1184763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tr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200" spc="-2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Liberation Sans"/>
                <a:cs typeface="Liberation Sans"/>
              </a:rPr>
              <a:t>khí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t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ượ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069728" y="3309418"/>
            <a:ext cx="948621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004D66"/>
                </a:solidFill>
                <a:latin typeface="Liberation Sans"/>
                <a:cs typeface="Liberation Sans"/>
              </a:rPr>
              <a:t>gi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200" spc="-2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Liberation Sans"/>
                <a:cs typeface="Liberation Sans"/>
              </a:rPr>
              <a:t>nhi</a:t>
            </a:r>
            <a:r>
              <a:rPr sz="1200" spc="11" dirty="0">
                <a:solidFill>
                  <a:srgbClr val="004D66"/>
                </a:solidFill>
                <a:latin typeface="DejaVu Sans"/>
                <a:cs typeface="DejaVu Sans"/>
              </a:rPr>
              <a:t>ễ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448150" y="3309418"/>
            <a:ext cx="853195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h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ướ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ẩ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205739" y="3312845"/>
            <a:ext cx="1023796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hóa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20" dirty="0">
                <a:solidFill>
                  <a:srgbClr val="004D66"/>
                </a:solidFill>
                <a:latin typeface="Liberation Sans"/>
                <a:cs typeface="Liberation Sans"/>
              </a:rPr>
              <a:t>mô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Liberation Sans"/>
                <a:cs typeface="Liberation Sans"/>
              </a:rPr>
              <a:t>hình.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837883" y="3376093"/>
            <a:ext cx="1438523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4D66"/>
                </a:solidFill>
                <a:latin typeface="Liberation Sans"/>
                <a:cs typeface="Liberation Sans"/>
              </a:rPr>
              <a:t>Áp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ụ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Liberation Sans"/>
                <a:cs typeface="Liberation Sans"/>
              </a:rPr>
              <a:t>thu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Liberation Sans"/>
                <a:cs typeface="Liberation Sans"/>
              </a:rPr>
              <a:t>toán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7837883" y="3595168"/>
            <a:ext cx="662695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200" spc="15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báo.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254769" y="5007501"/>
            <a:ext cx="2857213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700" b="1" spc="56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700" b="1" spc="-2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Quan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4" dirty="0">
                <a:solidFill>
                  <a:srgbClr val="004D66"/>
                </a:solidFill>
                <a:latin typeface="Liberation Sans"/>
                <a:cs typeface="Liberation Sans"/>
              </a:rPr>
              <a:t>Tr</a:t>
            </a:r>
            <a:r>
              <a:rPr sz="1700" b="1" spc="67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V</a:t>
            </a:r>
            <a:r>
              <a:rPr sz="1700" b="1" spc="161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4" dirty="0">
                <a:solidFill>
                  <a:srgbClr val="004D66"/>
                </a:solidFill>
                <a:latin typeface="Liberation Sans"/>
                <a:cs typeface="Liberation Sans"/>
              </a:rPr>
              <a:t>Tr</a:t>
            </a:r>
            <a:r>
              <a:rPr sz="1700" b="1" spc="67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841776" y="5007501"/>
            <a:ext cx="2900326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Phát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Liberation Sans"/>
                <a:cs typeface="Liberation Sans"/>
              </a:rPr>
              <a:t>Hi</a:t>
            </a:r>
            <a:r>
              <a:rPr sz="1700" b="1" spc="58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70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Thông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23" dirty="0">
                <a:solidFill>
                  <a:srgbClr val="004D66"/>
                </a:solidFill>
                <a:latin typeface="Liberation Sans"/>
                <a:cs typeface="Liberation Sans"/>
              </a:rPr>
              <a:t>Tin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Giá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4" dirty="0">
                <a:solidFill>
                  <a:srgbClr val="004D66"/>
                </a:solidFill>
                <a:latin typeface="Liberation Sans"/>
                <a:cs typeface="Liberation Sans"/>
              </a:rPr>
              <a:t>Tr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37480" y="5480364"/>
            <a:ext cx="458329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l</a:t>
            </a:r>
            <a:r>
              <a:rPr sz="1350" spc="-15" dirty="0">
                <a:solidFill>
                  <a:srgbClr val="004D66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m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ỗ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giai đo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nh hình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chính xác mô hình.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624487" y="5480364"/>
            <a:ext cx="429875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Khai phá 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tìm ra liên k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ph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 trong th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ờ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ti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037480" y="5813739"/>
            <a:ext cx="3527061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s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ch, mô hình m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nh, 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báo tin c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350" spc="-102" dirty="0">
                <a:solidFill>
                  <a:srgbClr val="004D66"/>
                </a:solidFill>
                <a:latin typeface="Liberation Sans"/>
                <a:cs typeface="Liberation Sans"/>
              </a:rPr>
              <a:t>y.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6624487" y="5813739"/>
            <a:ext cx="434612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Thúc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ẩ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y hi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bi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sâu s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ắ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c, nâng cao năng l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 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báo.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9590483" y="6484935"/>
            <a:ext cx="2327091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B7280"/>
                </a:solidFill>
                <a:latin typeface="Liberation Sans"/>
                <a:cs typeface="Liberation Sans"/>
              </a:rPr>
              <a:t>Image Sources: Big Data Visualization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82931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6690" y="405010"/>
            <a:ext cx="11382806" cy="913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III. </a:t>
            </a:r>
            <a:r>
              <a:rPr sz="3000" b="1" spc="15" dirty="0">
                <a:solidFill>
                  <a:srgbClr val="004D66"/>
                </a:solidFill>
                <a:latin typeface="DejaVu Sans"/>
                <a:cs typeface="DejaVu Sans"/>
              </a:rPr>
              <a:t>Thuật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-87" dirty="0">
                <a:solidFill>
                  <a:srgbClr val="004D66"/>
                </a:solidFill>
                <a:latin typeface="DejaVu Sans"/>
                <a:cs typeface="DejaVu Sans"/>
              </a:rPr>
              <a:t>Toán</a:t>
            </a:r>
            <a:r>
              <a:rPr sz="3000" b="1" spc="112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4D66"/>
                </a:solidFill>
                <a:latin typeface="DejaVu Sans"/>
                <a:cs typeface="DejaVu Sans"/>
              </a:rPr>
              <a:t>Chi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004D66"/>
                </a:solidFill>
                <a:latin typeface="DejaVu Sans"/>
                <a:cs typeface="DejaVu Sans"/>
              </a:rPr>
              <a:t>Tiết: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23" dirty="0">
                <a:solidFill>
                  <a:srgbClr val="4CAF50"/>
                </a:solidFill>
                <a:latin typeface="DejaVu Sans"/>
                <a:cs typeface="DejaVu Sans"/>
              </a:rPr>
              <a:t>Mô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4CAF50"/>
                </a:solidFill>
                <a:latin typeface="DejaVu Sans"/>
                <a:cs typeface="DejaVu Sans"/>
              </a:rPr>
              <a:t>Hình</a:t>
            </a:r>
            <a:r>
              <a:rPr sz="3000" b="1" spc="1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4CAF50"/>
                </a:solidFill>
                <a:latin typeface="DejaVu Sans"/>
                <a:cs typeface="DejaVu Sans"/>
              </a:rPr>
              <a:t>Sử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4CAF50"/>
                </a:solidFill>
                <a:latin typeface="DejaVu Sans"/>
                <a:cs typeface="DejaVu Sans"/>
              </a:rPr>
              <a:t>Dụng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-</a:t>
            </a:r>
            <a:r>
              <a:rPr sz="3000" b="1" spc="18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4CAF50"/>
                </a:solidFill>
                <a:latin typeface="DejaVu Sans"/>
                <a:cs typeface="DejaVu Sans"/>
              </a:rPr>
              <a:t>Gradient</a:t>
            </a:r>
          </a:p>
          <a:p>
            <a:pPr marL="0" marR="0">
              <a:lnSpc>
                <a:spcPts val="3375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4" dirty="0">
                <a:solidFill>
                  <a:srgbClr val="4CAF50"/>
                </a:solidFill>
                <a:latin typeface="DejaVu Sans"/>
                <a:cs typeface="DejaVu Sans"/>
              </a:rPr>
              <a:t>Boosting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20345" y="1687396"/>
            <a:ext cx="3628299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Gradient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Boosting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Regressor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411217" y="2108005"/>
            <a:ext cx="502917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Thuật toán học máy mạnh mẽ, xây dựng mô hình dự báo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chính xác qua nhiều bước lặp.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79678" y="3194610"/>
            <a:ext cx="154481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4D66"/>
                </a:solidFill>
                <a:latin typeface="DejaVu Sans"/>
                <a:cs typeface="DejaVu Sans"/>
              </a:rPr>
              <a:t>Minimizing</a:t>
            </a:r>
            <a:r>
              <a:rPr sz="1200" b="1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004D66"/>
                </a:solidFill>
                <a:latin typeface="DejaVu Sans"/>
                <a:cs typeface="DejaVu Sans"/>
              </a:rPr>
              <a:t>Error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82109" y="3527230"/>
            <a:ext cx="465367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Tối ưu hóa hàm sai số (loss function) bằng cách điều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chỉnh trọng số và thêm mô hình.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3808" y="4261410"/>
            <a:ext cx="140567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34" dirty="0">
                <a:solidFill>
                  <a:srgbClr val="004D66"/>
                </a:solidFill>
                <a:latin typeface="DejaVu Sans"/>
                <a:cs typeface="DejaVu Sans"/>
              </a:rPr>
              <a:t>Weak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4D66"/>
                </a:solidFill>
                <a:latin typeface="DejaVu Sans"/>
                <a:cs typeface="DejaVu Sans"/>
              </a:rPr>
              <a:t>Learners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06239" y="4594030"/>
            <a:ext cx="4556068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Kết hợp các 'bộ dự đoán yếu' (ví dụ: cây quyết định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nông) để học từ sai số.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73117" y="4592521"/>
            <a:ext cx="389990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7" dirty="0">
                <a:solidFill>
                  <a:srgbClr val="004D66"/>
                </a:solidFill>
                <a:latin typeface="DejaVu Sans"/>
                <a:cs typeface="DejaVu Sans"/>
              </a:rPr>
              <a:t>Ưu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DejaVu Sans"/>
                <a:cs typeface="DejaVu Sans"/>
              </a:rPr>
              <a:t>điểm</a:t>
            </a:r>
            <a:r>
              <a:rPr sz="1700" b="1" spc="-17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DejaVu Sans"/>
                <a:cs typeface="DejaVu Sans"/>
              </a:rPr>
              <a:t>trong</a:t>
            </a:r>
            <a:r>
              <a:rPr sz="1700" b="1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004D66"/>
                </a:solidFill>
                <a:latin typeface="DejaVu Sans"/>
                <a:cs typeface="DejaVu Sans"/>
              </a:rPr>
              <a:t>Dự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D66"/>
                </a:solidFill>
                <a:latin typeface="DejaVu Sans"/>
                <a:cs typeface="DejaVu Sans"/>
              </a:rPr>
              <a:t>báo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Nhiệt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độ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686995" y="4975030"/>
            <a:ext cx="4830891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Độ chính xác cao, xử lý hiệu quả các biến không tuyến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tính.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86995" y="5575105"/>
            <a:ext cx="4189554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Mạnh mẽ với dữ liệu nhiễu và thiếu, giảm thiểu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overﬁtting.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03808" y="5766360"/>
            <a:ext cx="205503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2" dirty="0">
                <a:solidFill>
                  <a:srgbClr val="004D66"/>
                </a:solidFill>
                <a:latin typeface="DejaVu Sans"/>
                <a:cs typeface="DejaVu Sans"/>
              </a:rPr>
              <a:t>Iterative</a:t>
            </a:r>
            <a:r>
              <a:rPr sz="1200" b="1" spc="-1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4D66"/>
                </a:solidFill>
                <a:latin typeface="DejaVu Sans"/>
                <a:cs typeface="DejaVu Sans"/>
              </a:rPr>
              <a:t>Improvement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06239" y="6089455"/>
            <a:ext cx="4585633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Mỗi mô hình mới tập trung sửa lỗi của mô hình tổng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hợp trước đó, cải thiện tuần tự.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686995" y="6175180"/>
            <a:ext cx="5001369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Khả năng học từ dữ liệu phức tạp, cung cấp dự báo đáng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tin </a:t>
            </a:r>
            <a:r>
              <a:rPr sz="1350" spc="-50" dirty="0">
                <a:solidFill>
                  <a:srgbClr val="004D66"/>
                </a:solidFill>
                <a:latin typeface="DejaVu Sans"/>
                <a:cs typeface="DejaVu Sans"/>
              </a:rPr>
              <a:t>cậy.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491632" y="7871385"/>
            <a:ext cx="131319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004D66"/>
                </a:solidFill>
                <a:latin typeface="DejaVu Sans"/>
                <a:cs typeface="DejaVu Sans"/>
              </a:rPr>
              <a:t>Chính</a:t>
            </a:r>
            <a:r>
              <a:rPr sz="1200" b="1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4D66"/>
                </a:solidFill>
                <a:latin typeface="DejaVu Sans"/>
                <a:cs typeface="DejaVu Sans"/>
              </a:rPr>
              <a:t>xác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4D66"/>
                </a:solidFill>
                <a:latin typeface="DejaVu Sans"/>
                <a:cs typeface="DejaVu Sans"/>
              </a:rPr>
              <a:t>cao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207025" y="7871385"/>
            <a:ext cx="165503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3" dirty="0">
                <a:solidFill>
                  <a:srgbClr val="004D66"/>
                </a:solidFill>
                <a:latin typeface="DejaVu Sans"/>
                <a:cs typeface="DejaVu Sans"/>
              </a:rPr>
              <a:t>Mô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004D66"/>
                </a:solidFill>
                <a:latin typeface="DejaVu Sans"/>
                <a:cs typeface="DejaVu Sans"/>
              </a:rPr>
              <a:t>hình</a:t>
            </a:r>
            <a:r>
              <a:rPr sz="1200" b="1" spc="-1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20" dirty="0">
                <a:solidFill>
                  <a:srgbClr val="004D66"/>
                </a:solidFill>
                <a:latin typeface="DejaVu Sans"/>
                <a:cs typeface="DejaVu Sans"/>
              </a:rPr>
              <a:t>mạnh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25" dirty="0">
                <a:solidFill>
                  <a:srgbClr val="004D66"/>
                </a:solidFill>
                <a:latin typeface="DejaVu Sans"/>
                <a:cs typeface="DejaVu Sans"/>
              </a:rPr>
              <a:t>mẽ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264276" y="7871385"/>
            <a:ext cx="166123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4D66"/>
                </a:solidFill>
                <a:latin typeface="DejaVu Sans"/>
                <a:cs typeface="DejaVu Sans"/>
              </a:rPr>
              <a:t>Tối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4D66"/>
                </a:solidFill>
                <a:latin typeface="DejaVu Sans"/>
                <a:cs typeface="DejaVu Sans"/>
              </a:rPr>
              <a:t>ưu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4D66"/>
                </a:solidFill>
                <a:latin typeface="DejaVu Sans"/>
                <a:cs typeface="DejaVu Sans"/>
              </a:rPr>
              <a:t>hóa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4D66"/>
                </a:solidFill>
                <a:latin typeface="DejaVu Sans"/>
                <a:cs typeface="DejaVu Sans"/>
              </a:rPr>
              <a:t>dự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4D66"/>
                </a:solidFill>
                <a:latin typeface="DejaVu Sans"/>
                <a:cs typeface="DejaVu Sans"/>
              </a:rPr>
              <a:t>báo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10327629" y="7871385"/>
            <a:ext cx="171815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4D66"/>
                </a:solidFill>
                <a:latin typeface="DejaVu Sans"/>
                <a:cs typeface="DejaVu Sans"/>
              </a:rPr>
              <a:t>Ứng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4D66"/>
                </a:solidFill>
                <a:latin typeface="DejaVu Sans"/>
                <a:cs typeface="DejaVu Sans"/>
              </a:rPr>
              <a:t>dụng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4D66"/>
                </a:solidFill>
                <a:latin typeface="DejaVu Sans"/>
                <a:cs typeface="DejaVu Sans"/>
              </a:rPr>
              <a:t>nhiệt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4D66"/>
                </a:solidFill>
                <a:latin typeface="DejaVu Sans"/>
                <a:cs typeface="DejaVu Sans"/>
              </a:rPr>
              <a:t>độ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10185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451520" y="356877"/>
            <a:ext cx="9441222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III. </a:t>
            </a:r>
            <a:r>
              <a:rPr sz="3000" b="1" spc="15" dirty="0">
                <a:solidFill>
                  <a:srgbClr val="4CAF50"/>
                </a:solidFill>
                <a:latin typeface="DejaVu Sans"/>
                <a:cs typeface="DejaVu Sans"/>
              </a:rPr>
              <a:t>Thuật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-87" dirty="0">
                <a:solidFill>
                  <a:srgbClr val="4CAF50"/>
                </a:solidFill>
                <a:latin typeface="DejaVu Sans"/>
                <a:cs typeface="DejaVu Sans"/>
              </a:rPr>
              <a:t>Toán</a:t>
            </a:r>
            <a:r>
              <a:rPr sz="3000" b="1" spc="112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4CAF50"/>
                </a:solidFill>
                <a:latin typeface="DejaVu Sans"/>
                <a:cs typeface="DejaVu Sans"/>
              </a:rPr>
              <a:t>Chi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4CAF50"/>
                </a:solidFill>
                <a:latin typeface="DejaVu Sans"/>
                <a:cs typeface="DejaVu Sans"/>
              </a:rPr>
              <a:t>Tiết: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4D66"/>
                </a:solidFill>
                <a:latin typeface="DejaVu Sans"/>
                <a:cs typeface="DejaVu Sans"/>
              </a:rPr>
              <a:t>Tổng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4D66"/>
                </a:solidFill>
                <a:latin typeface="DejaVu Sans"/>
                <a:cs typeface="DejaVu Sans"/>
              </a:rPr>
              <a:t>Quan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004D66"/>
                </a:solidFill>
                <a:latin typeface="DejaVu Sans"/>
                <a:cs typeface="DejaVu Sans"/>
              </a:rPr>
              <a:t>Dữ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004D66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59383" y="1361529"/>
            <a:ext cx="101538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FFFFFF"/>
                </a:solidFill>
                <a:latin typeface="DejaVu Sans"/>
                <a:cs typeface="DejaVu Sans"/>
              </a:rPr>
              <a:t>Kapur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51556" y="1944818"/>
            <a:ext cx="461575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66" dirty="0">
                <a:solidFill>
                  <a:srgbClr val="374151"/>
                </a:solidFill>
                <a:latin typeface="DejaVu Sans"/>
                <a:cs typeface="DejaVu Sans"/>
              </a:rPr>
              <a:t>Tên</a:t>
            </a:r>
            <a:r>
              <a:rPr sz="1500" spc="76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bộ dữ liệu được sử dụng trong</a:t>
            </a:r>
            <a:r>
              <a:rPr sz="1500" spc="12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nghiên cứu.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3184" y="2914104"/>
            <a:ext cx="449616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004D66"/>
                </a:solidFill>
                <a:latin typeface="DejaVu Sans"/>
                <a:cs typeface="DejaVu Sans"/>
              </a:rPr>
              <a:t>Nguồn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004D66"/>
                </a:solidFill>
                <a:latin typeface="DejaVu Sans"/>
                <a:cs typeface="DejaVu Sans"/>
              </a:rPr>
              <a:t>Gốc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&amp;</a:t>
            </a:r>
            <a:r>
              <a:rPr sz="2000" b="1" spc="18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004D66"/>
                </a:solidFill>
                <a:latin typeface="DejaVu Sans"/>
                <a:cs typeface="DejaVu Sans"/>
              </a:rPr>
              <a:t>Đặc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Điểm</a:t>
            </a:r>
            <a:r>
              <a:rPr sz="2000" b="1" spc="1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Chung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3184" y="3402143"/>
            <a:ext cx="4738601" cy="556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8663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Dữ liệu thời tiết tổng hợp từ nhiều trạm</a:t>
            </a:r>
            <a:r>
              <a:rPr sz="1500" spc="10" dirty="0">
                <a:solidFill>
                  <a:srgbClr val="374151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quan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trắc.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13184" y="4078418"/>
            <a:ext cx="4454263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8663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Chứa thông tin đa dạng về khí hậu và môi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trường.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50701" y="4880027"/>
            <a:ext cx="89181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4D66"/>
                </a:solidFill>
                <a:latin typeface="DejaVu Sans"/>
                <a:cs typeface="DejaVu Sans"/>
              </a:rPr>
              <a:t>Thời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004D66"/>
                </a:solidFill>
                <a:latin typeface="DejaVu Sans"/>
                <a:cs typeface="DejaVu Sans"/>
              </a:rPr>
              <a:t>Tiết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950392" y="4880027"/>
            <a:ext cx="80946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4D66"/>
                </a:solidFill>
                <a:latin typeface="DejaVu Sans"/>
                <a:cs typeface="DejaVu Sans"/>
              </a:rPr>
              <a:t>Khí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4D66"/>
                </a:solidFill>
                <a:latin typeface="DejaVu Sans"/>
                <a:cs typeface="DejaVu Sans"/>
              </a:rPr>
              <a:t>Hậu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6984" y="5924005"/>
            <a:ext cx="241854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004D66"/>
                </a:solidFill>
                <a:latin typeface="DejaVu Sans"/>
                <a:cs typeface="DejaVu Sans"/>
              </a:rPr>
              <a:t>Quy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5" dirty="0">
                <a:solidFill>
                  <a:srgbClr val="004D66"/>
                </a:solidFill>
                <a:latin typeface="DejaVu Sans"/>
                <a:cs typeface="DejaVu Sans"/>
              </a:rPr>
              <a:t>Mô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2" dirty="0">
                <a:solidFill>
                  <a:srgbClr val="004D66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93576" y="6402518"/>
            <a:ext cx="4377184" cy="690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Số lượng: Hơn 4000 bản ghi được phân tích.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Khoảng thời gian: 2010 - 2020.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74501" y="7337477"/>
            <a:ext cx="105641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20" dirty="0">
                <a:solidFill>
                  <a:srgbClr val="004D66"/>
                </a:solidFill>
                <a:latin typeface="DejaVu Sans"/>
                <a:cs typeface="DejaVu Sans"/>
              </a:rPr>
              <a:t>Dữ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0" dirty="0">
                <a:solidFill>
                  <a:srgbClr val="004D66"/>
                </a:solidFill>
                <a:latin typeface="DejaVu Sans"/>
                <a:cs typeface="DejaVu Sans"/>
              </a:rPr>
              <a:t>liệu</a:t>
            </a:r>
            <a:r>
              <a:rPr sz="1200" b="1" spc="-15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2" dirty="0">
                <a:solidFill>
                  <a:srgbClr val="004D66"/>
                </a:solidFill>
                <a:latin typeface="DejaVu Sans"/>
                <a:cs typeface="DejaVu Sans"/>
              </a:rPr>
              <a:t>lớn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38796" y="7337477"/>
            <a:ext cx="142857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004D66"/>
                </a:solidFill>
                <a:latin typeface="DejaVu Sans"/>
                <a:cs typeface="DejaVu Sans"/>
              </a:rPr>
              <a:t>Chuỗi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4D66"/>
                </a:solidFill>
                <a:latin typeface="DejaVu Sans"/>
                <a:cs typeface="DejaVu Sans"/>
              </a:rPr>
              <a:t>thời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4" dirty="0">
                <a:solidFill>
                  <a:srgbClr val="004D66"/>
                </a:solidFill>
                <a:latin typeface="DejaVu Sans"/>
                <a:cs typeface="DejaVu Sans"/>
              </a:rPr>
              <a:t>gian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6984" y="8373439"/>
            <a:ext cx="5442671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E0F2F7"/>
                </a:solidFill>
                <a:latin typeface="DejaVu Sans"/>
                <a:cs typeface="DejaVu Sans"/>
              </a:rPr>
              <a:t>Các</a:t>
            </a:r>
            <a:r>
              <a:rPr sz="1700" b="1" dirty="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E0F2F7"/>
                </a:solidFill>
                <a:latin typeface="DejaVu Sans"/>
                <a:cs typeface="DejaVu Sans"/>
              </a:rPr>
              <a:t>Loại</a:t>
            </a:r>
            <a:r>
              <a:rPr sz="1700" b="1" dirty="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E0F2F7"/>
                </a:solidFill>
                <a:latin typeface="DejaVu Sans"/>
                <a:cs typeface="DejaVu Sans"/>
              </a:rPr>
              <a:t>Thông</a:t>
            </a:r>
            <a:r>
              <a:rPr sz="1700" b="1" dirty="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E0F2F7"/>
                </a:solidFill>
                <a:latin typeface="DejaVu Sans"/>
                <a:cs typeface="DejaVu Sans"/>
              </a:rPr>
              <a:t>Tin </a:t>
            </a:r>
            <a:r>
              <a:rPr sz="1700" b="1" spc="-15" dirty="0">
                <a:solidFill>
                  <a:srgbClr val="E0F2F7"/>
                </a:solidFill>
                <a:latin typeface="DejaVu Sans"/>
                <a:cs typeface="DejaVu Sans"/>
              </a:rPr>
              <a:t>Cơ</a:t>
            </a:r>
            <a:r>
              <a:rPr sz="1700" b="1" dirty="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E0F2F7"/>
                </a:solidFill>
                <a:latin typeface="DejaVu Sans"/>
                <a:cs typeface="DejaVu Sans"/>
              </a:rPr>
              <a:t>Bản</a:t>
            </a:r>
            <a:r>
              <a:rPr sz="1700" b="1" dirty="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E0F2F7"/>
                </a:solidFill>
                <a:latin typeface="DejaVu Sans"/>
                <a:cs typeface="DejaVu Sans"/>
              </a:rPr>
              <a:t>Có</a:t>
            </a:r>
            <a:r>
              <a:rPr sz="1700" b="1" dirty="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sz="1700" b="1" spc="-47" dirty="0">
                <a:solidFill>
                  <a:srgbClr val="E0F2F7"/>
                </a:solidFill>
                <a:latin typeface="DejaVu Sans"/>
                <a:cs typeface="DejaVu Sans"/>
              </a:rPr>
              <a:t>Trong</a:t>
            </a:r>
            <a:r>
              <a:rPr sz="1700" b="1" spc="25" dirty="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E0F2F7"/>
                </a:solidFill>
                <a:latin typeface="DejaVu Sans"/>
                <a:cs typeface="DejaVu Sans"/>
              </a:rPr>
              <a:t>Dữ</a:t>
            </a:r>
            <a:r>
              <a:rPr sz="1700" b="1" dirty="0">
                <a:solidFill>
                  <a:srgbClr val="E0F2F7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E0F2F7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50862" y="8850443"/>
            <a:ext cx="964809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0F2F7"/>
                </a:solidFill>
                <a:latin typeface="DejaVu Sans"/>
                <a:cs typeface="DejaVu Sans"/>
              </a:rPr>
              <a:t>Nhiệt độ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675435" y="8850443"/>
            <a:ext cx="784364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0F2F7"/>
                </a:solidFill>
                <a:latin typeface="DejaVu Sans"/>
                <a:cs typeface="DejaVu Sans"/>
              </a:rPr>
              <a:t>Độ ẩm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400156" y="8850443"/>
            <a:ext cx="1146767" cy="6902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0F2F7"/>
                </a:solidFill>
                <a:latin typeface="DejaVu Sans"/>
                <a:cs typeface="DejaVu Sans"/>
              </a:rPr>
              <a:t>Tốc độ gió</a:t>
            </a:r>
          </a:p>
          <a:p>
            <a:pPr marL="0" marR="0">
              <a:lnSpc>
                <a:spcPts val="1760"/>
              </a:lnSpc>
              <a:spcBef>
                <a:spcPts val="1564"/>
              </a:spcBef>
              <a:spcAft>
                <a:spcPts val="0"/>
              </a:spcAft>
            </a:pPr>
            <a:r>
              <a:rPr sz="1500" dirty="0">
                <a:solidFill>
                  <a:srgbClr val="E0F2F7"/>
                </a:solidFill>
                <a:latin typeface="DejaVu Sans"/>
                <a:cs typeface="DejaVu Sans"/>
              </a:rPr>
              <a:t>Giờ nắng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950862" y="9279068"/>
            <a:ext cx="1730605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0F2F7"/>
                </a:solidFill>
                <a:latin typeface="DejaVu Sans"/>
                <a:cs typeface="DejaVu Sans"/>
              </a:rPr>
              <a:t>Độ che phủ mây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75435" y="9279068"/>
            <a:ext cx="881275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E0F2F7"/>
                </a:solidFill>
                <a:latin typeface="DejaVu Sans"/>
                <a:cs typeface="DejaVu Sans"/>
              </a:rPr>
              <a:t>Áp suất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0576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5906" y="386129"/>
            <a:ext cx="3596344" cy="715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>
                <a:solidFill>
                  <a:srgbClr val="004D66"/>
                </a:solidFill>
                <a:latin typeface="Liberation Sans"/>
                <a:cs typeface="Liberation Sans"/>
              </a:rPr>
              <a:t>III. </a:t>
            </a:r>
            <a:r>
              <a:rPr sz="2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Thu</a:t>
            </a:r>
            <a:r>
              <a:rPr sz="2500" b="1" spc="88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5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2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500" b="1" spc="-38" dirty="0">
                <a:solidFill>
                  <a:srgbClr val="004D66"/>
                </a:solidFill>
                <a:latin typeface="Liberation Sans"/>
                <a:cs typeface="Liberation Sans"/>
              </a:rPr>
              <a:t>Toán</a:t>
            </a:r>
            <a:r>
              <a:rPr sz="2500" b="1" spc="5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500" b="1" spc="11" dirty="0">
                <a:solidFill>
                  <a:srgbClr val="004D66"/>
                </a:solidFill>
                <a:latin typeface="Liberation Sans"/>
                <a:cs typeface="Liberation Sans"/>
              </a:rPr>
              <a:t>Chi</a:t>
            </a:r>
            <a:r>
              <a:rPr sz="25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500" b="1" spc="-34" dirty="0">
                <a:solidFill>
                  <a:srgbClr val="004D66"/>
                </a:solidFill>
                <a:latin typeface="Liberation Sans"/>
                <a:cs typeface="Liberation Sans"/>
              </a:rPr>
              <a:t>Ti</a:t>
            </a:r>
            <a:r>
              <a:rPr sz="2500" b="1" spc="919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5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</a:p>
          <a:p>
            <a:pPr marL="0" marR="0">
              <a:lnSpc>
                <a:spcPts val="2252"/>
              </a:lnSpc>
              <a:spcBef>
                <a:spcPts val="216"/>
              </a:spcBef>
              <a:spcAft>
                <a:spcPts val="0"/>
              </a:spcAft>
            </a:pPr>
            <a:r>
              <a:rPr sz="2000" b="1" dirty="0">
                <a:solidFill>
                  <a:srgbClr val="4CAF50"/>
                </a:solidFill>
                <a:latin typeface="Liberation Sans"/>
                <a:cs typeface="Liberation Sans"/>
              </a:rPr>
              <a:t>C</a:t>
            </a:r>
            <a:r>
              <a:rPr sz="2000" b="1" spc="655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4CAF50"/>
                </a:solidFill>
                <a:latin typeface="Liberation Sans"/>
                <a:cs typeface="Liberation Sans"/>
              </a:rPr>
              <a:t>u</a:t>
            </a:r>
            <a:r>
              <a:rPr sz="2000" b="1" spc="14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2000" b="1" spc="-21" dirty="0">
                <a:solidFill>
                  <a:srgbClr val="4CAF50"/>
                </a:solidFill>
                <a:latin typeface="Liberation Sans"/>
                <a:cs typeface="Liberation Sans"/>
              </a:rPr>
              <a:t>Trúc</a:t>
            </a:r>
            <a:r>
              <a:rPr sz="2000" b="1" spc="34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4CAF50"/>
                </a:solidFill>
                <a:latin typeface="Liberation Sans"/>
                <a:cs typeface="Liberation Sans"/>
              </a:rPr>
              <a:t>B</a:t>
            </a:r>
            <a:r>
              <a:rPr sz="2000" b="1" spc="1215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4CAF50"/>
                </a:solidFill>
                <a:latin typeface="Liberation Sans"/>
                <a:cs typeface="Liberation Sans"/>
              </a:rPr>
              <a:t>D</a:t>
            </a:r>
            <a:r>
              <a:rPr sz="2000" b="1" spc="1290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4CAF50"/>
                </a:solidFill>
                <a:latin typeface="Liberation Sans"/>
                <a:cs typeface="Liberation Sans"/>
              </a:rPr>
              <a:t>Li</a:t>
            </a:r>
            <a:r>
              <a:rPr sz="2000" b="1" spc="713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4CAF50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53199" y="1488126"/>
            <a:ext cx="242159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991B1B"/>
                </a:solidFill>
                <a:latin typeface="Liberation Sans"/>
                <a:cs typeface="Liberation Sans"/>
              </a:rPr>
              <a:t>maxtempC</a:t>
            </a:r>
            <a:r>
              <a:rPr sz="1200" b="1" spc="1629" dirty="0">
                <a:solidFill>
                  <a:srgbClr val="991B1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 đ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 đa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85808" y="1508685"/>
            <a:ext cx="1497538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4B5563"/>
                </a:solidFill>
                <a:latin typeface="Liberation Sans"/>
                <a:cs typeface="Liberation Sans"/>
              </a:rPr>
              <a:t>(°C)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|</a:t>
            </a:r>
            <a:r>
              <a:rPr sz="1200" spc="331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5" dirty="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sz="1200" spc="41" dirty="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sz="1200" i="1" dirty="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sz="1200" i="1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4" dirty="0">
                <a:solidFill>
                  <a:srgbClr val="4B5563"/>
                </a:solidFill>
                <a:latin typeface="Liberation Sans"/>
                <a:cs typeface="Liberation Sans"/>
              </a:rPr>
              <a:t>phân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53199" y="2012001"/>
            <a:ext cx="259840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1E40AF"/>
                </a:solidFill>
                <a:latin typeface="Liberation Sans"/>
                <a:cs typeface="Liberation Sans"/>
              </a:rPr>
              <a:t>mintempC</a:t>
            </a:r>
            <a:r>
              <a:rPr sz="1200" b="1" spc="1628" dirty="0">
                <a:solidFill>
                  <a:srgbClr val="1E40AF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 đ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 thi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285808" y="2032560"/>
            <a:ext cx="149753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4B5563"/>
                </a:solidFill>
                <a:latin typeface="Liberation Sans"/>
                <a:cs typeface="Liberation Sans"/>
              </a:rPr>
              <a:t>(°C)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|</a:t>
            </a:r>
            <a:r>
              <a:rPr sz="1200" spc="331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5" dirty="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sz="1200" spc="41" dirty="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sz="1200" i="1" dirty="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sz="1200" i="1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4" dirty="0">
                <a:solidFill>
                  <a:srgbClr val="4B5563"/>
                </a:solidFill>
                <a:latin typeface="Liberation Sans"/>
                <a:cs typeface="Liberation Sans"/>
              </a:rPr>
              <a:t>phân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9656" y="2263793"/>
            <a:ext cx="5037125" cy="876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700" b="1" spc="56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70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700" b="1" spc="57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c</a:t>
            </a:r>
            <a:r>
              <a:rPr sz="1700" b="1" spc="56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a</a:t>
            </a:r>
            <a:r>
              <a:rPr sz="1700" b="1" spc="-1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mô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hình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là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700" b="1" spc="559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b</a:t>
            </a:r>
            <a:r>
              <a:rPr sz="1700" b="1" spc="103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700" b="1" spc="103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700" b="1" spc="5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70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th</a:t>
            </a:r>
            <a:r>
              <a:rPr sz="1700" b="1" spc="57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ti</a:t>
            </a:r>
            <a:r>
              <a:rPr sz="1700" b="1" spc="5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</a:p>
          <a:p>
            <a:pPr marL="0" marR="0">
              <a:lnSpc>
                <a:spcPts val="1876"/>
              </a:lnSpc>
              <a:spcBef>
                <a:spcPts val="448"/>
              </a:spcBef>
              <a:spcAft>
                <a:spcPts val="0"/>
              </a:spcAft>
            </a:pPr>
            <a:r>
              <a:rPr sz="170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toàn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di</a:t>
            </a:r>
            <a:r>
              <a:rPr sz="1700" b="1" spc="58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n,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m</a:t>
            </a:r>
            <a:r>
              <a:rPr sz="1700" b="1" spc="559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tr</a:t>
            </a:r>
            <a:r>
              <a:rPr sz="1700" b="1" spc="162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d</a:t>
            </a:r>
            <a:r>
              <a:rPr sz="1700" b="1" spc="103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700" b="1" spc="5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70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là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700" b="1" spc="559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700" b="1" spc="559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nh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ghép</a:t>
            </a:r>
          </a:p>
          <a:p>
            <a:pPr marL="0" marR="0">
              <a:lnSpc>
                <a:spcPts val="1876"/>
              </a:lnSpc>
              <a:spcBef>
                <a:spcPts val="523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quan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tr</a:t>
            </a:r>
            <a:r>
              <a:rPr sz="1700" b="1" spc="57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553199" y="2569387"/>
            <a:ext cx="617083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9A3412"/>
                </a:solidFill>
                <a:latin typeface="Liberation Sans"/>
                <a:cs typeface="Liberation Sans"/>
              </a:rPr>
              <a:t>tempC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262872" y="2526351"/>
            <a:ext cx="180049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 đ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trung bình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285808" y="2556435"/>
            <a:ext cx="149753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4B5563"/>
                </a:solidFill>
                <a:latin typeface="Liberation Sans"/>
                <a:cs typeface="Liberation Sans"/>
              </a:rPr>
              <a:t>(°C)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|</a:t>
            </a:r>
            <a:r>
              <a:rPr sz="1200" spc="331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5" dirty="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sz="1200" spc="41" dirty="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sz="1200" i="1" dirty="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sz="1200" i="1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4" dirty="0">
                <a:solidFill>
                  <a:srgbClr val="4B5563"/>
                </a:solidFill>
                <a:latin typeface="Liberation Sans"/>
                <a:cs typeface="Liberation Sans"/>
              </a:rPr>
              <a:t>phân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53199" y="3050226"/>
            <a:ext cx="224569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2" dirty="0">
                <a:solidFill>
                  <a:srgbClr val="991B1B"/>
                </a:solidFill>
                <a:latin typeface="Liberation Sans"/>
                <a:cs typeface="Liberation Sans"/>
              </a:rPr>
              <a:t>heatindexC</a:t>
            </a:r>
            <a:r>
              <a:rPr sz="1200" b="1" spc="1626" dirty="0">
                <a:solidFill>
                  <a:srgbClr val="991B1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Ch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ỉ</a:t>
            </a:r>
            <a:r>
              <a:rPr sz="1500" spc="7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s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285808" y="3080310"/>
            <a:ext cx="1497538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4B5563"/>
                </a:solidFill>
                <a:latin typeface="Liberation Sans"/>
                <a:cs typeface="Liberation Sans"/>
              </a:rPr>
              <a:t>(°C)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|</a:t>
            </a:r>
            <a:r>
              <a:rPr sz="1200" spc="331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5" dirty="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sz="1200" spc="41" dirty="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sz="1200" i="1" dirty="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sz="1200" i="1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4" dirty="0">
                <a:solidFill>
                  <a:srgbClr val="4B5563"/>
                </a:solidFill>
                <a:latin typeface="Liberation Sans"/>
                <a:cs typeface="Liberation Sans"/>
              </a:rPr>
              <a:t>phân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553199" y="3840801"/>
            <a:ext cx="2616561" cy="12998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4" dirty="0">
                <a:solidFill>
                  <a:srgbClr val="075985"/>
                </a:solidFill>
                <a:latin typeface="Liberation Sans"/>
                <a:cs typeface="Liberation Sans"/>
              </a:rPr>
              <a:t>cloudcover</a:t>
            </a:r>
            <a:r>
              <a:rPr sz="1200" b="1" spc="1635" dirty="0">
                <a:solidFill>
                  <a:srgbClr val="07598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che ph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ủ</a:t>
            </a:r>
            <a:r>
              <a:rPr sz="1500" spc="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mây</a:t>
            </a:r>
          </a:p>
          <a:p>
            <a:pPr marL="0" marR="0">
              <a:lnSpc>
                <a:spcPts val="1760"/>
              </a:lnSpc>
              <a:spcBef>
                <a:spcPts val="2314"/>
              </a:spcBef>
              <a:spcAft>
                <a:spcPts val="0"/>
              </a:spcAft>
            </a:pPr>
            <a:r>
              <a:rPr sz="1200" b="1" spc="-12" dirty="0">
                <a:solidFill>
                  <a:srgbClr val="3730A3"/>
                </a:solidFill>
                <a:latin typeface="Liberation Sans"/>
                <a:cs typeface="Liberation Sans"/>
              </a:rPr>
              <a:t>humidity</a:t>
            </a:r>
            <a:r>
              <a:rPr sz="1200" b="1" spc="1630" dirty="0">
                <a:solidFill>
                  <a:srgbClr val="3730A3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ẩ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500" spc="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không khí</a:t>
            </a:r>
          </a:p>
          <a:p>
            <a:pPr marL="0" marR="0">
              <a:lnSpc>
                <a:spcPts val="1760"/>
              </a:lnSpc>
              <a:spcBef>
                <a:spcPts val="2239"/>
              </a:spcBef>
              <a:spcAft>
                <a:spcPts val="0"/>
              </a:spcAft>
            </a:pPr>
            <a:r>
              <a:rPr sz="1200" b="1" spc="-12" dirty="0">
                <a:solidFill>
                  <a:srgbClr val="155E75"/>
                </a:solidFill>
                <a:latin typeface="Liberation Sans"/>
                <a:cs typeface="Liberation Sans"/>
              </a:rPr>
              <a:t>precipMM</a:t>
            </a:r>
            <a:r>
              <a:rPr sz="1200" b="1" spc="1589" dirty="0">
                <a:solidFill>
                  <a:srgbClr val="155E75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L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ượ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ng 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500" spc="23" dirty="0">
                <a:solidFill>
                  <a:srgbClr val="004D66"/>
                </a:solidFill>
                <a:latin typeface="DejaVu Sans"/>
                <a:cs typeface="DejaVu Sans"/>
              </a:rPr>
              <a:t>ư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a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506967" y="3864787"/>
            <a:ext cx="649833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Liberation Sans"/>
                <a:cs typeface="Liberation Sans"/>
              </a:rPr>
              <a:t>(%)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|</a:t>
            </a:r>
            <a:r>
              <a:rPr sz="1200" spc="332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dirty="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004349" y="3861360"/>
            <a:ext cx="77890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sz="1200" spc="41" dirty="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sz="1200" i="1" spc="-12" dirty="0">
                <a:solidFill>
                  <a:srgbClr val="4B5563"/>
                </a:solidFill>
                <a:latin typeface="Liberation Sans"/>
                <a:cs typeface="Liberation Sans"/>
              </a:rPr>
              <a:t>nguyên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0506967" y="4385235"/>
            <a:ext cx="1276282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Liberation Sans"/>
                <a:cs typeface="Liberation Sans"/>
              </a:rPr>
              <a:t>(%)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|</a:t>
            </a:r>
            <a:r>
              <a:rPr sz="1200" spc="332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5" dirty="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sz="1200" spc="41" dirty="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sz="1200" i="1" spc="-12" dirty="0">
                <a:solidFill>
                  <a:srgbClr val="4B5563"/>
                </a:solidFill>
                <a:latin typeface="Liberation Sans"/>
                <a:cs typeface="Liberation Sans"/>
              </a:rPr>
              <a:t>nguyên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0204548" y="4909110"/>
            <a:ext cx="1578798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Liberation Sans"/>
                <a:cs typeface="Liberation Sans"/>
              </a:rPr>
              <a:t>(mm)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|</a:t>
            </a:r>
            <a:r>
              <a:rPr sz="1200" spc="332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5" dirty="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sz="1200" spc="41" dirty="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sz="1200" i="1" dirty="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sz="1200" i="1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4" dirty="0">
                <a:solidFill>
                  <a:srgbClr val="4B5563"/>
                </a:solidFill>
                <a:latin typeface="Liberation Sans"/>
                <a:cs typeface="Liberation Sans"/>
              </a:rPr>
              <a:t>phân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553199" y="5402901"/>
            <a:ext cx="205875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92400E"/>
                </a:solidFill>
                <a:latin typeface="Liberation Sans"/>
                <a:cs typeface="Liberation Sans"/>
              </a:rPr>
              <a:t>sunHour</a:t>
            </a:r>
            <a:r>
              <a:rPr sz="1200" b="1" spc="1637" dirty="0">
                <a:solidFill>
                  <a:srgbClr val="92400E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S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gi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ờ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ắ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0241904" y="5432985"/>
            <a:ext cx="1541443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(gi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ờ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)</a:t>
            </a:r>
            <a:r>
              <a:rPr sz="1200" spc="-15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|</a:t>
            </a:r>
            <a:r>
              <a:rPr sz="1200" spc="331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5" dirty="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sz="1200" spc="41" dirty="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sz="1200" i="1" dirty="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sz="1200" i="1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4" dirty="0">
                <a:solidFill>
                  <a:srgbClr val="4B5563"/>
                </a:solidFill>
                <a:latin typeface="Liberation Sans"/>
                <a:cs typeface="Liberation Sans"/>
              </a:rPr>
              <a:t>phân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553199" y="6193476"/>
            <a:ext cx="2685922" cy="12998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2" dirty="0">
                <a:solidFill>
                  <a:srgbClr val="1F2937"/>
                </a:solidFill>
                <a:latin typeface="Liberation Sans"/>
                <a:cs typeface="Liberation Sans"/>
              </a:rPr>
              <a:t>pressure</a:t>
            </a:r>
            <a:r>
              <a:rPr sz="1200" b="1" spc="1630" dirty="0">
                <a:solidFill>
                  <a:srgbClr val="1F2937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Áp su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 khí quy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760"/>
              </a:lnSpc>
              <a:spcBef>
                <a:spcPts val="2239"/>
              </a:spcBef>
              <a:spcAft>
                <a:spcPts val="0"/>
              </a:spcAft>
            </a:pPr>
            <a:r>
              <a:rPr sz="1200" b="1" spc="-15" dirty="0">
                <a:solidFill>
                  <a:srgbClr val="115E59"/>
                </a:solidFill>
                <a:latin typeface="Liberation Sans"/>
                <a:cs typeface="Liberation Sans"/>
              </a:rPr>
              <a:t>windspeedKmph</a:t>
            </a:r>
            <a:r>
              <a:rPr sz="1200" b="1" spc="1604" dirty="0">
                <a:solidFill>
                  <a:srgbClr val="115E59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 đ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gió</a:t>
            </a:r>
          </a:p>
          <a:p>
            <a:pPr marL="0" marR="0">
              <a:lnSpc>
                <a:spcPts val="1760"/>
              </a:lnSpc>
              <a:spcBef>
                <a:spcPts val="2314"/>
              </a:spcBef>
              <a:spcAft>
                <a:spcPts val="0"/>
              </a:spcAft>
            </a:pPr>
            <a:r>
              <a:rPr sz="1200" b="1" spc="-12" dirty="0">
                <a:solidFill>
                  <a:srgbClr val="6B21A8"/>
                </a:solidFill>
                <a:latin typeface="Liberation Sans"/>
                <a:cs typeface="Liberation Sans"/>
              </a:rPr>
              <a:t>date_time</a:t>
            </a:r>
            <a:r>
              <a:rPr sz="1200" b="1" spc="1603" dirty="0">
                <a:solidFill>
                  <a:srgbClr val="6B21A8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Th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ờ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 gian ghi nh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0096648" y="6214035"/>
            <a:ext cx="1686699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4B5563"/>
                </a:solidFill>
                <a:latin typeface="Liberation Sans"/>
                <a:cs typeface="Liberation Sans"/>
              </a:rPr>
              <a:t>(mBar)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|</a:t>
            </a:r>
            <a:r>
              <a:rPr sz="1200" spc="331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5" dirty="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sz="1200" spc="41" dirty="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sz="1200" i="1" spc="-10" dirty="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ậ</a:t>
            </a:r>
            <a:r>
              <a:rPr sz="1200" i="1" dirty="0">
                <a:solidFill>
                  <a:srgbClr val="4B5563"/>
                </a:solidFill>
                <a:latin typeface="Liberation Sans"/>
                <a:cs typeface="Liberation Sans"/>
              </a:rPr>
              <a:t>p</a:t>
            </a:r>
            <a:r>
              <a:rPr sz="1200" i="1" spc="-20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4" dirty="0">
                <a:solidFill>
                  <a:srgbClr val="4B5563"/>
                </a:solidFill>
                <a:latin typeface="Liberation Sans"/>
                <a:cs typeface="Liberation Sans"/>
              </a:rPr>
              <a:t>phân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10344" y="6356155"/>
            <a:ext cx="506734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Minh 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ọ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a các tr</a:t>
            </a:r>
            <a:r>
              <a:rPr sz="1350" spc="-15" dirty="0">
                <a:solidFill>
                  <a:srgbClr val="004D66"/>
                </a:solidFill>
                <a:latin typeface="DejaVu Sans"/>
                <a:cs typeface="DejaVu Sans"/>
              </a:rPr>
              <a:t>ườ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chính và ph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m vi th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ờ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gian thu th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10316318" y="6737910"/>
            <a:ext cx="146693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4B5563"/>
                </a:solidFill>
                <a:latin typeface="Liberation Sans"/>
                <a:cs typeface="Liberation Sans"/>
              </a:rPr>
              <a:t>(km/h)</a:t>
            </a: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 |</a:t>
            </a:r>
            <a:r>
              <a:rPr sz="1200" spc="331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5" dirty="0">
                <a:solidFill>
                  <a:srgbClr val="4B5563"/>
                </a:solidFill>
                <a:latin typeface="Liberation Sans"/>
                <a:cs typeface="Liberation Sans"/>
              </a:rPr>
              <a:t>S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ố</a:t>
            </a:r>
            <a:r>
              <a:rPr sz="1200" spc="41" dirty="0">
                <a:solidFill>
                  <a:srgbClr val="4B5563"/>
                </a:solidFill>
                <a:latin typeface="Times New Roman"/>
                <a:cs typeface="Times New Roman"/>
              </a:rPr>
              <a:t> </a:t>
            </a:r>
            <a:r>
              <a:rPr sz="1200" i="1" spc="-12" dirty="0">
                <a:solidFill>
                  <a:srgbClr val="4B5563"/>
                </a:solidFill>
                <a:latin typeface="Liberation Sans"/>
                <a:cs typeface="Liberation Sans"/>
              </a:rPr>
              <a:t>nguyên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0880376" y="7261785"/>
            <a:ext cx="90287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4B5563"/>
                </a:solidFill>
                <a:latin typeface="Liberation Sans"/>
                <a:cs typeface="Liberation Sans"/>
              </a:rPr>
              <a:t>|</a:t>
            </a:r>
            <a:r>
              <a:rPr sz="1200" spc="331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4" dirty="0">
                <a:solidFill>
                  <a:srgbClr val="4B5563"/>
                </a:solidFill>
                <a:latin typeface="Liberation Sans"/>
                <a:cs typeface="Liberation Sans"/>
              </a:rPr>
              <a:t>Th</a:t>
            </a:r>
            <a:r>
              <a:rPr sz="1200" spc="15" dirty="0">
                <a:solidFill>
                  <a:srgbClr val="4B5563"/>
                </a:solidFill>
                <a:latin typeface="DejaVu Sans"/>
                <a:cs typeface="DejaVu Sans"/>
              </a:rPr>
              <a:t>ờ</a:t>
            </a:r>
            <a:r>
              <a:rPr sz="1200" i="1" dirty="0">
                <a:solidFill>
                  <a:srgbClr val="4B5563"/>
                </a:solidFill>
                <a:latin typeface="Liberation Sans"/>
                <a:cs typeface="Liberation Sans"/>
              </a:rPr>
              <a:t>i</a:t>
            </a:r>
            <a:r>
              <a:rPr sz="1200" i="1" spc="-11" dirty="0">
                <a:solidFill>
                  <a:srgbClr val="4B5563"/>
                </a:solidFill>
                <a:latin typeface="Liberation Sans"/>
                <a:cs typeface="Liberation Sans"/>
              </a:rPr>
              <a:t> </a:t>
            </a:r>
            <a:r>
              <a:rPr sz="1200" i="1" spc="-10" dirty="0">
                <a:solidFill>
                  <a:srgbClr val="4B5563"/>
                </a:solidFill>
                <a:latin typeface="Liberation Sans"/>
                <a:cs typeface="Liberation Sans"/>
              </a:rPr>
              <a:t>gian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848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817465" y="378359"/>
            <a:ext cx="6709436" cy="4057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94"/>
              </a:lnSpc>
              <a:spcBef>
                <a:spcPts val="0"/>
              </a:spcBef>
              <a:spcAft>
                <a:spcPts val="0"/>
              </a:spcAft>
            </a:pPr>
            <a:r>
              <a:rPr sz="2150" b="1" dirty="0">
                <a:solidFill>
                  <a:srgbClr val="004D66"/>
                </a:solidFill>
                <a:latin typeface="Liberation Sans"/>
                <a:cs typeface="Liberation Sans"/>
              </a:rPr>
              <a:t>III. Thu</a:t>
            </a:r>
            <a:r>
              <a:rPr sz="2150" b="1" spc="75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150" b="1" dirty="0">
                <a:solidFill>
                  <a:srgbClr val="004D66"/>
                </a:solidFill>
                <a:latin typeface="Liberation Sans"/>
                <a:cs typeface="Liberation Sans"/>
              </a:rPr>
              <a:t>t </a:t>
            </a:r>
            <a:r>
              <a:rPr sz="2150" b="1" spc="-36" dirty="0">
                <a:solidFill>
                  <a:srgbClr val="004D66"/>
                </a:solidFill>
                <a:latin typeface="Liberation Sans"/>
                <a:cs typeface="Liberation Sans"/>
              </a:rPr>
              <a:t>Toán</a:t>
            </a:r>
            <a:r>
              <a:rPr sz="2150" b="1" spc="4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150" b="1" dirty="0">
                <a:solidFill>
                  <a:srgbClr val="004D66"/>
                </a:solidFill>
                <a:latin typeface="Liberation Sans"/>
                <a:cs typeface="Liberation Sans"/>
              </a:rPr>
              <a:t>Chi </a:t>
            </a:r>
            <a:r>
              <a:rPr sz="2150" b="1" spc="-33" dirty="0">
                <a:solidFill>
                  <a:srgbClr val="004D66"/>
                </a:solidFill>
                <a:latin typeface="Liberation Sans"/>
                <a:cs typeface="Liberation Sans"/>
              </a:rPr>
              <a:t>Ti</a:t>
            </a:r>
            <a:r>
              <a:rPr sz="2150" b="1" spc="78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150" b="1" dirty="0">
                <a:solidFill>
                  <a:srgbClr val="004D66"/>
                </a:solidFill>
                <a:latin typeface="Liberation Sans"/>
                <a:cs typeface="Liberation Sans"/>
              </a:rPr>
              <a:t>t: Khám Phá D</a:t>
            </a:r>
            <a:r>
              <a:rPr sz="2150" b="1" spc="136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150" b="1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2150" b="1" spc="74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150" b="1" dirty="0">
                <a:solidFill>
                  <a:srgbClr val="004D66"/>
                </a:solidFill>
                <a:latin typeface="Liberation Sans"/>
                <a:cs typeface="Liberation Sans"/>
              </a:rPr>
              <a:t>u </a:t>
            </a:r>
            <a:r>
              <a:rPr sz="2600" b="1" dirty="0">
                <a:solidFill>
                  <a:srgbClr val="4CAF50"/>
                </a:solidFill>
                <a:latin typeface="Liberation Sans"/>
                <a:cs typeface="Liberation Sans"/>
              </a:rPr>
              <a:t>(EDA)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75994" y="1139454"/>
            <a:ext cx="2076815" cy="242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7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004D66"/>
                </a:solidFill>
                <a:latin typeface="Liberation Sans"/>
                <a:cs typeface="Liberation Sans"/>
              </a:rPr>
              <a:t>Th</a:t>
            </a:r>
            <a:r>
              <a:rPr sz="1450" b="1" spc="49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450" b="1" dirty="0">
                <a:solidFill>
                  <a:srgbClr val="004D66"/>
                </a:solidFill>
                <a:latin typeface="Liberation Sans"/>
                <a:cs typeface="Liberation Sans"/>
              </a:rPr>
              <a:t>ng kê &amp;</a:t>
            </a:r>
            <a:r>
              <a:rPr sz="145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450" b="1" spc="-86" dirty="0">
                <a:solidFill>
                  <a:srgbClr val="004D66"/>
                </a:solidFill>
                <a:latin typeface="Liberation Sans"/>
                <a:cs typeface="Liberation Sans"/>
              </a:rPr>
              <a:t>Tr</a:t>
            </a:r>
            <a:r>
              <a:rPr sz="1450" b="1" spc="5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450" b="1" dirty="0">
                <a:solidFill>
                  <a:srgbClr val="004D66"/>
                </a:solidFill>
                <a:latin typeface="Liberation Sans"/>
                <a:cs typeface="Liberation Sans"/>
              </a:rPr>
              <a:t>c quan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03217" y="1512022"/>
            <a:ext cx="4826523" cy="2084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004D66"/>
                </a:solidFill>
                <a:latin typeface="Liberation Sans"/>
                <a:cs typeface="Liberation Sans"/>
              </a:rPr>
              <a:t>Phân tích th</a:t>
            </a:r>
            <a:r>
              <a:rPr sz="1150" b="1" spc="35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150" b="1" dirty="0">
                <a:solidFill>
                  <a:srgbClr val="004D66"/>
                </a:solidFill>
                <a:latin typeface="Liberation Sans"/>
                <a:cs typeface="Liberation Sans"/>
              </a:rPr>
              <a:t>ng kê mô t</a:t>
            </a:r>
            <a:r>
              <a:rPr sz="1150" b="1" spc="35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150" b="1" dirty="0">
                <a:solidFill>
                  <a:srgbClr val="004D66"/>
                </a:solidFill>
                <a:latin typeface="Liberation Sans"/>
                <a:cs typeface="Liberation Sans"/>
              </a:rPr>
              <a:t>: 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Đánh giá nhanh d</a:t>
            </a:r>
            <a:r>
              <a:rPr sz="115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150" spc="5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150" spc="-3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u v</a:t>
            </a:r>
            <a:r>
              <a:rPr sz="1150" spc="-28" dirty="0">
                <a:solidFill>
                  <a:srgbClr val="004D66"/>
                </a:solidFill>
                <a:latin typeface="DejaVu Sans"/>
                <a:cs typeface="DejaVu Sans"/>
              </a:rPr>
              <a:t>ớ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i Min, Max,</a:t>
            </a:r>
            <a:r>
              <a:rPr sz="1150" spc="-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150" spc="-10" dirty="0">
                <a:solidFill>
                  <a:srgbClr val="004D66"/>
                </a:solidFill>
                <a:latin typeface="Liberation Sans"/>
                <a:cs typeface="Liberation Sans"/>
              </a:rPr>
              <a:t>Trung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99770" y="1731097"/>
            <a:ext cx="1507455" cy="20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bình, Đ</a:t>
            </a:r>
            <a:r>
              <a:rPr sz="115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1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l</a:t>
            </a:r>
            <a:r>
              <a:rPr sz="1150" spc="-3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ch chu</a:t>
            </a:r>
            <a:r>
              <a:rPr sz="1150" spc="-30" dirty="0">
                <a:solidFill>
                  <a:srgbClr val="004D66"/>
                </a:solidFill>
                <a:latin typeface="DejaVu Sans"/>
                <a:cs typeface="DejaVu Sans"/>
              </a:rPr>
              <a:t>ẩ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703217" y="2026372"/>
            <a:ext cx="5095351" cy="20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spc="-62" dirty="0">
                <a:solidFill>
                  <a:srgbClr val="004D66"/>
                </a:solidFill>
                <a:latin typeface="Liberation Sans"/>
                <a:cs typeface="Liberation Sans"/>
              </a:rPr>
              <a:t>Tr</a:t>
            </a:r>
            <a:r>
              <a:rPr sz="1150" b="1" spc="49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150" b="1" dirty="0">
                <a:solidFill>
                  <a:srgbClr val="004D66"/>
                </a:solidFill>
                <a:latin typeface="Liberation Sans"/>
                <a:cs typeface="Liberation Sans"/>
              </a:rPr>
              <a:t>c quan hóa d</a:t>
            </a:r>
            <a:r>
              <a:rPr sz="1150" b="1" spc="75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150" b="1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150" b="1" spc="35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150" b="1" dirty="0">
                <a:solidFill>
                  <a:srgbClr val="004D66"/>
                </a:solidFill>
                <a:latin typeface="Liberation Sans"/>
                <a:cs typeface="Liberation Sans"/>
              </a:rPr>
              <a:t>u: 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Hi</a:t>
            </a:r>
            <a:r>
              <a:rPr sz="1150" spc="-33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u phân b</a:t>
            </a:r>
            <a:r>
              <a:rPr sz="11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1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và theo dõi s</a:t>
            </a:r>
            <a:r>
              <a:rPr sz="115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150" spc="5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thay đ</a:t>
            </a:r>
            <a:r>
              <a:rPr sz="1150" spc="-28" dirty="0">
                <a:solidFill>
                  <a:srgbClr val="004D66"/>
                </a:solidFill>
                <a:latin typeface="DejaVu Sans"/>
                <a:cs typeface="DejaVu Sans"/>
              </a:rPr>
              <a:t>ổ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i theo th</a:t>
            </a:r>
            <a:r>
              <a:rPr sz="1150" spc="-28" dirty="0">
                <a:solidFill>
                  <a:srgbClr val="004D66"/>
                </a:solidFill>
                <a:latin typeface="DejaVu Sans"/>
                <a:cs typeface="DejaVu Sans"/>
              </a:rPr>
              <a:t>ờ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i gian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99770" y="2245447"/>
            <a:ext cx="1052202" cy="20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b</a:t>
            </a:r>
            <a:r>
              <a:rPr sz="1150" spc="-30" dirty="0">
                <a:solidFill>
                  <a:srgbClr val="004D66"/>
                </a:solidFill>
                <a:latin typeface="DejaVu Sans"/>
                <a:cs typeface="DejaVu Sans"/>
              </a:rPr>
              <a:t>ằ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ng bi</a:t>
            </a:r>
            <a:r>
              <a:rPr sz="1150" spc="-33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u đ</a:t>
            </a:r>
            <a:r>
              <a:rPr sz="1150" spc="-28" dirty="0">
                <a:solidFill>
                  <a:srgbClr val="004D66"/>
                </a:solidFill>
                <a:latin typeface="DejaVu Sans"/>
                <a:cs typeface="DejaVu Sans"/>
              </a:rPr>
              <a:t>ồ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75994" y="3006354"/>
            <a:ext cx="2236480" cy="242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07"/>
              </a:lnSpc>
              <a:spcBef>
                <a:spcPts val="0"/>
              </a:spcBef>
              <a:spcAft>
                <a:spcPts val="0"/>
              </a:spcAft>
            </a:pPr>
            <a:r>
              <a:rPr sz="1450" b="1" dirty="0">
                <a:solidFill>
                  <a:srgbClr val="004D66"/>
                </a:solidFill>
                <a:latin typeface="Liberation Sans"/>
                <a:cs typeface="Liberation Sans"/>
              </a:rPr>
              <a:t>Khám phá &amp;</a:t>
            </a:r>
            <a:r>
              <a:rPr sz="145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45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450" b="1" spc="48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450" b="1" dirty="0">
                <a:solidFill>
                  <a:srgbClr val="004D66"/>
                </a:solidFill>
                <a:latin typeface="Liberation Sans"/>
                <a:cs typeface="Liberation Sans"/>
              </a:rPr>
              <a:t>i quan 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03217" y="3378922"/>
            <a:ext cx="5035821" cy="20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004D66"/>
                </a:solidFill>
                <a:latin typeface="Liberation Sans"/>
                <a:cs typeface="Liberation Sans"/>
              </a:rPr>
              <a:t>Phát hi</a:t>
            </a:r>
            <a:r>
              <a:rPr sz="1150" b="1" spc="35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150" b="1" dirty="0">
                <a:solidFill>
                  <a:srgbClr val="004D66"/>
                </a:solidFill>
                <a:latin typeface="Liberation Sans"/>
                <a:cs typeface="Liberation Sans"/>
              </a:rPr>
              <a:t>n xu h</a:t>
            </a:r>
            <a:r>
              <a:rPr sz="1150" b="1" spc="110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150" b="1" dirty="0">
                <a:solidFill>
                  <a:srgbClr val="004D66"/>
                </a:solidFill>
                <a:latin typeface="Liberation Sans"/>
                <a:cs typeface="Liberation Sans"/>
              </a:rPr>
              <a:t>ng &amp; ngo</a:t>
            </a:r>
            <a:r>
              <a:rPr sz="1150" b="1" spc="35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150" b="1" dirty="0">
                <a:solidFill>
                  <a:srgbClr val="004D66"/>
                </a:solidFill>
                <a:latin typeface="Liberation Sans"/>
                <a:cs typeface="Liberation Sans"/>
              </a:rPr>
              <a:t>i lai: 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Xác đ</a:t>
            </a:r>
            <a:r>
              <a:rPr sz="1150" spc="-20" dirty="0">
                <a:solidFill>
                  <a:srgbClr val="004D66"/>
                </a:solidFill>
                <a:latin typeface="DejaVu Sans"/>
                <a:cs typeface="DejaVu Sans"/>
              </a:rPr>
              <a:t>ị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nh m</a:t>
            </a:r>
            <a:r>
              <a:rPr sz="1150" spc="-30" dirty="0">
                <a:solidFill>
                  <a:srgbClr val="004D66"/>
                </a:solidFill>
                <a:latin typeface="DejaVu Sans"/>
                <a:cs typeface="DejaVu Sans"/>
              </a:rPr>
              <a:t>ẫ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u hình l</a:t>
            </a:r>
            <a:r>
              <a:rPr sz="1150" spc="-30" dirty="0">
                <a:solidFill>
                  <a:srgbClr val="004D66"/>
                </a:solidFill>
                <a:latin typeface="DejaVu Sans"/>
                <a:cs typeface="DejaVu Sans"/>
              </a:rPr>
              <a:t>ặ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p l</a:t>
            </a:r>
            <a:r>
              <a:rPr sz="1150" spc="-3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i, tính chu kỳ và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499770" y="3597997"/>
            <a:ext cx="1579440" cy="20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các giá tr</a:t>
            </a:r>
            <a:r>
              <a:rPr sz="1150" dirty="0">
                <a:solidFill>
                  <a:srgbClr val="004D66"/>
                </a:solidFill>
                <a:latin typeface="DejaVu Sans"/>
                <a:cs typeface="DejaVu Sans"/>
              </a:rPr>
              <a:t>ị</a:t>
            </a:r>
            <a:r>
              <a:rPr sz="1150" spc="12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b</a:t>
            </a:r>
            <a:r>
              <a:rPr sz="1150" spc="-30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t th</a:t>
            </a:r>
            <a:r>
              <a:rPr sz="1150" dirty="0">
                <a:solidFill>
                  <a:srgbClr val="004D66"/>
                </a:solidFill>
                <a:latin typeface="DejaVu Sans"/>
                <a:cs typeface="DejaVu Sans"/>
              </a:rPr>
              <a:t>ườ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703217" y="3893272"/>
            <a:ext cx="4950228" cy="20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dirty="0">
                <a:solidFill>
                  <a:srgbClr val="004D66"/>
                </a:solidFill>
                <a:latin typeface="Liberation Sans"/>
                <a:cs typeface="Liberation Sans"/>
              </a:rPr>
              <a:t>Phân tích m</a:t>
            </a:r>
            <a:r>
              <a:rPr sz="1150" b="1" spc="35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150" b="1" dirty="0">
                <a:solidFill>
                  <a:srgbClr val="004D66"/>
                </a:solidFill>
                <a:latin typeface="Liberation Sans"/>
                <a:cs typeface="Liberation Sans"/>
              </a:rPr>
              <a:t>i quan h</a:t>
            </a:r>
            <a:r>
              <a:rPr sz="1150" b="1" spc="35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150" b="1" dirty="0">
                <a:solidFill>
                  <a:srgbClr val="004D66"/>
                </a:solidFill>
                <a:latin typeface="Liberation Sans"/>
                <a:cs typeface="Liberation Sans"/>
              </a:rPr>
              <a:t>:</a:t>
            </a:r>
            <a:r>
              <a:rPr sz="115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Tìm hi</a:t>
            </a:r>
            <a:r>
              <a:rPr sz="1150" spc="-33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u t</a:t>
            </a:r>
            <a:r>
              <a:rPr sz="1150" dirty="0">
                <a:solidFill>
                  <a:srgbClr val="004D66"/>
                </a:solidFill>
                <a:latin typeface="DejaVu Sans"/>
                <a:cs typeface="DejaVu Sans"/>
              </a:rPr>
              <a:t>ươ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ng quan gi</a:t>
            </a:r>
            <a:r>
              <a:rPr sz="1150" spc="2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a các đ</a:t>
            </a:r>
            <a:r>
              <a:rPr sz="1150" spc="-30" dirty="0">
                <a:solidFill>
                  <a:srgbClr val="004D66"/>
                </a:solidFill>
                <a:latin typeface="DejaVu Sans"/>
                <a:cs typeface="DejaVu Sans"/>
              </a:rPr>
              <a:t>ặ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c tr</a:t>
            </a:r>
            <a:r>
              <a:rPr sz="1150" spc="20" dirty="0">
                <a:solidFill>
                  <a:srgbClr val="004D66"/>
                </a:solidFill>
                <a:latin typeface="DejaVu Sans"/>
                <a:cs typeface="DejaVu Sans"/>
              </a:rPr>
              <a:t>ư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ng và bi</a:t>
            </a:r>
            <a:r>
              <a:rPr sz="1150" spc="-33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499770" y="4112347"/>
            <a:ext cx="1427259" cy="2084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4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150" spc="20" dirty="0">
                <a:solidFill>
                  <a:srgbClr val="004D66"/>
                </a:solidFill>
                <a:latin typeface="DejaVu Sans"/>
                <a:cs typeface="DejaVu Sans"/>
              </a:rPr>
              <a:t>ụ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c tiêu (nhi</a:t>
            </a:r>
            <a:r>
              <a:rPr sz="1150" spc="-3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t đ</a:t>
            </a:r>
            <a:r>
              <a:rPr sz="1150" spc="-28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150" dirty="0">
                <a:solidFill>
                  <a:srgbClr val="004D66"/>
                </a:solidFill>
                <a:latin typeface="Liberation Sans"/>
                <a:cs typeface="Liberation Sans"/>
              </a:rPr>
              <a:t>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3887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5906" y="345701"/>
            <a:ext cx="10504044" cy="9137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III. </a:t>
            </a:r>
            <a:r>
              <a:rPr sz="3000" b="1" spc="15" dirty="0">
                <a:solidFill>
                  <a:srgbClr val="004D66"/>
                </a:solidFill>
                <a:latin typeface="DejaVu Sans"/>
                <a:cs typeface="DejaVu Sans"/>
              </a:rPr>
              <a:t>Thuật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-87" dirty="0">
                <a:solidFill>
                  <a:srgbClr val="004D66"/>
                </a:solidFill>
                <a:latin typeface="DejaVu Sans"/>
                <a:cs typeface="DejaVu Sans"/>
              </a:rPr>
              <a:t>Toán</a:t>
            </a:r>
            <a:r>
              <a:rPr sz="3000" b="1" spc="112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4D66"/>
                </a:solidFill>
                <a:latin typeface="DejaVu Sans"/>
                <a:cs typeface="DejaVu Sans"/>
              </a:rPr>
              <a:t>Chi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004D66"/>
                </a:solidFill>
                <a:latin typeface="DejaVu Sans"/>
                <a:cs typeface="DejaVu Sans"/>
              </a:rPr>
              <a:t>Tiết: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004D66"/>
                </a:solidFill>
                <a:latin typeface="DejaVu Sans"/>
                <a:cs typeface="DejaVu Sans"/>
              </a:rPr>
              <a:t>Quá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-56" dirty="0">
                <a:solidFill>
                  <a:srgbClr val="004D66"/>
                </a:solidFill>
                <a:latin typeface="DejaVu Sans"/>
                <a:cs typeface="DejaVu Sans"/>
              </a:rPr>
              <a:t>Trình</a:t>
            </a:r>
            <a:r>
              <a:rPr sz="3000" b="1" spc="8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004D66"/>
                </a:solidFill>
                <a:latin typeface="DejaVu Sans"/>
                <a:cs typeface="DejaVu Sans"/>
              </a:rPr>
              <a:t>Tiền</a:t>
            </a:r>
            <a:r>
              <a:rPr sz="3000" b="1" spc="1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004D66"/>
                </a:solidFill>
                <a:latin typeface="DejaVu Sans"/>
                <a:cs typeface="DejaVu Sans"/>
              </a:rPr>
              <a:t>Xử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-189" dirty="0">
                <a:solidFill>
                  <a:srgbClr val="004D66"/>
                </a:solidFill>
                <a:latin typeface="DejaVu Sans"/>
                <a:cs typeface="DejaVu Sans"/>
              </a:rPr>
              <a:t>Lý</a:t>
            </a:r>
            <a:r>
              <a:rPr sz="3000" b="1" spc="214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8" dirty="0" err="1">
                <a:solidFill>
                  <a:srgbClr val="004D66"/>
                </a:solidFill>
                <a:latin typeface="DejaVu Sans"/>
                <a:cs typeface="DejaVu Sans"/>
              </a:rPr>
              <a:t>Dữ</a:t>
            </a:r>
            <a:r>
              <a:rPr lang="vi-VN" sz="3000" b="1" spc="18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004D66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5976" y="1874228"/>
            <a:ext cx="2578285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Làm sạch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88967" y="1874228"/>
            <a:ext cx="278814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004D66"/>
                </a:solidFill>
                <a:latin typeface="DejaVu Sans"/>
                <a:cs typeface="DejaVu Sans"/>
              </a:rPr>
              <a:t>Xử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lý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 dữ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liệu thiếu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6984" y="2391597"/>
            <a:ext cx="5212184" cy="741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Bước quan trọng để đảm bảo chất lượng mô hình. Phát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hiện và xử lý các giá trị bất thường (outliers) có thể gây sai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lệch kết quả dự </a:t>
            </a:r>
            <a:r>
              <a:rPr sz="1350" spc="-11" dirty="0">
                <a:solidFill>
                  <a:srgbClr val="4B5563"/>
                </a:solidFill>
                <a:latin typeface="DejaVu Sans"/>
                <a:cs typeface="DejaVu Sans"/>
              </a:rPr>
              <a:t>báo.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79976" y="2391597"/>
            <a:ext cx="5038175" cy="998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Dữ liệu thiếu có thể làm giảm hiệu suất. Áp dụng các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phương pháp điền khuyết như `mean`, `median`, hoặc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`interpolation` để lấp đầy khoảng trống dữ liệu một cách</a:t>
            </a:r>
          </a:p>
          <a:p>
            <a:pPr marL="0" marR="0">
              <a:lnSpc>
                <a:spcPts val="1564"/>
              </a:lnSpc>
              <a:spcBef>
                <a:spcPts val="46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hợp </a:t>
            </a:r>
            <a:r>
              <a:rPr sz="1350" spc="-66" dirty="0">
                <a:solidFill>
                  <a:srgbClr val="4B5563"/>
                </a:solidFill>
                <a:latin typeface="DejaVu Sans"/>
                <a:cs typeface="DejaVu Sans"/>
              </a:rPr>
              <a:t>lý.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35533" y="3659176"/>
            <a:ext cx="73726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166534"/>
                </a:solidFill>
                <a:latin typeface="DejaVu Sans"/>
                <a:cs typeface="DejaVu Sans"/>
              </a:rPr>
              <a:t>Outliers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31950" y="3659176"/>
            <a:ext cx="136019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166534"/>
                </a:solidFill>
                <a:latin typeface="DejaVu Sans"/>
                <a:cs typeface="DejaVu Sans"/>
              </a:rPr>
              <a:t>Noise</a:t>
            </a:r>
            <a:r>
              <a:rPr sz="1200" spc="-1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166534"/>
                </a:solidFill>
                <a:latin typeface="DejaVu Sans"/>
                <a:cs typeface="DejaVu Sans"/>
              </a:rPr>
              <a:t>Reduction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778525" y="3659176"/>
            <a:ext cx="96756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166534"/>
                </a:solidFill>
                <a:latin typeface="DejaVu Sans"/>
                <a:cs typeface="DejaVu Sans"/>
              </a:rPr>
              <a:t>Imputation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105178" y="3659176"/>
            <a:ext cx="161770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66534"/>
                </a:solidFill>
                <a:latin typeface="DejaVu Sans"/>
                <a:cs typeface="DejaVu Sans"/>
              </a:rPr>
              <a:t>Data</a:t>
            </a:r>
            <a:r>
              <a:rPr sz="12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66534"/>
                </a:solidFill>
                <a:latin typeface="DejaVu Sans"/>
                <a:cs typeface="DejaVu Sans"/>
              </a:rPr>
              <a:t>Completeness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145976" y="4807929"/>
            <a:ext cx="283851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Chuyển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đổi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988967" y="4807929"/>
            <a:ext cx="392707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Chuẩn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hóa/Co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giãn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dữ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6984" y="5325297"/>
            <a:ext cx="5073891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Biến đổi dữ liệu thô thành các đặc trưng có ý nghĩa. </a:t>
            </a:r>
            <a:r>
              <a:rPr sz="1350" spc="-41" dirty="0">
                <a:solidFill>
                  <a:srgbClr val="4B5563"/>
                </a:solidFill>
                <a:latin typeface="DejaVu Sans"/>
                <a:cs typeface="DejaVu Sans"/>
              </a:rPr>
              <a:t>Trích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xuất các thành phần từ cột `date_time` để tạo ra các đặc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trưng thời gian mới như năm, tháng, ngày, giờ, </a:t>
            </a:r>
            <a:r>
              <a:rPr sz="1350" spc="-54" dirty="0">
                <a:solidFill>
                  <a:srgbClr val="4B5563"/>
                </a:solidFill>
                <a:latin typeface="DejaVu Sans"/>
                <a:cs typeface="DejaVu Sans"/>
              </a:rPr>
              <a:t>v.</a:t>
            </a:r>
            <a:r>
              <a:rPr sz="1350" spc="-43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350" spc="-54" dirty="0">
                <a:solidFill>
                  <a:srgbClr val="4B5563"/>
                </a:solidFill>
                <a:latin typeface="DejaVu Sans"/>
                <a:cs typeface="DejaVu Sans"/>
              </a:rPr>
              <a:t>v.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479976" y="5325297"/>
            <a:ext cx="5222221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Đưa các đặc trưng về cùng một thang đo để mô hình hội tụ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nhanh và hiệu quả hơn. Các phương pháp phổ biến là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4B5563"/>
                </a:solidFill>
                <a:latin typeface="DejaVu Sans"/>
                <a:cs typeface="DejaVu Sans"/>
              </a:rPr>
              <a:t>`MinMaxScaler` và `StandardScaler`.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35533" y="6592876"/>
            <a:ext cx="165962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8" dirty="0">
                <a:solidFill>
                  <a:srgbClr val="166534"/>
                </a:solidFill>
                <a:latin typeface="DejaVu Sans"/>
                <a:cs typeface="DejaVu Sans"/>
              </a:rPr>
              <a:t>Feature</a:t>
            </a:r>
            <a:r>
              <a:rPr sz="12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66534"/>
                </a:solidFill>
                <a:latin typeface="DejaVu Sans"/>
                <a:cs typeface="DejaVu Sans"/>
              </a:rPr>
              <a:t>Engineering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954535" y="6592876"/>
            <a:ext cx="123977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38" dirty="0">
                <a:solidFill>
                  <a:srgbClr val="166534"/>
                </a:solidFill>
                <a:latin typeface="DejaVu Sans"/>
                <a:cs typeface="DejaVu Sans"/>
              </a:rPr>
              <a:t>Temporal</a:t>
            </a:r>
            <a:r>
              <a:rPr sz="1200" spc="23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66534"/>
                </a:solidFill>
                <a:latin typeface="DejaVu Sans"/>
                <a:cs typeface="DejaVu Sans"/>
              </a:rPr>
              <a:t>Data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778525" y="6592876"/>
            <a:ext cx="1189404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66534"/>
                </a:solidFill>
                <a:latin typeface="DejaVu Sans"/>
                <a:cs typeface="DejaVu Sans"/>
              </a:rPr>
              <a:t>MinMaxScaler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326932" y="6592876"/>
            <a:ext cx="129769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66534"/>
                </a:solidFill>
                <a:latin typeface="DejaVu Sans"/>
                <a:cs typeface="DejaVu Sans"/>
              </a:rPr>
              <a:t>StandardScaler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036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34315"/>
            <a:ext cx="10985031" cy="12054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dirty="0">
                <a:solidFill>
                  <a:srgbClr val="004D66"/>
                </a:solidFill>
                <a:latin typeface="DejaVu Sans"/>
                <a:cs typeface="DejaVu Sans"/>
              </a:rPr>
              <a:t>III. </a:t>
            </a:r>
            <a:r>
              <a:rPr sz="4050" b="1" spc="-12" dirty="0">
                <a:solidFill>
                  <a:srgbClr val="004D66"/>
                </a:solidFill>
                <a:latin typeface="DejaVu Sans"/>
                <a:cs typeface="DejaVu Sans"/>
              </a:rPr>
              <a:t>Thuật</a:t>
            </a:r>
            <a:r>
              <a:rPr sz="405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4050" b="1" spc="-142" dirty="0">
                <a:solidFill>
                  <a:srgbClr val="004D66"/>
                </a:solidFill>
                <a:latin typeface="DejaVu Sans"/>
                <a:cs typeface="DejaVu Sans"/>
              </a:rPr>
              <a:t>Toán</a:t>
            </a:r>
            <a:r>
              <a:rPr sz="4050" b="1" spc="124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004D66"/>
                </a:solidFill>
                <a:latin typeface="DejaVu Sans"/>
                <a:cs typeface="DejaVu Sans"/>
              </a:rPr>
              <a:t>Chi</a:t>
            </a:r>
            <a:r>
              <a:rPr sz="405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4050" b="1" spc="-10" dirty="0">
                <a:solidFill>
                  <a:srgbClr val="004D66"/>
                </a:solidFill>
                <a:latin typeface="DejaVu Sans"/>
                <a:cs typeface="DejaVu Sans"/>
              </a:rPr>
              <a:t>Tiết:</a:t>
            </a:r>
            <a:r>
              <a:rPr sz="405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4D66"/>
                </a:solidFill>
                <a:latin typeface="DejaVu Sans"/>
                <a:cs typeface="DejaVu Sans"/>
              </a:rPr>
              <a:t>Lựa</a:t>
            </a:r>
            <a:r>
              <a:rPr sz="405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4050" b="1" spc="-12" dirty="0" err="1">
                <a:solidFill>
                  <a:srgbClr val="004D66"/>
                </a:solidFill>
                <a:latin typeface="DejaVu Sans"/>
                <a:cs typeface="DejaVu Sans"/>
              </a:rPr>
              <a:t>Chọn</a:t>
            </a:r>
            <a:r>
              <a:rPr sz="405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4050" b="1" spc="-14" dirty="0" err="1">
                <a:solidFill>
                  <a:srgbClr val="004D66"/>
                </a:solidFill>
                <a:latin typeface="DejaVu Sans"/>
                <a:cs typeface="DejaVu Sans"/>
              </a:rPr>
              <a:t>Đặc</a:t>
            </a:r>
            <a:r>
              <a:rPr lang="vi-VN" sz="4050" b="1" spc="-14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4050" b="1" spc="-98" dirty="0" err="1">
                <a:solidFill>
                  <a:srgbClr val="004D66"/>
                </a:solidFill>
                <a:latin typeface="DejaVu Sans"/>
                <a:cs typeface="DejaVu Sans"/>
              </a:rPr>
              <a:t>Trưng</a:t>
            </a:r>
            <a:endParaRPr sz="4050" b="1" spc="-98" dirty="0">
              <a:solidFill>
                <a:srgbClr val="004D66"/>
              </a:solidFill>
              <a:latin typeface="DejaVu Sans"/>
              <a:cs typeface="DejaVu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26943" y="2191220"/>
            <a:ext cx="334810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004D66"/>
                </a:solidFill>
                <a:latin typeface="DejaVu Sans"/>
                <a:cs typeface="DejaVu Sans"/>
              </a:rPr>
              <a:t>Đặc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-36" dirty="0">
                <a:solidFill>
                  <a:srgbClr val="004D66"/>
                </a:solidFill>
                <a:latin typeface="DejaVu Sans"/>
                <a:cs typeface="DejaVu Sans"/>
              </a:rPr>
              <a:t>Trưng</a:t>
            </a:r>
            <a:r>
              <a:rPr sz="2000" b="1" spc="52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004D66"/>
                </a:solidFill>
                <a:latin typeface="DejaVu Sans"/>
                <a:cs typeface="DejaVu Sans"/>
              </a:rPr>
              <a:t>Quan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-36" dirty="0">
                <a:solidFill>
                  <a:srgbClr val="004D66"/>
                </a:solidFill>
                <a:latin typeface="DejaVu Sans"/>
                <a:cs typeface="DejaVu Sans"/>
              </a:rPr>
              <a:t>Trọng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703093" y="2785543"/>
            <a:ext cx="1435496" cy="592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166534"/>
                </a:solidFill>
                <a:latin typeface="DejaVu Sans"/>
                <a:cs typeface="DejaVu Sans"/>
              </a:rPr>
              <a:t>Nhiệt</a:t>
            </a:r>
            <a:r>
              <a:rPr sz="12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66534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66534"/>
                </a:solidFill>
                <a:latin typeface="DejaVu Sans"/>
                <a:cs typeface="DejaVu Sans"/>
              </a:rPr>
              <a:t>quá</a:t>
            </a:r>
            <a:r>
              <a:rPr sz="12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66534"/>
                </a:solidFill>
                <a:latin typeface="DejaVu Sans"/>
                <a:cs typeface="DejaVu Sans"/>
              </a:rPr>
              <a:t>khứ</a:t>
            </a:r>
          </a:p>
          <a:p>
            <a:pPr marL="0" marR="0">
              <a:lnSpc>
                <a:spcPts val="1368"/>
              </a:lnSpc>
              <a:spcBef>
                <a:spcPts val="1631"/>
              </a:spcBef>
              <a:spcAft>
                <a:spcPts val="0"/>
              </a:spcAft>
            </a:pPr>
            <a:r>
              <a:rPr sz="1200" spc="-15" dirty="0">
                <a:solidFill>
                  <a:srgbClr val="166534"/>
                </a:solidFill>
                <a:latin typeface="DejaVu Sans"/>
                <a:cs typeface="DejaVu Sans"/>
              </a:rPr>
              <a:t>Bức</a:t>
            </a:r>
            <a:r>
              <a:rPr sz="12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66534"/>
                </a:solidFill>
                <a:latin typeface="DejaVu Sans"/>
                <a:cs typeface="DejaVu Sans"/>
              </a:rPr>
              <a:t>xạ</a:t>
            </a:r>
            <a:r>
              <a:rPr sz="12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166534"/>
                </a:solidFill>
                <a:latin typeface="DejaVu Sans"/>
                <a:cs typeface="DejaVu Sans"/>
              </a:rPr>
              <a:t>mặt</a:t>
            </a:r>
            <a:r>
              <a:rPr sz="12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166534"/>
                </a:solidFill>
                <a:latin typeface="DejaVu Sans"/>
                <a:cs typeface="DejaVu Sans"/>
              </a:rPr>
              <a:t>trời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98108" y="2785543"/>
            <a:ext cx="142293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166534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66534"/>
                </a:solidFill>
                <a:latin typeface="DejaVu Sans"/>
                <a:cs typeface="DejaVu Sans"/>
              </a:rPr>
              <a:t>ẩm</a:t>
            </a:r>
            <a:r>
              <a:rPr sz="1200" spc="-17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66534"/>
                </a:solidFill>
                <a:latin typeface="DejaVu Sans"/>
                <a:cs typeface="DejaVu Sans"/>
              </a:rPr>
              <a:t>không</a:t>
            </a:r>
            <a:r>
              <a:rPr sz="12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66534"/>
                </a:solidFill>
                <a:latin typeface="DejaVu Sans"/>
                <a:cs typeface="DejaVu Sans"/>
              </a:rPr>
              <a:t>khí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80474" y="2785543"/>
            <a:ext cx="925569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66534"/>
                </a:solidFill>
                <a:latin typeface="DejaVu Sans"/>
                <a:cs typeface="DejaVu Sans"/>
              </a:rPr>
              <a:t>Tốc</a:t>
            </a:r>
            <a:r>
              <a:rPr sz="12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66534"/>
                </a:solidFill>
                <a:latin typeface="DejaVu Sans"/>
                <a:cs typeface="DejaVu Sans"/>
              </a:rPr>
              <a:t>độ</a:t>
            </a:r>
            <a:r>
              <a:rPr sz="12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166534"/>
                </a:solidFill>
                <a:latin typeface="DejaVu Sans"/>
                <a:cs typeface="DejaVu Sans"/>
              </a:rPr>
              <a:t>gió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565456" y="2785543"/>
            <a:ext cx="719135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166534"/>
                </a:solidFill>
                <a:latin typeface="DejaVu Sans"/>
                <a:cs typeface="DejaVu Sans"/>
              </a:rPr>
              <a:t>Áp</a:t>
            </a:r>
            <a:r>
              <a:rPr sz="12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66534"/>
                </a:solidFill>
                <a:latin typeface="DejaVu Sans"/>
                <a:cs typeface="DejaVu Sans"/>
              </a:rPr>
              <a:t>suất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026943" y="4067645"/>
            <a:ext cx="2156682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Cơ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Sở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-126" dirty="0">
                <a:solidFill>
                  <a:srgbClr val="004D66"/>
                </a:solidFill>
                <a:latin typeface="DejaVu Sans"/>
                <a:cs typeface="DejaVu Sans"/>
              </a:rPr>
              <a:t>Lý</a:t>
            </a:r>
            <a:r>
              <a:rPr sz="2000" b="1" spc="14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Luận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641776" y="4632638"/>
            <a:ext cx="5578038" cy="8273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Mối tương quan trực tiếp/gián tiếp với biến mục tiêu (nhiệt độ).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Các yếu tố vật lý cốt lõi ảnh hưởng đến trạng thái khí quyển.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Phản ánh tính chu kỳ và các xu hướng biến đổi khí hậu dài hạn.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026943" y="6115520"/>
            <a:ext cx="3914198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004D66"/>
                </a:solidFill>
                <a:latin typeface="DejaVu Sans"/>
                <a:cs typeface="DejaVu Sans"/>
              </a:rPr>
              <a:t>Đánh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Giá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Tầm </a:t>
            </a:r>
            <a:r>
              <a:rPr sz="2000" b="1" spc="11" dirty="0">
                <a:solidFill>
                  <a:srgbClr val="004D66"/>
                </a:solidFill>
                <a:latin typeface="DejaVu Sans"/>
                <a:cs typeface="DejaVu Sans"/>
              </a:rPr>
              <a:t>Quan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-36" dirty="0">
                <a:solidFill>
                  <a:srgbClr val="004D66"/>
                </a:solidFill>
                <a:latin typeface="DejaVu Sans"/>
                <a:cs typeface="DejaVu Sans"/>
              </a:rPr>
              <a:t>Trọng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404544" y="6680513"/>
            <a:ext cx="6316647" cy="48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7232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Sử dụng các mô hình cây (Random </a:t>
            </a:r>
            <a:r>
              <a:rPr sz="1350" spc="-17" dirty="0">
                <a:solidFill>
                  <a:srgbClr val="004D66"/>
                </a:solidFill>
                <a:latin typeface="DejaVu Sans"/>
                <a:cs typeface="DejaVu Sans"/>
              </a:rPr>
              <a:t>Forest,</a:t>
            </a:r>
            <a:r>
              <a:rPr sz="1350" spc="1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Gradient Boosting) để tính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spc="-20" dirty="0">
                <a:solidFill>
                  <a:srgbClr val="004D66"/>
                </a:solidFill>
                <a:latin typeface="DejaVu Sans"/>
                <a:cs typeface="DejaVu Sans"/>
              </a:rPr>
              <a:t>Feature</a:t>
            </a:r>
            <a:r>
              <a:rPr sz="1350" spc="14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Importance.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641776" y="7232963"/>
            <a:ext cx="5947125" cy="532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Các chỉ số như Gini Importance hoặc Mean Decrease in </a:t>
            </a:r>
            <a:r>
              <a:rPr sz="1350" spc="-25" dirty="0">
                <a:solidFill>
                  <a:srgbClr val="004D66"/>
                </a:solidFill>
                <a:latin typeface="DejaVu Sans"/>
                <a:cs typeface="DejaVu Sans"/>
              </a:rPr>
              <a:t>Impurity.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Phương pháp </a:t>
            </a:r>
            <a:r>
              <a:rPr sz="1350" spc="-10" dirty="0">
                <a:solidFill>
                  <a:srgbClr val="004D66"/>
                </a:solidFill>
                <a:latin typeface="DejaVu Sans"/>
                <a:cs typeface="DejaVu Sans"/>
              </a:rPr>
              <a:t>Permutation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 Importance để đánh giá khách quan hơn.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026943" y="8420570"/>
            <a:ext cx="3489099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004D66"/>
                </a:solidFill>
                <a:latin typeface="DejaVu Sans"/>
                <a:cs typeface="DejaVu Sans"/>
              </a:rPr>
              <a:t>Ảnh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004D66"/>
                </a:solidFill>
                <a:latin typeface="DejaVu Sans"/>
                <a:cs typeface="DejaVu Sans"/>
              </a:rPr>
              <a:t>Hưởng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1" dirty="0">
                <a:solidFill>
                  <a:srgbClr val="004D66"/>
                </a:solidFill>
                <a:latin typeface="DejaVu Sans"/>
                <a:cs typeface="DejaVu Sans"/>
              </a:rPr>
              <a:t>Quan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-36" dirty="0">
                <a:solidFill>
                  <a:srgbClr val="004D66"/>
                </a:solidFill>
                <a:latin typeface="DejaVu Sans"/>
                <a:cs typeface="DejaVu Sans"/>
              </a:rPr>
              <a:t>Trọng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5641776" y="8985563"/>
            <a:ext cx="5581949" cy="8273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Nâng cao hiệu suất và độ chính xác của mô hình dự </a:t>
            </a:r>
            <a:r>
              <a:rPr sz="1350" spc="-11" dirty="0">
                <a:solidFill>
                  <a:srgbClr val="004D66"/>
                </a:solidFill>
                <a:latin typeface="DejaVu Sans"/>
                <a:cs typeface="DejaVu Sans"/>
              </a:rPr>
              <a:t>báo.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Cải thiện khả năng giải thích và tính minh bạch (explainability).</a:t>
            </a:r>
          </a:p>
          <a:p>
            <a:pPr marL="0" marR="0">
              <a:lnSpc>
                <a:spcPts val="1564"/>
              </a:lnSpc>
              <a:spcBef>
                <a:spcPts val="7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Giảm overﬁtting, tối ưu hóa tài nguyên và thời gian tính toán.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7432029" y="10111022"/>
            <a:ext cx="4741692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004D66"/>
                </a:solidFill>
                <a:latin typeface="DejaVu Sans"/>
                <a:cs typeface="DejaVu Sans"/>
              </a:rPr>
              <a:t>Nguồn hình ảnh: Understanding Stochastic Gradient Boosting Machines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013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3348" y="393834"/>
            <a:ext cx="10197707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III. </a:t>
            </a:r>
            <a:r>
              <a:rPr sz="3000" b="1" spc="15" dirty="0">
                <a:solidFill>
                  <a:srgbClr val="004D66"/>
                </a:solidFill>
                <a:latin typeface="DejaVu Sans"/>
                <a:cs typeface="DejaVu Sans"/>
              </a:rPr>
              <a:t>Thuật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-87" dirty="0">
                <a:solidFill>
                  <a:srgbClr val="004D66"/>
                </a:solidFill>
                <a:latin typeface="DejaVu Sans"/>
                <a:cs typeface="DejaVu Sans"/>
              </a:rPr>
              <a:t>Toán</a:t>
            </a:r>
            <a:r>
              <a:rPr sz="3000" b="1" spc="112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4D66"/>
                </a:solidFill>
                <a:latin typeface="DejaVu Sans"/>
                <a:cs typeface="DejaVu Sans"/>
              </a:rPr>
              <a:t>Chi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004D66"/>
                </a:solidFill>
                <a:latin typeface="DejaVu Sans"/>
                <a:cs typeface="DejaVu Sans"/>
              </a:rPr>
              <a:t>Tiết: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4CAF50"/>
                </a:solidFill>
                <a:latin typeface="DejaVu Sans"/>
                <a:cs typeface="DejaVu Sans"/>
              </a:rPr>
              <a:t>Phân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4CAF50"/>
                </a:solidFill>
                <a:latin typeface="DejaVu Sans"/>
                <a:cs typeface="DejaVu Sans"/>
              </a:rPr>
              <a:t>Chia</a:t>
            </a:r>
            <a:r>
              <a:rPr sz="3000" b="1" spc="1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4CAF50"/>
                </a:solidFill>
                <a:latin typeface="DejaVu Sans"/>
                <a:cs typeface="DejaVu Sans"/>
              </a:rPr>
              <a:t>Tập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8" dirty="0">
                <a:solidFill>
                  <a:srgbClr val="4CAF50"/>
                </a:solidFill>
                <a:latin typeface="DejaVu Sans"/>
                <a:cs typeface="DejaVu Sans"/>
              </a:rPr>
              <a:t>Dữ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2" dirty="0">
                <a:solidFill>
                  <a:srgbClr val="4CAF50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89596" y="952320"/>
            <a:ext cx="7365194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Bước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nền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tảng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để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đánh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giá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khách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quan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hiệu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suất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20" dirty="0">
                <a:solidFill>
                  <a:srgbClr val="004D66"/>
                </a:solidFill>
                <a:latin typeface="DejaVu Sans"/>
                <a:cs typeface="DejaVu Sans"/>
              </a:rPr>
              <a:t>mô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hình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học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70" dirty="0">
                <a:solidFill>
                  <a:srgbClr val="004D66"/>
                </a:solidFill>
                <a:latin typeface="DejaVu Sans"/>
                <a:cs typeface="DejaVu Sans"/>
              </a:rPr>
              <a:t>máy.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52128" y="2430959"/>
            <a:ext cx="151021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4D66"/>
                </a:solidFill>
                <a:latin typeface="DejaVu Sans"/>
                <a:cs typeface="DejaVu Sans"/>
              </a:rPr>
              <a:t>Tập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4D66"/>
                </a:solidFill>
                <a:latin typeface="DejaVu Sans"/>
                <a:cs typeface="DejaVu Sans"/>
              </a:rPr>
              <a:t>Huấn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4D66"/>
                </a:solidFill>
                <a:latin typeface="DejaVu Sans"/>
                <a:cs typeface="DejaVu Sans"/>
              </a:rPr>
              <a:t>Luyện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535661" y="2430959"/>
            <a:ext cx="127295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4D66"/>
                </a:solidFill>
                <a:latin typeface="DejaVu Sans"/>
                <a:cs typeface="DejaVu Sans"/>
              </a:rPr>
              <a:t>Tập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8" dirty="0">
                <a:solidFill>
                  <a:srgbClr val="004D66"/>
                </a:solidFill>
                <a:latin typeface="DejaVu Sans"/>
                <a:cs typeface="DejaVu Sans"/>
              </a:rPr>
              <a:t>Xác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7" dirty="0">
                <a:solidFill>
                  <a:srgbClr val="004D66"/>
                </a:solidFill>
                <a:latin typeface="DejaVu Sans"/>
                <a:cs typeface="DejaVu Sans"/>
              </a:rPr>
              <a:t>Thực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412336" y="2430959"/>
            <a:ext cx="1249190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7" dirty="0">
                <a:solidFill>
                  <a:srgbClr val="004D66"/>
                </a:solidFill>
                <a:latin typeface="DejaVu Sans"/>
                <a:cs typeface="DejaVu Sans"/>
              </a:rPr>
              <a:t>Tập</a:t>
            </a:r>
            <a:r>
              <a:rPr sz="12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15" dirty="0">
                <a:solidFill>
                  <a:srgbClr val="004D66"/>
                </a:solidFill>
                <a:latin typeface="DejaVu Sans"/>
                <a:cs typeface="DejaVu Sans"/>
              </a:rPr>
              <a:t>Kiểm</a:t>
            </a:r>
            <a:r>
              <a:rPr sz="1200" b="1" spc="-18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b="1" spc="-52" dirty="0">
                <a:solidFill>
                  <a:srgbClr val="004D66"/>
                </a:solidFill>
                <a:latin typeface="DejaVu Sans"/>
                <a:cs typeface="DejaVu Sans"/>
              </a:rPr>
              <a:t>Tra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4678" y="2773859"/>
            <a:ext cx="3085171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004D66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chính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004D66"/>
                </a:solidFill>
                <a:latin typeface="DejaVu Sans"/>
                <a:cs typeface="DejaVu Sans"/>
              </a:rPr>
              <a:t>mô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hình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học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DejaVu Sans"/>
                <a:cs typeface="DejaVu Sans"/>
              </a:rPr>
              <a:t>hỏi,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nhận</a:t>
            </a:r>
          </a:p>
          <a:p>
            <a:pPr marL="347067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quy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luật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004D66"/>
                </a:solidFill>
                <a:latin typeface="DejaVu Sans"/>
                <a:cs typeface="DejaVu Sans"/>
              </a:rPr>
              <a:t>mối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quan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hệ.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42382" y="2773859"/>
            <a:ext cx="3259372" cy="431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004D66"/>
                </a:solidFill>
                <a:latin typeface="DejaVu Sans"/>
                <a:cs typeface="DejaVu Sans"/>
              </a:rPr>
              <a:t>Dùng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để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tinh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 chỉnh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DejaVu Sans"/>
                <a:cs typeface="DejaVu Sans"/>
              </a:rPr>
              <a:t>siêu 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tham</a:t>
            </a:r>
            <a:r>
              <a:rPr sz="1200" spc="-18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số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và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tránh</a:t>
            </a:r>
          </a:p>
          <a:p>
            <a:pPr marL="287089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hiện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DejaVu Sans"/>
                <a:cs typeface="DejaVu Sans"/>
              </a:rPr>
              <a:t>tượng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quá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khớp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DejaVu Sans"/>
                <a:cs typeface="DejaVu Sans"/>
              </a:rPr>
              <a:t>(overﬁtting).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383487" y="2773859"/>
            <a:ext cx="3306752" cy="6405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004D66"/>
                </a:solidFill>
                <a:latin typeface="DejaVu Sans"/>
                <a:cs typeface="DejaVu Sans"/>
              </a:rPr>
              <a:t>Đánh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giá</a:t>
            </a:r>
            <a:r>
              <a:rPr sz="1200" spc="-1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DejaVu Sans"/>
                <a:cs typeface="DejaVu Sans"/>
              </a:rPr>
              <a:t>suất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cuối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cùng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004D66"/>
                </a:solidFill>
                <a:latin typeface="DejaVu Sans"/>
                <a:cs typeface="DejaVu Sans"/>
              </a:rPr>
              <a:t>mô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hình</a:t>
            </a:r>
          </a:p>
          <a:p>
            <a:pPr marL="171003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20" dirty="0">
                <a:solidFill>
                  <a:srgbClr val="004D66"/>
                </a:solidFill>
                <a:latin typeface="DejaVu Sans"/>
                <a:cs typeface="DejaVu Sans"/>
              </a:rPr>
              <a:t>một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DejaVu Sans"/>
                <a:cs typeface="DejaVu Sans"/>
              </a:rPr>
              <a:t>cách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khách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quan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20" dirty="0">
                <a:solidFill>
                  <a:srgbClr val="004D66"/>
                </a:solidFill>
                <a:latin typeface="DejaVu Sans"/>
                <a:cs typeface="DejaVu Sans"/>
              </a:rPr>
              <a:t>trên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"vô</a:t>
            </a:r>
          </a:p>
          <a:p>
            <a:pPr marL="1356568" marR="0">
              <a:lnSpc>
                <a:spcPts val="1368"/>
              </a:lnSpc>
              <a:spcBef>
                <a:spcPts val="231"/>
              </a:spcBef>
              <a:spcAft>
                <a:spcPts val="0"/>
              </a:spcAft>
            </a:pP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hình".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186904" y="3943925"/>
            <a:ext cx="160452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DejaVu Sans"/>
                <a:cs typeface="DejaVu Sans"/>
              </a:rPr>
              <a:t>Tính Đại Diện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984205" y="3943925"/>
            <a:ext cx="235569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DejaVu Sans"/>
                <a:cs typeface="DejaVu Sans"/>
              </a:rPr>
              <a:t>Không Rò Rỉ </a:t>
            </a:r>
            <a:r>
              <a:rPr sz="1500" b="1" spc="10" dirty="0">
                <a:solidFill>
                  <a:srgbClr val="004D66"/>
                </a:solidFill>
                <a:latin typeface="DejaVu Sans"/>
                <a:cs typeface="DejaVu Sans"/>
              </a:rPr>
              <a:t>Dữ</a:t>
            </a:r>
            <a:r>
              <a:rPr sz="1500" b="1" dirty="0">
                <a:solidFill>
                  <a:srgbClr val="004D66"/>
                </a:solidFill>
                <a:latin typeface="DejaVu Sans"/>
                <a:cs typeface="DejaVu Sans"/>
              </a:rPr>
              <a:t> Liệu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86904" y="4221659"/>
            <a:ext cx="4638847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004D66"/>
                </a:solidFill>
                <a:latin typeface="DejaVu Sans"/>
                <a:cs typeface="DejaVu Sans"/>
              </a:rPr>
              <a:t>Mỗi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DejaVu Sans"/>
                <a:cs typeface="DejaVu Sans"/>
              </a:rPr>
              <a:t>tập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DejaVu Sans"/>
                <a:cs typeface="DejaVu Sans"/>
              </a:rPr>
              <a:t>con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phải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đại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diện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cho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đặc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tính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DejaVu Sans"/>
                <a:cs typeface="DejaVu Sans"/>
              </a:rPr>
              <a:t>thống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56" dirty="0">
                <a:solidFill>
                  <a:srgbClr val="004D66"/>
                </a:solidFill>
                <a:latin typeface="DejaVu Sans"/>
                <a:cs typeface="DejaVu Sans"/>
              </a:rPr>
              <a:t>kê</a:t>
            </a:r>
            <a:r>
              <a:rPr sz="1200" spc="33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toàn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bộ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liệu.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984205" y="4221659"/>
            <a:ext cx="4504449" cy="4310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004D66"/>
                </a:solidFill>
                <a:latin typeface="DejaVu Sans"/>
                <a:cs typeface="DejaVu Sans"/>
              </a:rPr>
              <a:t>Đảm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 bảo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không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DejaVu Sans"/>
                <a:cs typeface="DejaVu Sans"/>
              </a:rPr>
              <a:t>có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DejaVu Sans"/>
                <a:cs typeface="DejaVu Sans"/>
              </a:rPr>
              <a:t>thông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tin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từ</a:t>
            </a:r>
            <a:r>
              <a:rPr sz="1200" spc="-14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DejaVu Sans"/>
                <a:cs typeface="DejaVu Sans"/>
              </a:rPr>
              <a:t>tập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DejaVu Sans"/>
                <a:cs typeface="DejaVu Sans"/>
              </a:rPr>
              <a:t>kiểm</a:t>
            </a:r>
            <a:r>
              <a:rPr sz="1200" spc="-2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tra</a:t>
            </a:r>
            <a:r>
              <a:rPr sz="1200" spc="-12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bị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DejaVu Sans"/>
                <a:cs typeface="DejaVu Sans"/>
              </a:rPr>
              <a:t>'lộ'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vào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DejaVu Sans"/>
                <a:cs typeface="DejaVu Sans"/>
              </a:rPr>
              <a:t>tập</a:t>
            </a:r>
          </a:p>
          <a:p>
            <a:pPr marL="0" marR="0">
              <a:lnSpc>
                <a:spcPts val="1368"/>
              </a:lnSpc>
              <a:spcBef>
                <a:spcPts val="306"/>
              </a:spcBef>
              <a:spcAft>
                <a:spcPts val="0"/>
              </a:spcAft>
            </a:pPr>
            <a:r>
              <a:rPr sz="1200" spc="-15" dirty="0">
                <a:solidFill>
                  <a:srgbClr val="004D66"/>
                </a:solidFill>
                <a:latin typeface="DejaVu Sans"/>
                <a:cs typeface="DejaVu Sans"/>
              </a:rPr>
              <a:t>huấn</a:t>
            </a:r>
            <a:r>
              <a:rPr sz="12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DejaVu Sans"/>
                <a:cs typeface="DejaVu Sans"/>
              </a:rPr>
              <a:t>luyện.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827858" y="5000445"/>
            <a:ext cx="468873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Các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D66"/>
                </a:solidFill>
                <a:latin typeface="DejaVu Sans"/>
                <a:cs typeface="DejaVu Sans"/>
              </a:rPr>
              <a:t>Tỷ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Lệ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Phân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DejaVu Sans"/>
                <a:cs typeface="DejaVu Sans"/>
              </a:rPr>
              <a:t>Chia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004D66"/>
                </a:solidFill>
                <a:latin typeface="DejaVu Sans"/>
                <a:cs typeface="DejaVu Sans"/>
              </a:rPr>
              <a:t>Dữ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DejaVu Sans"/>
                <a:cs typeface="DejaVu Sans"/>
              </a:rPr>
              <a:t>Liệu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Phổ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DejaVu Sans"/>
                <a:cs typeface="DejaVu Sans"/>
              </a:rPr>
              <a:t>Biến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6841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979562" y="364040"/>
            <a:ext cx="8385075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III. 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Thu</a:t>
            </a:r>
            <a:r>
              <a:rPr sz="3000" b="1" spc="104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-46" dirty="0">
                <a:solidFill>
                  <a:srgbClr val="004D66"/>
                </a:solidFill>
                <a:latin typeface="Liberation Sans"/>
                <a:cs typeface="Liberation Sans"/>
              </a:rPr>
              <a:t>Toán</a:t>
            </a:r>
            <a:r>
              <a:rPr sz="3000" b="1" spc="6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5" dirty="0">
                <a:solidFill>
                  <a:srgbClr val="004D66"/>
                </a:solidFill>
                <a:latin typeface="Liberation Sans"/>
                <a:cs typeface="Liberation Sans"/>
              </a:rPr>
              <a:t>Chi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-40" dirty="0">
                <a:solidFill>
                  <a:srgbClr val="004D66"/>
                </a:solidFill>
                <a:latin typeface="Liberation Sans"/>
                <a:cs typeface="Liberation Sans"/>
              </a:rPr>
              <a:t>Ti</a:t>
            </a:r>
            <a:r>
              <a:rPr sz="3000" b="1" spc="108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t: </a:t>
            </a:r>
            <a:r>
              <a:rPr sz="3000" b="1" spc="17" dirty="0">
                <a:solidFill>
                  <a:srgbClr val="4CAF50"/>
                </a:solidFill>
                <a:latin typeface="Liberation Sans"/>
                <a:cs typeface="Liberation Sans"/>
              </a:rPr>
              <a:t>Hu</a:t>
            </a:r>
            <a:r>
              <a:rPr sz="3000" b="1" spc="1039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n</a:t>
            </a:r>
            <a:r>
              <a:rPr sz="3000" b="1" spc="20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4CAF50"/>
                </a:solidFill>
                <a:latin typeface="Liberation Sans"/>
                <a:cs typeface="Liberation Sans"/>
              </a:rPr>
              <a:t>Luy</a:t>
            </a:r>
            <a:r>
              <a:rPr sz="3000" b="1" spc="1039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n</a:t>
            </a:r>
            <a:r>
              <a:rPr sz="3000" b="1" spc="20" dirty="0">
                <a:solidFill>
                  <a:srgbClr val="4CAF50"/>
                </a:solidFill>
                <a:latin typeface="Liberation Sans"/>
                <a:cs typeface="Liberation Sans"/>
              </a:rPr>
              <a:t> Mô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2" dirty="0">
                <a:solidFill>
                  <a:srgbClr val="4CAF50"/>
                </a:solidFill>
                <a:latin typeface="Liberation Sans"/>
                <a:cs typeface="Liberation Sans"/>
              </a:rPr>
              <a:t>Hình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5976" y="1394859"/>
            <a:ext cx="2759110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700" b="1" spc="102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Liberation Sans"/>
                <a:cs typeface="Liberation Sans"/>
              </a:rPr>
              <a:t>Ch</a:t>
            </a:r>
            <a:r>
              <a:rPr sz="1700" b="1" spc="104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Liberation Sans"/>
                <a:cs typeface="Liberation Sans"/>
              </a:rPr>
              <a:t>Hu</a:t>
            </a:r>
            <a:r>
              <a:rPr sz="1700" b="1" spc="58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70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Luy</a:t>
            </a:r>
            <a:r>
              <a:rPr sz="1700" b="1" spc="5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70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Liberation Sans"/>
                <a:cs typeface="Liberation Sans"/>
              </a:rPr>
              <a:t>GBR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88967" y="1394859"/>
            <a:ext cx="1995151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Tham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S</a:t>
            </a:r>
            <a:r>
              <a:rPr sz="1700" b="1" spc="103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Ban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Đ</a:t>
            </a:r>
            <a:r>
              <a:rPr sz="1700" b="1" spc="56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6984" y="1886772"/>
            <a:ext cx="2989631" cy="10845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7706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Hu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luy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tu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các cây quy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nh y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u.</a:t>
            </a:r>
          </a:p>
          <a:p>
            <a:pPr marL="227706" marR="0">
              <a:lnSpc>
                <a:spcPts val="1564"/>
              </a:lnSpc>
              <a:spcBef>
                <a:spcPts val="10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ỗ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cây m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ọ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ừ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sai s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spc="3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ủ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a các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cây tr</a:t>
            </a:r>
            <a:r>
              <a:rPr sz="1350" spc="-15" dirty="0">
                <a:solidFill>
                  <a:srgbClr val="004D66"/>
                </a:solidFill>
                <a:latin typeface="DejaVu Sans"/>
                <a:cs typeface="DejaVu Sans"/>
              </a:rPr>
              <a:t>ướ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479976" y="1886772"/>
            <a:ext cx="4604162" cy="1255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4CAF50"/>
                </a:solidFill>
                <a:latin typeface="Liberation Sans"/>
                <a:cs typeface="Liberation Sans"/>
              </a:rPr>
              <a:t>• learning_rate: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Ki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m soát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ọ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 (th</a:t>
            </a:r>
            <a:r>
              <a:rPr sz="1350" spc="-15" dirty="0">
                <a:solidFill>
                  <a:srgbClr val="004D66"/>
                </a:solidFill>
                <a:latin typeface="DejaVu Sans"/>
                <a:cs typeface="DejaVu Sans"/>
              </a:rPr>
              <a:t>ườ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0.01-0.1).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b="1" dirty="0">
                <a:solidFill>
                  <a:srgbClr val="4CAF50"/>
                </a:solidFill>
                <a:latin typeface="Liberation Sans"/>
                <a:cs typeface="Liberation Sans"/>
              </a:rPr>
              <a:t>• n_estimators: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S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spc="3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</a:t>
            </a:r>
            <a:r>
              <a:rPr sz="1350" spc="-15" dirty="0">
                <a:solidFill>
                  <a:srgbClr val="004D66"/>
                </a:solidFill>
                <a:latin typeface="DejaVu Sans"/>
                <a:cs typeface="DejaVu Sans"/>
              </a:rPr>
              <a:t>ượ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cây quy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ị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nh (ví d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: 100-500).</a:t>
            </a:r>
          </a:p>
          <a:p>
            <a:pPr marL="0" marR="0">
              <a:lnSpc>
                <a:spcPts val="1564"/>
              </a:lnSpc>
              <a:spcBef>
                <a:spcPts val="1010"/>
              </a:spcBef>
              <a:spcAft>
                <a:spcPts val="0"/>
              </a:spcAft>
            </a:pPr>
            <a:r>
              <a:rPr sz="1350" b="1" dirty="0">
                <a:solidFill>
                  <a:srgbClr val="4CAF50"/>
                </a:solidFill>
                <a:latin typeface="Liberation Sans"/>
                <a:cs typeface="Liberation Sans"/>
              </a:rPr>
              <a:t>• max_depth: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sâu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đa c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ủ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a m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ỗ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cây (ví d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: 3-5).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b="1" dirty="0">
                <a:solidFill>
                  <a:srgbClr val="4CAF50"/>
                </a:solidFill>
                <a:latin typeface="Liberation Sans"/>
                <a:cs typeface="Liberation Sans"/>
              </a:rPr>
              <a:t>• min_samples_split: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S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spc="3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ẫ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thi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phân tách nút.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64691" y="3077397"/>
            <a:ext cx="246752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hóa hàm m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mát b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ằ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6984" y="3338489"/>
            <a:ext cx="1527052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Gradient Descent.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64691" y="3677472"/>
            <a:ext cx="256355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ổ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ợ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 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đoán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ừ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c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350" spc="33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các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6984" y="3934647"/>
            <a:ext cx="2325409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cây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ra k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qu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350" spc="33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cu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cùng.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586536" y="3977194"/>
            <a:ext cx="1205531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66534"/>
                </a:solidFill>
                <a:latin typeface="Liberation Sans"/>
                <a:cs typeface="Liberation Sans"/>
              </a:rPr>
              <a:t>Hyperparameters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937896" y="3977194"/>
            <a:ext cx="896547" cy="181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spc="-10" dirty="0">
                <a:solidFill>
                  <a:srgbClr val="166534"/>
                </a:solidFill>
                <a:latin typeface="Liberation Sans"/>
                <a:cs typeface="Liberation Sans"/>
              </a:rPr>
              <a:t>Tuning</a:t>
            </a:r>
            <a:r>
              <a:rPr sz="1000" b="1" spc="18" dirty="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166534"/>
                </a:solidFill>
                <a:latin typeface="Liberation Sans"/>
                <a:cs typeface="Liberation Sans"/>
              </a:rPr>
              <a:t>Start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145976" y="5023884"/>
            <a:ext cx="2340471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700" b="1" spc="56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70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700" b="1" spc="56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&amp;</a:t>
            </a:r>
            <a:r>
              <a:rPr sz="1700" b="1" spc="-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Th</a:t>
            </a:r>
            <a:r>
              <a:rPr sz="1700" b="1" spc="104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43" dirty="0">
                <a:solidFill>
                  <a:srgbClr val="004D66"/>
                </a:solidFill>
                <a:latin typeface="Liberation Sans"/>
                <a:cs typeface="Liberation Sans"/>
              </a:rPr>
              <a:t>Vi</a:t>
            </a:r>
            <a:r>
              <a:rPr sz="1700" b="1" spc="61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88967" y="5023884"/>
            <a:ext cx="2229194" cy="2764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Yêu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C</a:t>
            </a:r>
            <a:r>
              <a:rPr sz="1700" b="1" spc="56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70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Tài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Nguyên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50862" y="5515797"/>
            <a:ext cx="272252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Python: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Ngôn ng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 trình chính.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707682" y="5515797"/>
            <a:ext cx="4701974" cy="9130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Th</a:t>
            </a:r>
            <a:r>
              <a:rPr sz="1350" b="1" spc="45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i gian: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Vài phút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vài gi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ờ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, tùy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ph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ứ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c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p.</a:t>
            </a:r>
          </a:p>
          <a:p>
            <a:pPr marL="0" marR="0">
              <a:lnSpc>
                <a:spcPts val="1564"/>
              </a:lnSpc>
              <a:spcBef>
                <a:spcPts val="1010"/>
              </a:spcBef>
              <a:spcAft>
                <a:spcPts val="0"/>
              </a:spcAft>
            </a:pP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CPU/GPU:</a:t>
            </a:r>
            <a:r>
              <a:rPr sz="1350" b="1" spc="-2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trên CPU đa nhân, có th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d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ụ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GPU.</a:t>
            </a:r>
          </a:p>
          <a:p>
            <a:pPr marL="0" marR="0">
              <a:lnSpc>
                <a:spcPts val="1564"/>
              </a:lnSpc>
              <a:spcBef>
                <a:spcPts val="1135"/>
              </a:spcBef>
              <a:spcAft>
                <a:spcPts val="0"/>
              </a:spcAft>
            </a:pP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RAM:</a:t>
            </a:r>
            <a:r>
              <a:rPr sz="1350" b="1" spc="-2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Yêu c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ầ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cao 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cho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p 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l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ớ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50862" y="5896797"/>
            <a:ext cx="3957184" cy="998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Scikit-learn:</a:t>
            </a:r>
            <a:r>
              <a:rPr sz="1350" spc="-18" dirty="0">
                <a:solidFill>
                  <a:srgbClr val="004D66"/>
                </a:solidFill>
                <a:latin typeface="Liberation Sans"/>
                <a:cs typeface="Liberation Sans"/>
              </a:rPr>
              <a:t>Tri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 khai GBR và các mô hình khác.</a:t>
            </a:r>
          </a:p>
          <a:p>
            <a:pPr marL="0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XGBoost: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Hi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su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 cao, kh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350" spc="33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năng m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ở</a:t>
            </a:r>
            <a:r>
              <a:rPr sz="1350" spc="3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r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ng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t.</a:t>
            </a:r>
          </a:p>
          <a:p>
            <a:pPr marL="0" marR="0">
              <a:lnSpc>
                <a:spcPts val="1564"/>
              </a:lnSpc>
              <a:spcBef>
                <a:spcPts val="1435"/>
              </a:spcBef>
              <a:spcAft>
                <a:spcPts val="0"/>
              </a:spcAft>
            </a:pP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CatBoost: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X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ử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lý 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phân lo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i hi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qu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707682" y="6534971"/>
            <a:ext cx="4051024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L</a:t>
            </a:r>
            <a:r>
              <a:rPr sz="1350" b="1" spc="44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u tr</a:t>
            </a:r>
            <a:r>
              <a:rPr sz="1350" b="1" spc="45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: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Vài GB cho 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 và các mô hình đã l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ư</a:t>
            </a:r>
            <a:r>
              <a:rPr sz="1350" dirty="0">
                <a:solidFill>
                  <a:srgbClr val="004D66"/>
                </a:solidFill>
                <a:latin typeface="Liberation Sans"/>
                <a:cs typeface="Liberation Sans"/>
              </a:rPr>
              <a:t>u.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743545" y="7606218"/>
            <a:ext cx="586204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E40AF"/>
                </a:solidFill>
                <a:latin typeface="Liberation Sans"/>
                <a:cs typeface="Liberation Sans"/>
              </a:rPr>
              <a:t>Python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1475779" y="7606218"/>
            <a:ext cx="842548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9A3412"/>
                </a:solidFill>
                <a:latin typeface="Liberation Sans"/>
                <a:cs typeface="Liberation Sans"/>
              </a:rPr>
              <a:t>Scikit-learn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586536" y="7606218"/>
            <a:ext cx="422683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F2937"/>
                </a:solidFill>
                <a:latin typeface="Liberation Sans"/>
                <a:cs typeface="Liberation Sans"/>
              </a:rPr>
              <a:t>CPU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155208" y="7606218"/>
            <a:ext cx="429809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F2937"/>
                </a:solidFill>
                <a:latin typeface="Liberation Sans"/>
                <a:cs typeface="Liberation Sans"/>
              </a:rPr>
              <a:t>GPU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7731025" y="7606218"/>
            <a:ext cx="443936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F2937"/>
                </a:solidFill>
                <a:latin typeface="Liberation Sans"/>
                <a:cs typeface="Liberation Sans"/>
              </a:rPr>
              <a:t>RAM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83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78842" y="386637"/>
            <a:ext cx="10386520" cy="395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sz="2500" b="1" dirty="0">
                <a:solidFill>
                  <a:srgbClr val="004D66"/>
                </a:solidFill>
                <a:latin typeface="Liberation Sans"/>
                <a:cs typeface="Liberation Sans"/>
              </a:rPr>
              <a:t>III. </a:t>
            </a:r>
            <a:r>
              <a:rPr sz="2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Thu</a:t>
            </a:r>
            <a:r>
              <a:rPr sz="2500" b="1" spc="88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5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2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500" b="1" spc="-38" dirty="0">
                <a:solidFill>
                  <a:srgbClr val="004D66"/>
                </a:solidFill>
                <a:latin typeface="Liberation Sans"/>
                <a:cs typeface="Liberation Sans"/>
              </a:rPr>
              <a:t>Toán</a:t>
            </a:r>
            <a:r>
              <a:rPr sz="2500" b="1" spc="5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500" b="1" spc="11" dirty="0">
                <a:solidFill>
                  <a:srgbClr val="004D66"/>
                </a:solidFill>
                <a:latin typeface="Liberation Sans"/>
                <a:cs typeface="Liberation Sans"/>
              </a:rPr>
              <a:t>Chi</a:t>
            </a:r>
            <a:r>
              <a:rPr sz="25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500" b="1" spc="-34" dirty="0">
                <a:solidFill>
                  <a:srgbClr val="004D66"/>
                </a:solidFill>
                <a:latin typeface="Liberation Sans"/>
                <a:cs typeface="Liberation Sans"/>
              </a:rPr>
              <a:t>Ti</a:t>
            </a:r>
            <a:r>
              <a:rPr sz="2500" b="1" spc="919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500" b="1" dirty="0">
                <a:solidFill>
                  <a:srgbClr val="004D66"/>
                </a:solidFill>
                <a:latin typeface="Liberation Sans"/>
                <a:cs typeface="Liberation Sans"/>
              </a:rPr>
              <a:t>t: </a:t>
            </a:r>
            <a:r>
              <a:rPr sz="2500" b="1" i="1" dirty="0">
                <a:solidFill>
                  <a:srgbClr val="4CAF50"/>
                </a:solidFill>
                <a:latin typeface="Liberation Sans"/>
                <a:cs typeface="Liberation Sans"/>
              </a:rPr>
              <a:t>T</a:t>
            </a:r>
            <a:r>
              <a:rPr sz="2500" b="1" i="1" spc="892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2500" b="1" i="1" dirty="0">
                <a:solidFill>
                  <a:srgbClr val="4CAF50"/>
                </a:solidFill>
                <a:latin typeface="Liberation Sans"/>
                <a:cs typeface="Liberation Sans"/>
              </a:rPr>
              <a:t>i</a:t>
            </a:r>
            <a:r>
              <a:rPr sz="2500" b="1" i="1" spc="2185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2500" b="1" i="1" dirty="0">
                <a:solidFill>
                  <a:srgbClr val="4CAF50"/>
                </a:solidFill>
                <a:latin typeface="Liberation Sans"/>
                <a:cs typeface="Liberation Sans"/>
              </a:rPr>
              <a:t>u</a:t>
            </a:r>
            <a:r>
              <a:rPr sz="2500" b="1" i="1" spc="15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2500" b="1" i="1" spc="11" dirty="0">
                <a:solidFill>
                  <a:srgbClr val="4CAF50"/>
                </a:solidFill>
                <a:latin typeface="Liberation Sans"/>
                <a:cs typeface="Liberation Sans"/>
              </a:rPr>
              <a:t>Hóa</a:t>
            </a:r>
            <a:r>
              <a:rPr sz="2500" b="1" i="1" dirty="0">
                <a:solidFill>
                  <a:srgbClr val="4CAF50"/>
                </a:solidFill>
                <a:latin typeface="Liberation Sans"/>
                <a:cs typeface="Liberation Sans"/>
              </a:rPr>
              <a:t> Siêu </a:t>
            </a:r>
            <a:r>
              <a:rPr sz="2500" b="1" i="1" spc="10" dirty="0">
                <a:solidFill>
                  <a:srgbClr val="4CAF50"/>
                </a:solidFill>
                <a:latin typeface="Liberation Sans"/>
                <a:cs typeface="Liberation Sans"/>
              </a:rPr>
              <a:t>Tham </a:t>
            </a:r>
            <a:r>
              <a:rPr sz="2500" b="1" i="1" dirty="0">
                <a:solidFill>
                  <a:srgbClr val="4CAF50"/>
                </a:solidFill>
                <a:latin typeface="Liberation Sans"/>
                <a:cs typeface="Liberation Sans"/>
              </a:rPr>
              <a:t>S</a:t>
            </a:r>
            <a:r>
              <a:rPr sz="2500" b="1" i="1" spc="1593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2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(Hyperparameter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521671" y="767637"/>
            <a:ext cx="1325009" cy="395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Tuning)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84076" y="1720846"/>
            <a:ext cx="3662467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Khái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ni</a:t>
            </a:r>
            <a:r>
              <a:rPr sz="2000" b="1" spc="71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2000" b="1" spc="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&amp;</a:t>
            </a:r>
            <a:r>
              <a:rPr sz="2000" b="1" spc="1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2000" b="1" spc="65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2000" b="1" spc="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quan tr</a:t>
            </a:r>
            <a:r>
              <a:rPr sz="2000" b="1" spc="64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88967" y="1720846"/>
            <a:ext cx="3078827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Ph</a:t>
            </a:r>
            <a:r>
              <a:rPr sz="2000" b="1" spc="19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pháp &amp;</a:t>
            </a:r>
            <a:r>
              <a:rPr sz="2000" b="1" spc="1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Tiêu</a:t>
            </a:r>
            <a:r>
              <a:rPr sz="2000" b="1" spc="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chí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88354" y="2288733"/>
            <a:ext cx="477464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Siêu tham s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: C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hình </a:t>
            </a:r>
            <a:r>
              <a:rPr sz="1500" b="1" i="1" dirty="0">
                <a:solidFill>
                  <a:srgbClr val="004D66"/>
                </a:solidFill>
                <a:latin typeface="Liberation Sans"/>
                <a:cs typeface="Liberation Sans"/>
              </a:rPr>
              <a:t>ngoài 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mô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 hình, đ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ượ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 thi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 l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p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479976" y="2293140"/>
            <a:ext cx="3538547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Các ph</a:t>
            </a:r>
            <a:r>
              <a:rPr sz="1500" b="1" spc="145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ng pháp tìm</a:t>
            </a:r>
            <a:r>
              <a:rPr sz="1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ki</a:t>
            </a:r>
            <a:r>
              <a:rPr sz="1500" b="1" spc="48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5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ph</a:t>
            </a:r>
            <a:r>
              <a:rPr sz="1500" b="1" spc="90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bi</a:t>
            </a:r>
            <a:r>
              <a:rPr sz="1500" b="1" spc="4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n: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88354" y="2584008"/>
            <a:ext cx="1963709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tr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ướ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 khi hu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luy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693246" y="2717358"/>
            <a:ext cx="481980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GridSearchCV:</a:t>
            </a:r>
            <a:r>
              <a:rPr sz="1500" spc="-2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Tìm ki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500" spc="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i="1" dirty="0">
                <a:solidFill>
                  <a:srgbClr val="004D66"/>
                </a:solidFill>
                <a:latin typeface="Liberation Sans"/>
                <a:cs typeface="Liberation Sans"/>
              </a:rPr>
              <a:t>toàn di</a:t>
            </a:r>
            <a:r>
              <a:rPr sz="1500" b="1" i="1" spc="4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i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b="1" i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trên l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ướ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i, 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qu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88354" y="3012633"/>
            <a:ext cx="470500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Quy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 đ</a:t>
            </a:r>
            <a:r>
              <a:rPr sz="1500" spc="33" dirty="0">
                <a:solidFill>
                  <a:srgbClr val="004D66"/>
                </a:solidFill>
                <a:latin typeface="DejaVu Sans"/>
                <a:cs typeface="DejaVu Sans"/>
              </a:rPr>
              <a:t>ị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nh </a:t>
            </a:r>
            <a:r>
              <a:rPr sz="1500" b="1" i="1" dirty="0">
                <a:solidFill>
                  <a:srgbClr val="004D66"/>
                </a:solidFill>
                <a:latin typeface="Liberation Sans"/>
                <a:cs typeface="Liberation Sans"/>
              </a:rPr>
              <a:t>hi</a:t>
            </a:r>
            <a:r>
              <a:rPr sz="1500" b="1" i="1" spc="47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i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b="1" i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i="1" dirty="0">
                <a:solidFill>
                  <a:srgbClr val="004D66"/>
                </a:solidFill>
                <a:latin typeface="Liberation Sans"/>
                <a:cs typeface="Liberation Sans"/>
              </a:rPr>
              <a:t>su</a:t>
            </a:r>
            <a:r>
              <a:rPr sz="1500" b="1" i="1" spc="48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i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, t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 đ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h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 t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ụ</a:t>
            </a:r>
            <a:r>
              <a:rPr sz="1500" spc="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&amp;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kh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500" spc="25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năng </a:t>
            </a:r>
            <a:r>
              <a:rPr sz="1500" b="1" i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500" b="1" i="1" spc="48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i="1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93246" y="3012633"/>
            <a:ext cx="1832640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v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ớ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 không gian nh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ỏ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88354" y="3317433"/>
            <a:ext cx="213268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1" dirty="0">
                <a:solidFill>
                  <a:srgbClr val="004D66"/>
                </a:solidFill>
                <a:latin typeface="Liberation Sans"/>
                <a:cs typeface="Liberation Sans"/>
              </a:rPr>
              <a:t>quát hóa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500" spc="23" dirty="0">
                <a:solidFill>
                  <a:srgbClr val="004D66"/>
                </a:solidFill>
                <a:latin typeface="DejaVu Sans"/>
                <a:cs typeface="DejaVu Sans"/>
              </a:rPr>
              <a:t>ủ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a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mô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 hình.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93246" y="3441258"/>
            <a:ext cx="472367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RandomizedSearchCV:</a:t>
            </a:r>
            <a:r>
              <a:rPr sz="1500" spc="-2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Tìm ki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500" spc="1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i="1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1500" b="1" i="1" spc="48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i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b="1" i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i="1" dirty="0">
                <a:solidFill>
                  <a:srgbClr val="004D66"/>
                </a:solidFill>
                <a:latin typeface="Liberation Sans"/>
                <a:cs typeface="Liberation Sans"/>
              </a:rPr>
              <a:t>nhiên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, nhanh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693246" y="3736533"/>
            <a:ext cx="220630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h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ơ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cho không gian l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ớ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83741" y="3775388"/>
            <a:ext cx="4642717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"T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i 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ư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u hóa siêu tham s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spc="3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là </a:t>
            </a:r>
            <a:r>
              <a:rPr sz="1350" b="1" i="1" dirty="0">
                <a:solidFill>
                  <a:srgbClr val="004D66"/>
                </a:solidFill>
                <a:latin typeface="Liberation Sans"/>
                <a:cs typeface="Liberation Sans"/>
              </a:rPr>
              <a:t>chìa khóa 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350" spc="3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khai phá toàn b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83741" y="4032563"/>
            <a:ext cx="255908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ti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ề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m năng c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ủ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a m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t mô hình</a:t>
            </a:r>
            <a:r>
              <a:rPr sz="1350" i="1" spc="-5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AI."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693246" y="4165158"/>
            <a:ext cx="491421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Bayesian Optimization:</a:t>
            </a:r>
            <a:r>
              <a:rPr sz="1500" spc="-2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 </a:t>
            </a:r>
            <a:r>
              <a:rPr sz="1500" spc="23" dirty="0">
                <a:solidFill>
                  <a:srgbClr val="004D66"/>
                </a:solidFill>
                <a:latin typeface="DejaVu Sans"/>
                <a:cs typeface="DejaVu Sans"/>
              </a:rPr>
              <a:t>ư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i="1" dirty="0">
                <a:solidFill>
                  <a:srgbClr val="004D66"/>
                </a:solidFill>
                <a:latin typeface="Liberation Sans"/>
                <a:cs typeface="Liberation Sans"/>
              </a:rPr>
              <a:t>thông minh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500" spc="23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a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trên k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693246" y="4469958"/>
            <a:ext cx="204478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qu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500" spc="25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các l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ầ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th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ử</a:t>
            </a:r>
            <a:r>
              <a:rPr sz="1500" spc="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tr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ướ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479976" y="5074440"/>
            <a:ext cx="3018174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Tiêu</a:t>
            </a:r>
            <a:r>
              <a:rPr sz="15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chí đánh giá trong project: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607967" y="5496698"/>
            <a:ext cx="3734754" cy="2314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22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FFFFFF"/>
                </a:solidFill>
                <a:latin typeface="Liberation Mono"/>
                <a:cs typeface="Liberation Mono"/>
              </a:rPr>
              <a:t>'neg_mean_squared_error' (cho RMSE)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03076" y="5995468"/>
            <a:ext cx="770519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Liberation Sans"/>
                <a:cs typeface="Liberation Sans"/>
              </a:rPr>
              <a:t>hình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1762422" y="5995468"/>
            <a:ext cx="807510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1" dirty="0">
                <a:solidFill>
                  <a:srgbClr val="004D66"/>
                </a:solidFill>
                <a:latin typeface="Liberation Sans"/>
                <a:cs typeface="Liberation Sans"/>
              </a:rPr>
              <a:t>Hi</a:t>
            </a:r>
            <a:r>
              <a:rPr sz="1200" spc="11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Liberation Sans"/>
                <a:cs typeface="Liberation Sans"/>
              </a:rPr>
              <a:t>su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758826" y="5995468"/>
            <a:ext cx="1127450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ổ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quát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hóa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075211" y="5998895"/>
            <a:ext cx="866064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20" dirty="0">
                <a:solidFill>
                  <a:srgbClr val="004D66"/>
                </a:solidFill>
                <a:latin typeface="Liberation Sans"/>
                <a:cs typeface="Liberation Sans"/>
              </a:rPr>
              <a:t>Mô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Liberation Sans"/>
                <a:cs typeface="Liberation Sans"/>
              </a:rPr>
              <a:t>hình</a:t>
            </a:r>
            <a:r>
              <a:rPr sz="1200" spc="-7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5" dirty="0">
                <a:solidFill>
                  <a:srgbClr val="004D66"/>
                </a:solidFill>
                <a:latin typeface="Liberation Sans"/>
                <a:cs typeface="Liberation Sans"/>
              </a:rPr>
              <a:t>AI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6607967" y="5998895"/>
            <a:ext cx="948890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004D66"/>
                </a:solidFill>
                <a:latin typeface="Liberation Sans"/>
                <a:cs typeface="Liberation Sans"/>
              </a:rPr>
              <a:t>Grid </a:t>
            </a:r>
            <a:r>
              <a:rPr sz="1200" spc="-12" dirty="0">
                <a:solidFill>
                  <a:srgbClr val="004D66"/>
                </a:solidFill>
                <a:latin typeface="Liberation Sans"/>
                <a:cs typeface="Liberation Sans"/>
              </a:rPr>
              <a:t>Search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7745758" y="5998895"/>
            <a:ext cx="1231112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004D66"/>
                </a:solidFill>
                <a:latin typeface="Liberation Sans"/>
                <a:cs typeface="Liberation Sans"/>
              </a:rPr>
              <a:t>Random</a:t>
            </a:r>
            <a:r>
              <a:rPr sz="1200" spc="-12" dirty="0">
                <a:solidFill>
                  <a:srgbClr val="004D66"/>
                </a:solidFill>
                <a:latin typeface="Liberation Sans"/>
                <a:cs typeface="Liberation Sans"/>
              </a:rPr>
              <a:t> Search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9165728" y="5998895"/>
            <a:ext cx="766799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004D66"/>
                </a:solidFill>
                <a:latin typeface="Liberation Sans"/>
                <a:cs typeface="Liberation Sans"/>
              </a:rPr>
              <a:t>Bayesian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0121204" y="5998895"/>
            <a:ext cx="583901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004D66"/>
                </a:solidFill>
                <a:latin typeface="Liberation Sans"/>
                <a:cs typeface="Liberation Sans"/>
              </a:rPr>
              <a:t>RMSE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6482803" y="7889433"/>
            <a:ext cx="5221730" cy="8740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405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i="1" dirty="0">
                <a:solidFill>
                  <a:srgbClr val="004D66"/>
                </a:solidFill>
                <a:latin typeface="Liberation Mono"/>
                <a:cs typeface="Liberation Mono"/>
              </a:rPr>
              <a:t>"B</a:t>
            </a:r>
            <a:r>
              <a:rPr sz="1500" dirty="0">
                <a:solidFill>
                  <a:srgbClr val="004D66"/>
                </a:solidFill>
                <a:latin typeface="DejaVu Sans Mono"/>
                <a:cs typeface="DejaVu Sans Mono"/>
              </a:rPr>
              <a:t>ắ</a:t>
            </a:r>
            <a:r>
              <a:rPr sz="1500" i="1" dirty="0">
                <a:solidFill>
                  <a:srgbClr val="004D66"/>
                </a:solidFill>
                <a:latin typeface="Liberation Mono"/>
                <a:cs typeface="Liberation Mono"/>
              </a:rPr>
              <a:t>t</a:t>
            </a:r>
            <a:r>
              <a:rPr sz="1500" i="1" spc="14" dirty="0">
                <a:solidFill>
                  <a:srgbClr val="004D66"/>
                </a:solidFill>
                <a:latin typeface="Liberation Mono"/>
                <a:cs typeface="Liberation Mono"/>
              </a:rPr>
              <a:t> </a:t>
            </a:r>
            <a:r>
              <a:rPr sz="1500" i="1" dirty="0">
                <a:solidFill>
                  <a:srgbClr val="004D66"/>
                </a:solidFill>
                <a:latin typeface="Liberation Mono"/>
                <a:cs typeface="Liberation Mono"/>
              </a:rPr>
              <a:t>đ</a:t>
            </a:r>
            <a:r>
              <a:rPr sz="1500" dirty="0">
                <a:solidFill>
                  <a:srgbClr val="004D66"/>
                </a:solidFill>
                <a:latin typeface="DejaVu Sans Mono"/>
                <a:cs typeface="DejaVu Sans Mono"/>
              </a:rPr>
              <a:t>â</a:t>
            </a:r>
            <a:r>
              <a:rPr sz="1500" spc="-3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DejaVu Sans Mono"/>
                <a:cs typeface="DejaVu Sans Mono"/>
              </a:rPr>
              <a:t>̀</a:t>
            </a:r>
            <a:r>
              <a:rPr sz="1500" i="1" dirty="0">
                <a:solidFill>
                  <a:srgbClr val="004D66"/>
                </a:solidFill>
                <a:latin typeface="Liberation Mono"/>
                <a:cs typeface="Liberation Mono"/>
              </a:rPr>
              <a:t>u</a:t>
            </a:r>
            <a:r>
              <a:rPr sz="1500" i="1" spc="14" dirty="0">
                <a:solidFill>
                  <a:srgbClr val="004D66"/>
                </a:solidFill>
                <a:latin typeface="Liberation Mono"/>
                <a:cs typeface="Liberation Mono"/>
              </a:rPr>
              <a:t> </a:t>
            </a:r>
            <a:r>
              <a:rPr sz="1500" i="1" dirty="0">
                <a:solidFill>
                  <a:srgbClr val="004D66"/>
                </a:solidFill>
                <a:latin typeface="Liberation Mono"/>
                <a:cs typeface="Liberation Mono"/>
              </a:rPr>
              <a:t>tìm ki</a:t>
            </a:r>
            <a:r>
              <a:rPr sz="1500" dirty="0">
                <a:solidFill>
                  <a:srgbClr val="004D66"/>
                </a:solidFill>
                <a:latin typeface="DejaVu Sans Mono"/>
                <a:cs typeface="DejaVu Sans Mono"/>
              </a:rPr>
              <a:t>ê</a:t>
            </a:r>
            <a:r>
              <a:rPr sz="1500" spc="-3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DejaVu Sans Mono"/>
                <a:cs typeface="DejaVu Sans Mono"/>
              </a:rPr>
              <a:t>́</a:t>
            </a:r>
            <a:r>
              <a:rPr sz="1500" i="1" dirty="0">
                <a:solidFill>
                  <a:srgbClr val="004D66"/>
                </a:solidFill>
                <a:latin typeface="Liberation Mono"/>
                <a:cs typeface="Liberation Mono"/>
              </a:rPr>
              <a:t>m</a:t>
            </a:r>
            <a:r>
              <a:rPr sz="1500" i="1" spc="14" dirty="0">
                <a:solidFill>
                  <a:srgbClr val="004D66"/>
                </a:solidFill>
                <a:latin typeface="Liberation Mono"/>
                <a:cs typeface="Liberation Mono"/>
              </a:rPr>
              <a:t> </a:t>
            </a:r>
            <a:r>
              <a:rPr sz="1500" i="1" dirty="0">
                <a:solidFill>
                  <a:srgbClr val="004D66"/>
                </a:solidFill>
                <a:latin typeface="Liberation Mono"/>
                <a:cs typeface="Liberation Mono"/>
              </a:rPr>
              <a:t>siêu tham s</a:t>
            </a:r>
            <a:r>
              <a:rPr sz="1500" dirty="0">
                <a:solidFill>
                  <a:srgbClr val="004D66"/>
                </a:solidFill>
                <a:latin typeface="DejaVu Sans Mono"/>
                <a:cs typeface="DejaVu Sans Mono"/>
              </a:rPr>
              <a:t>ố</a:t>
            </a:r>
            <a:r>
              <a:rPr sz="1500" i="1" dirty="0">
                <a:solidFill>
                  <a:srgbClr val="004D66"/>
                </a:solidFill>
                <a:latin typeface="Liberation Mono"/>
                <a:cs typeface="Liberation Mono"/>
              </a:rPr>
              <a:t>t</a:t>
            </a:r>
            <a:r>
              <a:rPr sz="1500" dirty="0">
                <a:solidFill>
                  <a:srgbClr val="004D66"/>
                </a:solidFill>
                <a:latin typeface="DejaVu Sans Mono"/>
                <a:cs typeface="DejaVu Sans Mono"/>
              </a:rPr>
              <a:t>ô</a:t>
            </a:r>
            <a:r>
              <a:rPr sz="1500" spc="-3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DejaVu Sans Mono"/>
                <a:cs typeface="DejaVu Sans Mono"/>
              </a:rPr>
              <a:t>́</a:t>
            </a:r>
            <a:r>
              <a:rPr sz="1500" i="1" dirty="0">
                <a:solidFill>
                  <a:srgbClr val="004D66"/>
                </a:solidFill>
                <a:latin typeface="Liberation Mono"/>
                <a:cs typeface="Liberation Mono"/>
              </a:rPr>
              <a:t>t</a:t>
            </a:r>
            <a:r>
              <a:rPr sz="1500" i="1" spc="14" dirty="0">
                <a:solidFill>
                  <a:srgbClr val="004D66"/>
                </a:solidFill>
                <a:latin typeface="Liberation Mono"/>
                <a:cs typeface="Liberation Mono"/>
              </a:rPr>
              <a:t> </a:t>
            </a:r>
            <a:r>
              <a:rPr sz="1500" i="1" dirty="0">
                <a:solidFill>
                  <a:srgbClr val="004D66"/>
                </a:solidFill>
                <a:latin typeface="Liberation Mono"/>
                <a:cs typeface="Liberation Mono"/>
              </a:rPr>
              <a:t>nh</a:t>
            </a:r>
            <a:r>
              <a:rPr sz="1500" dirty="0">
                <a:solidFill>
                  <a:srgbClr val="004D66"/>
                </a:solidFill>
                <a:latin typeface="DejaVu Sans Mono"/>
                <a:cs typeface="DejaVu Sans Mono"/>
              </a:rPr>
              <a:t>â</a:t>
            </a:r>
            <a:r>
              <a:rPr sz="1500" spc="-3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DejaVu Sans Mono"/>
                <a:cs typeface="DejaVu Sans Mono"/>
              </a:rPr>
              <a:t>́</a:t>
            </a:r>
            <a:r>
              <a:rPr sz="1500" i="1" dirty="0">
                <a:solidFill>
                  <a:srgbClr val="004D66"/>
                </a:solidFill>
                <a:latin typeface="Liberation Mono"/>
                <a:cs typeface="Liberation Mono"/>
              </a:rPr>
              <a:t>t</a:t>
            </a:r>
            <a:r>
              <a:rPr sz="1500" i="1" spc="14" dirty="0">
                <a:solidFill>
                  <a:srgbClr val="004D66"/>
                </a:solidFill>
                <a:latin typeface="Liberation Mono"/>
                <a:cs typeface="Liberation Mono"/>
              </a:rPr>
              <a:t> </a:t>
            </a:r>
            <a:r>
              <a:rPr sz="1500" i="1" dirty="0">
                <a:solidFill>
                  <a:srgbClr val="004D66"/>
                </a:solidFill>
                <a:latin typeface="Liberation Mono"/>
                <a:cs typeface="Liberation Mono"/>
              </a:rPr>
              <a:t>cho</a:t>
            </a:r>
          </a:p>
          <a:p>
            <a:pPr marL="0" marR="0">
              <a:lnSpc>
                <a:spcPts val="1712"/>
              </a:lnSpc>
              <a:spcBef>
                <a:spcPts val="612"/>
              </a:spcBef>
              <a:spcAft>
                <a:spcPts val="0"/>
              </a:spcAft>
            </a:pPr>
            <a:r>
              <a:rPr sz="1500" i="1" dirty="0">
                <a:solidFill>
                  <a:srgbClr val="004D66"/>
                </a:solidFill>
                <a:latin typeface="Liberation Mono"/>
                <a:cs typeface="Liberation Mono"/>
              </a:rPr>
              <a:t>GradientBoostingRegressor... Fitting 5</a:t>
            </a:r>
            <a:r>
              <a:rPr sz="1500" i="1" spc="14" dirty="0">
                <a:solidFill>
                  <a:srgbClr val="004D66"/>
                </a:solidFill>
                <a:latin typeface="Liberation Mono"/>
                <a:cs typeface="Liberation Mono"/>
              </a:rPr>
              <a:t> </a:t>
            </a:r>
            <a:r>
              <a:rPr sz="1500" i="1" dirty="0">
                <a:solidFill>
                  <a:srgbClr val="004D66"/>
                </a:solidFill>
                <a:latin typeface="Liberation Mono"/>
                <a:cs typeface="Liberation Mono"/>
              </a:rPr>
              <a:t>folds</a:t>
            </a:r>
          </a:p>
          <a:p>
            <a:pPr marL="230385" marR="0">
              <a:lnSpc>
                <a:spcPts val="1712"/>
              </a:lnSpc>
              <a:spcBef>
                <a:spcPts val="687"/>
              </a:spcBef>
              <a:spcAft>
                <a:spcPts val="0"/>
              </a:spcAft>
            </a:pPr>
            <a:r>
              <a:rPr sz="1500" i="1" dirty="0">
                <a:solidFill>
                  <a:srgbClr val="004D66"/>
                </a:solidFill>
                <a:latin typeface="Liberation Mono"/>
                <a:cs typeface="Liberation Mono"/>
              </a:rPr>
              <a:t>for each of 32 candidates, totalling 160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247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65906" y="412807"/>
            <a:ext cx="8586265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III. K</a:t>
            </a:r>
            <a:r>
              <a:rPr sz="3000" b="1" spc="105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8" dirty="0">
                <a:solidFill>
                  <a:srgbClr val="004D66"/>
                </a:solidFill>
                <a:latin typeface="Liberation Sans"/>
                <a:cs typeface="Liberation Sans"/>
              </a:rPr>
              <a:t>Qu</a:t>
            </a:r>
            <a:r>
              <a:rPr sz="3000" b="1" spc="103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: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5" dirty="0">
                <a:solidFill>
                  <a:srgbClr val="4CAF50"/>
                </a:solidFill>
                <a:latin typeface="Liberation Sans"/>
                <a:cs typeface="Liberation Sans"/>
              </a:rPr>
              <a:t>Đánh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1" dirty="0">
                <a:solidFill>
                  <a:srgbClr val="4CAF50"/>
                </a:solidFill>
                <a:latin typeface="Liberation Sans"/>
                <a:cs typeface="Liberation Sans"/>
              </a:rPr>
              <a:t>Giá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20" dirty="0">
                <a:solidFill>
                  <a:srgbClr val="4CAF50"/>
                </a:solidFill>
                <a:latin typeface="Liberation Sans"/>
                <a:cs typeface="Liberation Sans"/>
              </a:rPr>
              <a:t>Mô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2" dirty="0">
                <a:solidFill>
                  <a:srgbClr val="4CAF50"/>
                </a:solidFill>
                <a:latin typeface="Liberation Sans"/>
                <a:cs typeface="Liberation Sans"/>
              </a:rPr>
              <a:t>Hình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4CAF50"/>
                </a:solidFill>
                <a:latin typeface="Liberation Sans"/>
                <a:cs typeface="Liberation Sans"/>
              </a:rPr>
              <a:t>XGBRegressor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7343" y="1434101"/>
            <a:ext cx="3538062" cy="844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Sai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s</a:t>
            </a:r>
            <a:r>
              <a:rPr sz="1700" b="1" spc="103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tuy</a:t>
            </a:r>
            <a:r>
              <a:rPr sz="1700" b="1" spc="57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700" b="1" spc="56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trung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bình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(MAE)</a:t>
            </a:r>
          </a:p>
          <a:p>
            <a:pPr marL="0" marR="0">
              <a:lnSpc>
                <a:spcPts val="3975"/>
              </a:lnSpc>
              <a:spcBef>
                <a:spcPts val="0"/>
              </a:spcBef>
              <a:spcAft>
                <a:spcPts val="0"/>
              </a:spcAft>
            </a:pPr>
            <a:r>
              <a:rPr sz="4050" b="1" dirty="0">
                <a:solidFill>
                  <a:srgbClr val="004D66"/>
                </a:solidFill>
                <a:latin typeface="Liberation Sans"/>
                <a:cs typeface="Liberation Sans"/>
              </a:rPr>
              <a:t>0.56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345708" y="1424047"/>
            <a:ext cx="3538315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So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Sánh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Hi</a:t>
            </a:r>
            <a:r>
              <a:rPr sz="2000" b="1" spc="7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2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Su</a:t>
            </a:r>
            <a:r>
              <a:rPr sz="2000" b="1" spc="64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2" dirty="0">
                <a:solidFill>
                  <a:srgbClr val="004D66"/>
                </a:solidFill>
                <a:latin typeface="Liberation Sans"/>
                <a:cs typeface="Liberation Sans"/>
              </a:rPr>
              <a:t>Mô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Hình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607343" y="3005726"/>
            <a:ext cx="3917014" cy="8541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Sai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s</a:t>
            </a:r>
            <a:r>
              <a:rPr sz="1700" b="1" spc="103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bình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ph</a:t>
            </a:r>
            <a:r>
              <a:rPr sz="1700" b="1" spc="162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trung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bình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(MSE)</a:t>
            </a:r>
          </a:p>
          <a:p>
            <a:pPr marL="0" marR="0">
              <a:lnSpc>
                <a:spcPts val="4050"/>
              </a:lnSpc>
              <a:spcBef>
                <a:spcPts val="93"/>
              </a:spcBef>
              <a:spcAft>
                <a:spcPts val="0"/>
              </a:spcAft>
            </a:pPr>
            <a:r>
              <a:rPr sz="4050" b="1" dirty="0">
                <a:solidFill>
                  <a:srgbClr val="004D66"/>
                </a:solidFill>
                <a:latin typeface="Liberation Sans"/>
                <a:cs typeface="Liberation Sans"/>
              </a:rPr>
              <a:t>1.12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07343" y="4586876"/>
            <a:ext cx="2751653" cy="8445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876"/>
              </a:lnSpc>
              <a:spcBef>
                <a:spcPts val="0"/>
              </a:spcBef>
              <a:spcAft>
                <a:spcPts val="0"/>
              </a:spcAft>
            </a:pP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H</a:t>
            </a:r>
            <a:r>
              <a:rPr sz="1700" b="1" spc="102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s</a:t>
            </a:r>
            <a:r>
              <a:rPr sz="1700" b="1" spc="103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xác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đ</a:t>
            </a:r>
            <a:r>
              <a:rPr sz="1700" b="1" spc="-3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Liberation Sans"/>
                <a:cs typeface="Liberation Sans"/>
              </a:rPr>
              <a:t>nh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0" dirty="0">
                <a:solidFill>
                  <a:srgbClr val="004D66"/>
                </a:solidFill>
                <a:latin typeface="Liberation Sans"/>
                <a:cs typeface="Liberation Sans"/>
              </a:rPr>
              <a:t>(R²</a:t>
            </a:r>
            <a:r>
              <a:rPr sz="17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Liberation Sans"/>
                <a:cs typeface="Liberation Sans"/>
              </a:rPr>
              <a:t>Score)</a:t>
            </a:r>
          </a:p>
          <a:p>
            <a:pPr marL="0" marR="0">
              <a:lnSpc>
                <a:spcPts val="3975"/>
              </a:lnSpc>
              <a:spcBef>
                <a:spcPts val="0"/>
              </a:spcBef>
              <a:spcAft>
                <a:spcPts val="0"/>
              </a:spcAft>
            </a:pPr>
            <a:r>
              <a:rPr sz="4050" b="1" dirty="0">
                <a:solidFill>
                  <a:srgbClr val="004D66"/>
                </a:solidFill>
                <a:latin typeface="Liberation Sans"/>
                <a:cs typeface="Liberation Sans"/>
              </a:rPr>
              <a:t>0.98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6984" y="6157972"/>
            <a:ext cx="4947811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Phân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Tích &amp;</a:t>
            </a:r>
            <a:r>
              <a:rPr sz="2000" b="1" spc="1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Lý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Do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C</a:t>
            </a:r>
            <a:r>
              <a:rPr sz="2000" b="1" spc="65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i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Thi</a:t>
            </a:r>
            <a:r>
              <a:rPr sz="2000" b="1" spc="71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2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Hi</a:t>
            </a:r>
            <a:r>
              <a:rPr sz="2000" b="1" spc="7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2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Su</a:t>
            </a:r>
            <a:r>
              <a:rPr sz="2000" b="1" spc="64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88826" y="6687760"/>
            <a:ext cx="5030297" cy="8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Tăng c</a:t>
            </a:r>
            <a:r>
              <a:rPr sz="1500" b="1" spc="1464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ng Gradient: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XGBoost s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ử</a:t>
            </a:r>
            <a:r>
              <a:rPr sz="1500" spc="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500" spc="23" dirty="0">
                <a:solidFill>
                  <a:srgbClr val="004D66"/>
                </a:solidFill>
                <a:latin typeface="DejaVu Sans"/>
                <a:cs typeface="DejaVu Sans"/>
              </a:rPr>
              <a:t>ụ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ng thu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 toán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gradient boosting đ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ượ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 t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 </a:t>
            </a:r>
            <a:r>
              <a:rPr sz="1500" spc="23" dirty="0">
                <a:solidFill>
                  <a:srgbClr val="004D66"/>
                </a:solidFill>
                <a:latin typeface="DejaVu Sans"/>
                <a:cs typeface="DejaVu Sans"/>
              </a:rPr>
              <a:t>ư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hóa, giúp gi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500" spc="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sai s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hi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qu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500" spc="25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qua t</a:t>
            </a:r>
            <a:r>
              <a:rPr sz="1500" spc="23" dirty="0">
                <a:solidFill>
                  <a:srgbClr val="004D66"/>
                </a:solidFill>
                <a:latin typeface="DejaVu Sans"/>
                <a:cs typeface="DejaVu Sans"/>
              </a:rPr>
              <a:t>ừ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ng vòng l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ặ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p.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633119" y="6687760"/>
            <a:ext cx="4827490" cy="8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R² V</a:t>
            </a:r>
            <a:r>
              <a:rPr sz="1500" b="1" spc="1465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t </a:t>
            </a:r>
            <a:r>
              <a:rPr sz="1500" b="1" spc="-75" dirty="0">
                <a:solidFill>
                  <a:srgbClr val="4CAF50"/>
                </a:solidFill>
                <a:latin typeface="Liberation Sans"/>
                <a:cs typeface="Liberation Sans"/>
              </a:rPr>
              <a:t>Tr</a:t>
            </a:r>
            <a:r>
              <a:rPr sz="1500" b="1" spc="563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i: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 R²-score 0.98, cho th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ấ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y 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mô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 hình gi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thích đ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ượ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 98% s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500" spc="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bi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thiên c</a:t>
            </a:r>
            <a:r>
              <a:rPr sz="1500" spc="23" dirty="0">
                <a:solidFill>
                  <a:srgbClr val="004D66"/>
                </a:solidFill>
                <a:latin typeface="DejaVu Sans"/>
                <a:cs typeface="DejaVu Sans"/>
              </a:rPr>
              <a:t>ủ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a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500" spc="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u, v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ượ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 tr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 so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v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ớ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 RandomForest (0.96).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88826" y="7754560"/>
            <a:ext cx="5050226" cy="8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Gi</a:t>
            </a:r>
            <a:r>
              <a:rPr sz="1500" b="1" spc="476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m</a:t>
            </a:r>
            <a:r>
              <a:rPr sz="1500" b="1" spc="14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Sai S</a:t>
            </a:r>
            <a:r>
              <a:rPr sz="1500" b="1" spc="490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: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MAE (0.56) và MSE (1.12) gi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500" spc="1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g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ầ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m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spc="23" dirty="0">
                <a:solidFill>
                  <a:srgbClr val="004D66"/>
                </a:solidFill>
                <a:latin typeface="DejaVu Sans"/>
                <a:cs typeface="DejaVu Sans"/>
              </a:rPr>
              <a:t>ử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a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so v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ớ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 RandomForest, ch</a:t>
            </a:r>
            <a:r>
              <a:rPr sz="1500" spc="23" dirty="0">
                <a:solidFill>
                  <a:srgbClr val="004D66"/>
                </a:solidFill>
                <a:latin typeface="DejaVu Sans"/>
                <a:cs typeface="DejaVu Sans"/>
              </a:rPr>
              <a:t>ứ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ng t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ỏ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chính xác d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500" spc="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báo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cao h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ơ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đáng k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ể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33119" y="7754560"/>
            <a:ext cx="4778188" cy="8521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Ch</a:t>
            </a:r>
            <a:r>
              <a:rPr sz="1500" b="1" spc="482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4CAF50"/>
                </a:solidFill>
                <a:latin typeface="Liberation Sans"/>
                <a:cs typeface="Liberation Sans"/>
              </a:rPr>
              <a:t>ng Overfitting:</a:t>
            </a:r>
            <a:r>
              <a:rPr sz="1500" b="1" spc="-25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Tích h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ợ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p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ơ</a:t>
            </a:r>
            <a:r>
              <a:rPr sz="1500" spc="27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ch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ế</a:t>
            </a:r>
            <a:r>
              <a:rPr sz="1500" spc="21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đi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ề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chu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ẩ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(regularization L1, L2), giúp 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mô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 hình có kh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500" spc="25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năng t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ổ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quát hóa t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 h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ơ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trên d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ữ</a:t>
            </a:r>
            <a:r>
              <a:rPr sz="1500" spc="68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500" spc="-23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004D66"/>
                </a:solidFill>
                <a:latin typeface="Liberation Sans"/>
                <a:cs typeface="Liberation Sans"/>
              </a:rPr>
              <a:t> m</a:t>
            </a:r>
            <a:r>
              <a:rPr sz="1500" spc="-18" dirty="0">
                <a:solidFill>
                  <a:srgbClr val="004D66"/>
                </a:solidFill>
                <a:latin typeface="DejaVu Sans"/>
                <a:cs typeface="DejaVu Sans"/>
              </a:rPr>
              <a:t>ớ</a:t>
            </a:r>
            <a:r>
              <a:rPr sz="1500" dirty="0">
                <a:solidFill>
                  <a:srgbClr val="004D66"/>
                </a:solidFill>
                <a:latin typeface="Liberation Sans"/>
                <a:cs typeface="Liberation Sans"/>
              </a:rPr>
              <a:t>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0939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46209"/>
            <a:ext cx="11043504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III. </a:t>
            </a:r>
            <a:r>
              <a:rPr sz="3000" b="1" spc="17" dirty="0">
                <a:solidFill>
                  <a:srgbClr val="004D66"/>
                </a:solidFill>
                <a:latin typeface="DejaVu Sans"/>
                <a:cs typeface="DejaVu Sans"/>
              </a:rPr>
              <a:t>Kết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4D66"/>
                </a:solidFill>
                <a:latin typeface="DejaVu Sans"/>
                <a:cs typeface="DejaVu Sans"/>
              </a:rPr>
              <a:t>Quả: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4CAF50"/>
                </a:solidFill>
                <a:latin typeface="DejaVu Sans"/>
                <a:cs typeface="DejaVu Sans"/>
              </a:rPr>
              <a:t>Đánh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4CAF50"/>
                </a:solidFill>
                <a:latin typeface="DejaVu Sans"/>
                <a:cs typeface="DejaVu Sans"/>
              </a:rPr>
              <a:t>Giá</a:t>
            </a:r>
            <a:r>
              <a:rPr sz="3000" b="1" spc="1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23" dirty="0">
                <a:solidFill>
                  <a:srgbClr val="4CAF50"/>
                </a:solidFill>
                <a:latin typeface="DejaVu Sans"/>
                <a:cs typeface="DejaVu Sans"/>
              </a:rPr>
              <a:t>Mô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4CAF50"/>
                </a:solidFill>
                <a:latin typeface="DejaVu Sans"/>
                <a:cs typeface="DejaVu Sans"/>
              </a:rPr>
              <a:t>Hình</a:t>
            </a:r>
            <a:r>
              <a:rPr sz="3000" b="1" spc="1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4CAF50"/>
                </a:solidFill>
                <a:latin typeface="DejaVu Sans"/>
                <a:cs typeface="DejaVu Sans"/>
              </a:rPr>
              <a:t>CatBoostRegressor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6512" y="1255612"/>
            <a:ext cx="4517780" cy="6695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CatBoostRegressor: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Hiệu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Suất</a:t>
            </a:r>
          </a:p>
          <a:p>
            <a:pPr marL="1530548" marR="0">
              <a:lnSpc>
                <a:spcPts val="2346"/>
              </a:lnSpc>
              <a:spcBef>
                <a:spcPts val="328"/>
              </a:spcBef>
              <a:spcAft>
                <a:spcPts val="0"/>
              </a:spcAft>
            </a:pP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Vượt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-47" dirty="0">
                <a:solidFill>
                  <a:srgbClr val="004D66"/>
                </a:solidFill>
                <a:latin typeface="DejaVu Sans"/>
                <a:cs typeface="DejaVu Sans"/>
              </a:rPr>
              <a:t>Trội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065167" y="1314271"/>
            <a:ext cx="3737133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Xử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26" dirty="0">
                <a:solidFill>
                  <a:srgbClr val="004D66"/>
                </a:solidFill>
                <a:latin typeface="DejaVu Sans"/>
                <a:cs typeface="DejaVu Sans"/>
              </a:rPr>
              <a:t>Lý</a:t>
            </a:r>
            <a:r>
              <a:rPr sz="1700" b="1" spc="107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DejaVu Sans"/>
                <a:cs typeface="DejaVu Sans"/>
              </a:rPr>
              <a:t>Biến</a:t>
            </a:r>
            <a:r>
              <a:rPr sz="1700" b="1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Phân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D66"/>
                </a:solidFill>
                <a:latin typeface="DejaVu Sans"/>
                <a:cs typeface="DejaVu Sans"/>
              </a:rPr>
              <a:t>Loại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D66"/>
                </a:solidFill>
                <a:latin typeface="DejaVu Sans"/>
                <a:cs typeface="DejaVu Sans"/>
              </a:rPr>
              <a:t>Tự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Động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556175" y="1763455"/>
            <a:ext cx="4948277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CatBoost tích hợp xử lý biến phân loại hiệu quả, giảm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thiểu bước tiền xử lý và nâng cao độ chính xác mô hình.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83629" y="2248475"/>
            <a:ext cx="700062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0" dirty="0">
                <a:solidFill>
                  <a:srgbClr val="004D66"/>
                </a:solidFill>
                <a:latin typeface="DejaVu Sans"/>
                <a:cs typeface="DejaVu Sans"/>
              </a:rPr>
              <a:t>MAE: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692151" y="2248475"/>
            <a:ext cx="68974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DejaVu Sans"/>
                <a:cs typeface="DejaVu Sans"/>
              </a:rPr>
              <a:t>MSE: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191594" y="2248475"/>
            <a:ext cx="1125834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DejaVu Sans"/>
                <a:cs typeface="DejaVu Sans"/>
              </a:rPr>
              <a:t>R²-score: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183629" y="2543750"/>
            <a:ext cx="57995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0.47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692151" y="2543750"/>
            <a:ext cx="57995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0.63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191594" y="2543750"/>
            <a:ext cx="57995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0.99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065167" y="3124021"/>
            <a:ext cx="4159725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Giảm</a:t>
            </a: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DejaVu Sans"/>
                <a:cs typeface="DejaVu Sans"/>
              </a:rPr>
              <a:t>Thiểu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004D66"/>
                </a:solidFill>
                <a:latin typeface="DejaVu Sans"/>
                <a:cs typeface="DejaVu Sans"/>
              </a:rPr>
              <a:t>Độ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Lệch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DejaVu Sans"/>
                <a:cs typeface="DejaVu Sans"/>
              </a:rPr>
              <a:t>(Bias)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D66"/>
                </a:solidFill>
                <a:latin typeface="DejaVu Sans"/>
                <a:cs typeface="DejaVu Sans"/>
              </a:rPr>
              <a:t>Tối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7" dirty="0">
                <a:solidFill>
                  <a:srgbClr val="004D66"/>
                </a:solidFill>
                <a:latin typeface="DejaVu Sans"/>
                <a:cs typeface="DejaVu Sans"/>
              </a:rPr>
              <a:t>Ưu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952797" y="3571696"/>
            <a:ext cx="4425167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So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D66"/>
                </a:solidFill>
                <a:latin typeface="DejaVu Sans"/>
                <a:cs typeface="DejaVu Sans"/>
              </a:rPr>
              <a:t>sánh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Hiệu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4" dirty="0">
                <a:solidFill>
                  <a:srgbClr val="004D66"/>
                </a:solidFill>
                <a:latin typeface="DejaVu Sans"/>
                <a:cs typeface="DejaVu Sans"/>
              </a:rPr>
              <a:t>suất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DejaVu Sans"/>
                <a:cs typeface="DejaVu Sans"/>
              </a:rPr>
              <a:t>giữa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các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20" dirty="0">
                <a:solidFill>
                  <a:srgbClr val="004D66"/>
                </a:solidFill>
                <a:latin typeface="DejaVu Sans"/>
                <a:cs typeface="DejaVu Sans"/>
              </a:rPr>
              <a:t>Mô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1" dirty="0">
                <a:solidFill>
                  <a:srgbClr val="004D66"/>
                </a:solidFill>
                <a:latin typeface="DejaVu Sans"/>
                <a:cs typeface="DejaVu Sans"/>
              </a:rPr>
              <a:t>hình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556175" y="3573205"/>
            <a:ext cx="4896597" cy="7511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Kỹ thuật </a:t>
            </a:r>
            <a:r>
              <a:rPr sz="1350" spc="-12" dirty="0">
                <a:solidFill>
                  <a:srgbClr val="004D66"/>
                </a:solidFill>
                <a:latin typeface="DejaVu Sans"/>
                <a:cs typeface="DejaVu Sans"/>
              </a:rPr>
              <a:t>Ordered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 Boosting độc đáo giúp CatBoost giảm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thiểu hiện tượng quá khớp (overﬁtting) và cải thiện khả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năng tổng quát hóa.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610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0999" y="357892"/>
            <a:ext cx="7661929" cy="8976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III. </a:t>
            </a:r>
            <a:r>
              <a:rPr sz="3000" b="1" spc="17" dirty="0">
                <a:solidFill>
                  <a:srgbClr val="004D66"/>
                </a:solidFill>
                <a:latin typeface="DejaVu Sans"/>
                <a:cs typeface="DejaVu Sans"/>
              </a:rPr>
              <a:t>Kết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4D66"/>
                </a:solidFill>
                <a:latin typeface="DejaVu Sans"/>
                <a:cs typeface="DejaVu Sans"/>
              </a:rPr>
              <a:t>Quả: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4CAF50"/>
                </a:solidFill>
                <a:latin typeface="DejaVu Sans"/>
                <a:cs typeface="DejaVu Sans"/>
              </a:rPr>
              <a:t>Đánh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4" dirty="0">
                <a:solidFill>
                  <a:srgbClr val="4CAF50"/>
                </a:solidFill>
                <a:latin typeface="DejaVu Sans"/>
                <a:cs typeface="DejaVu Sans"/>
              </a:rPr>
              <a:t>Giá</a:t>
            </a:r>
            <a:r>
              <a:rPr sz="3000" b="1" spc="10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23" dirty="0" err="1">
                <a:solidFill>
                  <a:srgbClr val="4CAF50"/>
                </a:solidFill>
                <a:latin typeface="DejaVu Sans"/>
                <a:cs typeface="DejaVu Sans"/>
              </a:rPr>
              <a:t>Mô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5" dirty="0" err="1">
                <a:solidFill>
                  <a:srgbClr val="4CAF50"/>
                </a:solidFill>
                <a:latin typeface="DejaVu Sans"/>
                <a:cs typeface="DejaVu Sans"/>
              </a:rPr>
              <a:t>Hình</a:t>
            </a:r>
            <a:r>
              <a:rPr lang="vi-VN" sz="3000" b="1" spc="15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5" dirty="0" err="1">
                <a:solidFill>
                  <a:srgbClr val="4CAF50"/>
                </a:solidFill>
                <a:latin typeface="DejaVu Sans"/>
                <a:cs typeface="DejaVu Sans"/>
              </a:rPr>
              <a:t>GradientBoostingRegressor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4CAF50"/>
                </a:solidFill>
                <a:latin typeface="DejaVu Sans"/>
                <a:cs typeface="DejaVu Sans"/>
              </a:rPr>
              <a:t>Tối</a:t>
            </a:r>
            <a:r>
              <a:rPr sz="3000" b="1" dirty="0">
                <a:solidFill>
                  <a:srgbClr val="4CAF50"/>
                </a:solidFill>
                <a:latin typeface="DejaVu Sans"/>
                <a:cs typeface="DejaVu Sans"/>
              </a:rPr>
              <a:t> </a:t>
            </a:r>
            <a:r>
              <a:rPr sz="3000" b="1" spc="20" dirty="0">
                <a:solidFill>
                  <a:srgbClr val="4CAF50"/>
                </a:solidFill>
                <a:latin typeface="DejaVu Sans"/>
                <a:cs typeface="DejaVu Sans"/>
              </a:rPr>
              <a:t>Ưu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08620" y="1745054"/>
            <a:ext cx="1909726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8" dirty="0">
                <a:solidFill>
                  <a:srgbClr val="004D66"/>
                </a:solidFill>
                <a:latin typeface="DejaVu Sans"/>
                <a:cs typeface="DejaVu Sans"/>
              </a:rPr>
              <a:t>MAE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55" dirty="0">
                <a:solidFill>
                  <a:srgbClr val="004D66"/>
                </a:solidFill>
                <a:latin typeface="DejaVu Sans"/>
                <a:cs typeface="DejaVu Sans"/>
              </a:rPr>
              <a:t>(Test</a:t>
            </a:r>
            <a:r>
              <a:rPr sz="1700" b="1" spc="37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Set)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93058" y="1745054"/>
            <a:ext cx="1898272" cy="2864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8" dirty="0">
                <a:solidFill>
                  <a:srgbClr val="004D66"/>
                </a:solidFill>
                <a:latin typeface="DejaVu Sans"/>
                <a:cs typeface="DejaVu Sans"/>
              </a:rPr>
              <a:t>MSE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55" dirty="0">
                <a:solidFill>
                  <a:srgbClr val="004D66"/>
                </a:solidFill>
                <a:latin typeface="DejaVu Sans"/>
                <a:cs typeface="DejaVu Sans"/>
              </a:rPr>
              <a:t>(Test</a:t>
            </a:r>
            <a:r>
              <a:rPr sz="1700" b="1" spc="37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Set)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13221" y="2148592"/>
            <a:ext cx="1634397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004D66"/>
                </a:solidFill>
                <a:latin typeface="DejaVu Sans"/>
                <a:cs typeface="DejaVu Sans"/>
              </a:rPr>
              <a:t>0.5126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892003" y="2148592"/>
            <a:ext cx="1634397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004D66"/>
                </a:solidFill>
                <a:latin typeface="DejaVu Sans"/>
                <a:cs typeface="DejaVu Sans"/>
              </a:rPr>
              <a:t>0.6604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62744" y="2652193"/>
            <a:ext cx="213522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Sai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số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tuyệt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đối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trung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bình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506092" y="2652193"/>
            <a:ext cx="2405927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Sai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số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bình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phương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trung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bình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55935" y="3392879"/>
            <a:ext cx="1490579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7" dirty="0">
                <a:solidFill>
                  <a:srgbClr val="004D66"/>
                </a:solidFill>
                <a:latin typeface="DejaVu Sans"/>
                <a:cs typeface="DejaVu Sans"/>
              </a:rPr>
              <a:t>RMSE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55" dirty="0">
                <a:solidFill>
                  <a:srgbClr val="004D66"/>
                </a:solidFill>
                <a:latin typeface="DejaVu Sans"/>
                <a:cs typeface="DejaVu Sans"/>
              </a:rPr>
              <a:t>(Test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Set)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934717" y="3450029"/>
            <a:ext cx="1878069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spc="-15" dirty="0">
                <a:solidFill>
                  <a:srgbClr val="004D66"/>
                </a:solidFill>
                <a:latin typeface="DejaVu Sans"/>
                <a:cs typeface="DejaVu Sans"/>
              </a:rPr>
              <a:t>R2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Score</a:t>
            </a:r>
            <a:r>
              <a:rPr sz="17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b="1" spc="-55" dirty="0">
                <a:solidFill>
                  <a:srgbClr val="004D66"/>
                </a:solidFill>
                <a:latin typeface="DejaVu Sans"/>
                <a:cs typeface="DejaVu Sans"/>
              </a:rPr>
              <a:t>(Test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b="1" spc="-12" dirty="0">
                <a:solidFill>
                  <a:srgbClr val="004D66"/>
                </a:solidFill>
                <a:latin typeface="DejaVu Sans"/>
                <a:cs typeface="DejaVu Sans"/>
              </a:rPr>
              <a:t>Set)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589656" y="4025017"/>
            <a:ext cx="2057736" cy="934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23564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15" dirty="0">
                <a:solidFill>
                  <a:srgbClr val="004D66"/>
                </a:solidFill>
                <a:latin typeface="DejaVu Sans"/>
                <a:cs typeface="DejaVu Sans"/>
              </a:rPr>
              <a:t>0.8127</a:t>
            </a:r>
          </a:p>
          <a:p>
            <a:pPr marL="0" marR="0">
              <a:lnSpc>
                <a:spcPts val="1368"/>
              </a:lnSpc>
              <a:spcBef>
                <a:spcPts val="445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Căn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bậc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hai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sai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số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bình</a:t>
            </a:r>
          </a:p>
          <a:p>
            <a:pPr marL="0" marR="0">
              <a:lnSpc>
                <a:spcPts val="1368"/>
              </a:lnSpc>
              <a:spcBef>
                <a:spcPts val="356"/>
              </a:spcBef>
              <a:spcAft>
                <a:spcPts val="0"/>
              </a:spcAft>
            </a:pP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phương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645098" y="4068115"/>
            <a:ext cx="2128396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1" dirty="0">
                <a:solidFill>
                  <a:srgbClr val="4CAF50"/>
                </a:solidFill>
                <a:latin typeface="DejaVu Sans"/>
                <a:cs typeface="DejaVu Sans"/>
              </a:rPr>
              <a:t>0.9908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432648" y="4593783"/>
            <a:ext cx="5257267" cy="11569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"Mô hình GradientBoostingRegressor sau tối ưu hóa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siêu tham số đã đạt hiệu suất vượt trội, cho thấy khả</a:t>
            </a:r>
          </a:p>
          <a:p>
            <a:pPr marL="0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năng dự đoán chính xác cao trên</a:t>
            </a:r>
            <a:r>
              <a:rPr sz="1500" spc="17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tập dữ liệu thử</a:t>
            </a:r>
          </a:p>
          <a:p>
            <a:pPr marL="0" marR="0">
              <a:lnSpc>
                <a:spcPts val="1760"/>
              </a:lnSpc>
              <a:spcBef>
                <a:spcPts val="514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nghiệm."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3711475" y="4681018"/>
            <a:ext cx="1995111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4B5563"/>
                </a:solidFill>
                <a:latin typeface="DejaVu Sans"/>
                <a:cs typeface="DejaVu Sans"/>
              </a:rPr>
              <a:t>Hệ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số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4B5563"/>
                </a:solidFill>
                <a:latin typeface="DejaVu Sans"/>
                <a:cs typeface="DejaVu Sans"/>
              </a:rPr>
              <a:t>xác</a:t>
            </a:r>
            <a:r>
              <a:rPr sz="120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định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4B5563"/>
                </a:solidFill>
                <a:latin typeface="DejaVu Sans"/>
                <a:cs typeface="DejaVu Sans"/>
              </a:rPr>
              <a:t>hiệu</a:t>
            </a:r>
            <a:r>
              <a:rPr sz="1200" spc="-10" dirty="0">
                <a:solidFill>
                  <a:srgbClr val="4B5563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4B5563"/>
                </a:solidFill>
                <a:latin typeface="DejaVu Sans"/>
                <a:cs typeface="DejaVu Sans"/>
              </a:rPr>
              <a:t>suất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827686" y="6251888"/>
            <a:ext cx="2994902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R2 </a:t>
            </a:r>
            <a:r>
              <a:rPr sz="1350" spc="-10" dirty="0">
                <a:solidFill>
                  <a:srgbClr val="004D66"/>
                </a:solidFill>
                <a:latin typeface="DejaVu Sans"/>
                <a:cs typeface="DejaVu Sans"/>
              </a:rPr>
              <a:t>Score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 gần 1 cho thấy mô hình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8694538" y="6251888"/>
            <a:ext cx="2862822" cy="7416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Vượt trội hơn các mô hình cơ sở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hoặc chưa tối ưu hóa đã thử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nghiệm.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960834" y="6375713"/>
            <a:ext cx="3121860" cy="4939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Hiệu suất TỐT HƠN đáng kể so với</a:t>
            </a:r>
          </a:p>
          <a:p>
            <a:pPr marL="0" marR="0">
              <a:lnSpc>
                <a:spcPts val="1564"/>
              </a:lnSpc>
              <a:spcBef>
                <a:spcPts val="41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trước khi tối ưu hóa.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4827686" y="6509063"/>
            <a:ext cx="3096338" cy="48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giải thích gần như toàn bộ phương</a:t>
            </a:r>
          </a:p>
          <a:p>
            <a:pPr marL="0" marR="0">
              <a:lnSpc>
                <a:spcPts val="1564"/>
              </a:lnSpc>
              <a:spcBef>
                <a:spcPts val="335"/>
              </a:spcBef>
              <a:spcAft>
                <a:spcPts val="0"/>
              </a:spcAft>
            </a:pP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sai.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94419" y="7498908"/>
            <a:ext cx="11155429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DejaVu Sans"/>
                <a:cs typeface="DejaVu Sans"/>
              </a:rPr>
              <a:t>Kết luận chính:</a:t>
            </a:r>
            <a:r>
              <a:rPr sz="1500" b="1" spc="-43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Việc</a:t>
            </a:r>
            <a:r>
              <a:rPr sz="1500" spc="15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tinh chỉnh siêu tham số đã cải thiện độ chính xác và độ tin cậy của </a:t>
            </a:r>
            <a:r>
              <a:rPr sz="1500" spc="10" dirty="0">
                <a:solidFill>
                  <a:srgbClr val="004D66"/>
                </a:solidFill>
                <a:latin typeface="DejaVu Sans"/>
                <a:cs typeface="DejaVu Sans"/>
              </a:rPr>
              <a:t>mô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 hình dự báo, biến nó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670523" y="7794183"/>
            <a:ext cx="3003269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thành một công cụ mạnh mẽ.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6470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58292" y="374707"/>
            <a:ext cx="8227608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III. 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K</a:t>
            </a:r>
            <a:r>
              <a:rPr sz="3000" b="1" spc="1057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t</a:t>
            </a:r>
            <a:r>
              <a:rPr sz="3000" b="1" spc="14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8" dirty="0">
                <a:solidFill>
                  <a:srgbClr val="4CAF50"/>
                </a:solidFill>
                <a:latin typeface="Liberation Sans"/>
                <a:cs typeface="Liberation Sans"/>
              </a:rPr>
              <a:t>Qu</a:t>
            </a:r>
            <a:r>
              <a:rPr sz="3000" b="1" spc="1038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: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 Phân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Tích 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Sai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S</a:t>
            </a:r>
            <a:r>
              <a:rPr sz="3000" b="1" spc="189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2" dirty="0">
                <a:solidFill>
                  <a:srgbClr val="004D66"/>
                </a:solidFill>
                <a:latin typeface="Liberation Sans"/>
                <a:cs typeface="Liberation Sans"/>
              </a:rPr>
              <a:t>và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Đ</a:t>
            </a:r>
            <a:r>
              <a:rPr sz="3000" b="1" spc="189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-17" dirty="0">
                <a:solidFill>
                  <a:srgbClr val="004D66"/>
                </a:solidFill>
                <a:latin typeface="Liberation Sans"/>
                <a:cs typeface="Liberation Sans"/>
              </a:rPr>
              <a:t>Tin</a:t>
            </a:r>
            <a:r>
              <a:rPr sz="3000" b="1" spc="3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3000" b="1" spc="105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55712" y="1272441"/>
            <a:ext cx="3147148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Xu H</a:t>
            </a:r>
            <a:r>
              <a:rPr sz="1500" b="1" spc="146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ng Sai S</a:t>
            </a:r>
            <a:r>
              <a:rPr sz="1500" b="1" spc="9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Theo Th</a:t>
            </a:r>
            <a:r>
              <a:rPr sz="1500" b="1" spc="48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i Gian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69769" y="3796831"/>
            <a:ext cx="2491668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Đánh Giá Đ</a:t>
            </a:r>
            <a:r>
              <a:rPr sz="1350" b="1" spc="8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spc="-15" dirty="0">
                <a:solidFill>
                  <a:srgbClr val="004D66"/>
                </a:solidFill>
                <a:latin typeface="Liberation Sans"/>
                <a:cs typeface="Liberation Sans"/>
              </a:rPr>
              <a:t>Tin</a:t>
            </a: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 C</a:t>
            </a:r>
            <a:r>
              <a:rPr sz="1350" b="1" spc="44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y D</a:t>
            </a:r>
            <a:r>
              <a:rPr sz="1350" b="1" spc="8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Báo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69769" y="4041319"/>
            <a:ext cx="4606598" cy="417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200" spc="-2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b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o</a:t>
            </a:r>
            <a:r>
              <a:rPr sz="1200" spc="-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5" dirty="0">
                <a:solidFill>
                  <a:srgbClr val="004D66"/>
                </a:solidFill>
                <a:latin typeface="Liberation Sans"/>
                <a:cs typeface="Liberation Sans"/>
              </a:rPr>
              <a:t>hi</a:t>
            </a:r>
            <a:r>
              <a:rPr sz="1200" b="1" i="1" spc="42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200" b="1" i="1" spc="-2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4" dirty="0">
                <a:solidFill>
                  <a:srgbClr val="004D66"/>
                </a:solidFill>
                <a:latin typeface="Liberation Sans"/>
                <a:cs typeface="Liberation Sans"/>
              </a:rPr>
              <a:t>su</a:t>
            </a:r>
            <a:r>
              <a:rPr sz="1200" b="1" i="1" spc="41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200" b="1" i="1" spc="-1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200" b="1" i="1" spc="72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4" dirty="0">
                <a:solidFill>
                  <a:srgbClr val="004D66"/>
                </a:solidFill>
                <a:latin typeface="Liberation Sans"/>
                <a:cs typeface="Liberation Sans"/>
              </a:rPr>
              <a:t>báo</a:t>
            </a:r>
            <a:r>
              <a:rPr sz="1200" b="1" i="1" spc="74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200" b="1" i="1" spc="-2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200" b="1" i="1" spc="-4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5" dirty="0">
                <a:solidFill>
                  <a:srgbClr val="004D66"/>
                </a:solidFill>
                <a:latin typeface="Liberation Sans"/>
                <a:cs typeface="Liberation Sans"/>
              </a:rPr>
              <a:t>nh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Liberation Sans"/>
                <a:cs typeface="Liberation Sans"/>
              </a:rPr>
              <a:t>trong </a:t>
            </a:r>
            <a:r>
              <a:rPr sz="1200" spc="-12" dirty="0">
                <a:solidFill>
                  <a:srgbClr val="004D66"/>
                </a:solidFill>
                <a:latin typeface="Liberation Sans"/>
                <a:cs typeface="Liberation Sans"/>
              </a:rPr>
              <a:t>các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Liberation Sans"/>
                <a:cs typeface="Liberation Sans"/>
              </a:rPr>
              <a:t>đi</a:t>
            </a:r>
            <a:r>
              <a:rPr sz="1200" spc="11" dirty="0">
                <a:solidFill>
                  <a:srgbClr val="004D66"/>
                </a:solidFill>
                <a:latin typeface="DejaVu Sans"/>
                <a:cs typeface="DejaVu Sans"/>
              </a:rPr>
              <a:t>ề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ki</a:t>
            </a:r>
            <a:r>
              <a:rPr sz="1200" spc="11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Liberation Sans"/>
                <a:cs typeface="Liberation Sans"/>
              </a:rPr>
              <a:t>v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hành</a:t>
            </a:r>
          </a:p>
          <a:p>
            <a:pPr marL="0" marR="0">
              <a:lnSpc>
                <a:spcPts val="1313"/>
              </a:lnSpc>
              <a:spcBef>
                <a:spcPts val="308"/>
              </a:spcBef>
              <a:spcAft>
                <a:spcPts val="0"/>
              </a:spcAft>
            </a:pPr>
            <a:r>
              <a:rPr sz="1200" spc="-12" dirty="0">
                <a:solidFill>
                  <a:srgbClr val="004D66"/>
                </a:solidFill>
                <a:latin typeface="Liberation Sans"/>
                <a:cs typeface="Liberation Sans"/>
              </a:rPr>
              <a:t>khác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nhau.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07095" y="4501416"/>
            <a:ext cx="2330086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Phân B</a:t>
            </a:r>
            <a:r>
              <a:rPr sz="1500" b="1" spc="9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500" b="1" spc="49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Su</a:t>
            </a:r>
            <a:r>
              <a:rPr sz="1500" b="1" spc="48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t Sai 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055047" y="4518323"/>
            <a:ext cx="88132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Liberation Sans"/>
                <a:cs typeface="Liberation Sans"/>
              </a:rPr>
              <a:t>D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ữ</a:t>
            </a:r>
            <a:r>
              <a:rPr sz="1000" spc="70" dirty="0">
                <a:solidFill>
                  <a:srgbClr val="16653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66534"/>
                </a:solidFill>
                <a:latin typeface="Liberation Sans"/>
                <a:cs typeface="Liberation Sans"/>
              </a:rPr>
              <a:t>li</a:t>
            </a:r>
            <a:r>
              <a:rPr sz="1000" spc="-15" dirty="0">
                <a:solidFill>
                  <a:srgbClr val="166534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166534"/>
                </a:solidFill>
                <a:latin typeface="Liberation Sans"/>
                <a:cs typeface="Liberation Sans"/>
              </a:rPr>
              <a:t>u s</a:t>
            </a:r>
            <a:r>
              <a:rPr sz="1000" spc="325" dirty="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166534"/>
                </a:solidFill>
                <a:latin typeface="Liberation Sans"/>
                <a:cs typeface="Liberation Sans"/>
              </a:rPr>
              <a:t>ch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572575" y="4518323"/>
            <a:ext cx="230847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ạ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039843" y="4518323"/>
            <a:ext cx="92413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2400E"/>
                </a:solidFill>
                <a:latin typeface="Liberation Sans"/>
                <a:cs typeface="Liberation Sans"/>
              </a:rPr>
              <a:t>D</a:t>
            </a:r>
            <a:r>
              <a:rPr sz="1000" dirty="0">
                <a:solidFill>
                  <a:srgbClr val="92400E"/>
                </a:solidFill>
                <a:latin typeface="DejaVu Sans"/>
                <a:cs typeface="DejaVu Sans"/>
              </a:rPr>
              <a:t>ữ</a:t>
            </a:r>
            <a:r>
              <a:rPr sz="1000" spc="70" dirty="0">
                <a:solidFill>
                  <a:srgbClr val="92400E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400E"/>
                </a:solidFill>
                <a:latin typeface="Liberation Sans"/>
                <a:cs typeface="Liberation Sans"/>
              </a:rPr>
              <a:t>li</a:t>
            </a:r>
            <a:r>
              <a:rPr sz="1000" spc="-15" dirty="0">
                <a:solidFill>
                  <a:srgbClr val="92400E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92400E"/>
                </a:solidFill>
                <a:latin typeface="Liberation Sans"/>
                <a:cs typeface="Liberation Sans"/>
              </a:rPr>
              <a:t>u nhi</a:t>
            </a:r>
            <a:r>
              <a:rPr sz="1000" spc="320" dirty="0">
                <a:solidFill>
                  <a:srgbClr val="92400E"/>
                </a:solidFill>
                <a:latin typeface="Liberation Sans"/>
                <a:cs typeface="Liberation Sans"/>
              </a:rPr>
              <a:t> </a:t>
            </a:r>
            <a:r>
              <a:rPr sz="1000" dirty="0">
                <a:solidFill>
                  <a:srgbClr val="92400E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664177" y="4518323"/>
            <a:ext cx="231159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2400E"/>
                </a:solidFill>
                <a:latin typeface="DejaVu Sans"/>
                <a:cs typeface="DejaVu Sans"/>
              </a:rPr>
              <a:t>ễ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969769" y="5120806"/>
            <a:ext cx="4819134" cy="6624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Xác Đ nh Gi</a:t>
            </a:r>
            <a:r>
              <a:rPr sz="1350" b="1" spc="45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i H</a:t>
            </a:r>
            <a:r>
              <a:rPr sz="1350" b="1" spc="44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n &amp; Nguyên Nhân Sai L</a:t>
            </a:r>
            <a:r>
              <a:rPr sz="1350" b="1" spc="44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ch</a:t>
            </a:r>
          </a:p>
          <a:p>
            <a:pPr marL="0" marR="0">
              <a:lnSpc>
                <a:spcPts val="1313"/>
              </a:lnSpc>
              <a:spcBef>
                <a:spcPts val="450"/>
              </a:spcBef>
              <a:spcAft>
                <a:spcPts val="0"/>
              </a:spcAft>
            </a:pPr>
            <a:r>
              <a:rPr sz="1200" spc="-15" dirty="0">
                <a:solidFill>
                  <a:srgbClr val="004D66"/>
                </a:solidFill>
                <a:latin typeface="Liberation Sans"/>
                <a:cs typeface="Liberation Sans"/>
              </a:rPr>
              <a:t>Phân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tích</a:t>
            </a:r>
            <a:r>
              <a:rPr sz="1200" spc="-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Liberation Sans"/>
                <a:cs typeface="Liberation Sans"/>
              </a:rPr>
              <a:t>các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k</a:t>
            </a:r>
            <a:r>
              <a:rPr sz="1200" b="1" i="1" spc="-4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4" dirty="0">
                <a:solidFill>
                  <a:srgbClr val="004D66"/>
                </a:solidFill>
                <a:latin typeface="Liberation Sans"/>
                <a:cs typeface="Liberation Sans"/>
              </a:rPr>
              <a:t>ch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 b</a:t>
            </a:r>
            <a:r>
              <a:rPr sz="1200" b="1" i="1" spc="40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200" b="1" i="1" spc="-21" dirty="0">
                <a:solidFill>
                  <a:srgbClr val="004D66"/>
                </a:solidFill>
                <a:latin typeface="Liberation Sans"/>
                <a:cs typeface="Liberation Sans"/>
              </a:rPr>
              <a:t> mô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1" dirty="0">
                <a:solidFill>
                  <a:srgbClr val="004D66"/>
                </a:solidFill>
                <a:latin typeface="Liberation Sans"/>
                <a:cs typeface="Liberation Sans"/>
              </a:rPr>
              <a:t>hình</a:t>
            </a:r>
            <a:r>
              <a:rPr sz="1200" b="1" i="1" spc="-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200" b="1" i="1" spc="72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4" dirty="0">
                <a:solidFill>
                  <a:srgbClr val="004D66"/>
                </a:solidFill>
                <a:latin typeface="Liberation Sans"/>
                <a:cs typeface="Liberation Sans"/>
              </a:rPr>
              <a:t>báo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5" dirty="0">
                <a:solidFill>
                  <a:srgbClr val="004D66"/>
                </a:solidFill>
                <a:latin typeface="Liberation Sans"/>
                <a:cs typeface="Liberation Sans"/>
              </a:rPr>
              <a:t>không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2" dirty="0">
                <a:solidFill>
                  <a:srgbClr val="004D66"/>
                </a:solidFill>
                <a:latin typeface="Liberation Sans"/>
                <a:cs typeface="Liberation Sans"/>
              </a:rPr>
              <a:t>chính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4" dirty="0">
                <a:solidFill>
                  <a:srgbClr val="004D66"/>
                </a:solidFill>
                <a:latin typeface="Liberation Sans"/>
                <a:cs typeface="Liberation Sans"/>
              </a:rPr>
              <a:t>xác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Liberation Sans"/>
                <a:cs typeface="Liberation Sans"/>
              </a:rPr>
              <a:t>và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Liberation Sans"/>
                <a:cs typeface="Liberation Sans"/>
              </a:rPr>
              <a:t>nguyên</a:t>
            </a:r>
          </a:p>
          <a:p>
            <a:pPr marL="0" marR="0">
              <a:lnSpc>
                <a:spcPts val="1313"/>
              </a:lnSpc>
              <a:spcBef>
                <a:spcPts val="336"/>
              </a:spcBef>
              <a:spcAft>
                <a:spcPts val="0"/>
              </a:spcAft>
            </a:pP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nhân.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055047" y="5842298"/>
            <a:ext cx="125626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91B1B"/>
                </a:solidFill>
                <a:latin typeface="Liberation Sans"/>
                <a:cs typeface="Liberation Sans"/>
              </a:rPr>
              <a:t>Bi</a:t>
            </a:r>
            <a:r>
              <a:rPr sz="1000" spc="-15" dirty="0">
                <a:solidFill>
                  <a:srgbClr val="991B1B"/>
                </a:solidFill>
                <a:latin typeface="DejaVu Sans"/>
                <a:cs typeface="DejaVu Sans"/>
              </a:rPr>
              <a:t>ế</a:t>
            </a:r>
            <a:r>
              <a:rPr sz="1000" dirty="0">
                <a:solidFill>
                  <a:srgbClr val="991B1B"/>
                </a:solidFill>
                <a:latin typeface="Liberation Sans"/>
                <a:cs typeface="Liberation Sans"/>
              </a:rPr>
              <a:t>n đ</a:t>
            </a:r>
            <a:r>
              <a:rPr sz="1000" spc="-11" dirty="0">
                <a:solidFill>
                  <a:srgbClr val="991B1B"/>
                </a:solidFill>
                <a:latin typeface="DejaVu Sans"/>
                <a:cs typeface="DejaVu Sans"/>
              </a:rPr>
              <a:t>ộ</a:t>
            </a:r>
            <a:r>
              <a:rPr sz="1000" dirty="0">
                <a:solidFill>
                  <a:srgbClr val="991B1B"/>
                </a:solidFill>
                <a:latin typeface="Liberation Sans"/>
                <a:cs typeface="Liberation Sans"/>
              </a:rPr>
              <a:t>ng ngo</a:t>
            </a:r>
            <a:r>
              <a:rPr sz="1000" spc="-12" dirty="0">
                <a:solidFill>
                  <a:srgbClr val="991B1B"/>
                </a:solidFill>
                <a:latin typeface="DejaVu Sans"/>
                <a:cs typeface="DejaVu Sans"/>
              </a:rPr>
              <a:t>ạ</a:t>
            </a:r>
            <a:r>
              <a:rPr sz="1000" dirty="0">
                <a:solidFill>
                  <a:srgbClr val="991B1B"/>
                </a:solidFill>
                <a:latin typeface="Liberation Sans"/>
                <a:cs typeface="Liberation Sans"/>
              </a:rPr>
              <a:t>i lai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414890" y="5842298"/>
            <a:ext cx="126398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E40AF"/>
                </a:solidFill>
                <a:latin typeface="Liberation Sans"/>
                <a:cs typeface="Liberation Sans"/>
              </a:rPr>
              <a:t>S</a:t>
            </a:r>
            <a:r>
              <a:rPr sz="1000" dirty="0">
                <a:solidFill>
                  <a:srgbClr val="1E40AF"/>
                </a:solidFill>
                <a:latin typeface="DejaVu Sans"/>
                <a:cs typeface="DejaVu Sans"/>
              </a:rPr>
              <a:t>ự</a:t>
            </a:r>
            <a:r>
              <a:rPr sz="1000" spc="70" dirty="0">
                <a:solidFill>
                  <a:srgbClr val="1E40A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40AF"/>
                </a:solidFill>
                <a:latin typeface="Liberation Sans"/>
                <a:cs typeface="Liberation Sans"/>
              </a:rPr>
              <a:t>ki</a:t>
            </a:r>
            <a:r>
              <a:rPr sz="1000" spc="-15" dirty="0">
                <a:solidFill>
                  <a:srgbClr val="1E40AF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1E40AF"/>
                </a:solidFill>
                <a:latin typeface="Liberation Sans"/>
                <a:cs typeface="Liberation Sans"/>
              </a:rPr>
              <a:t>n b</a:t>
            </a:r>
            <a:r>
              <a:rPr sz="1000" spc="-12" dirty="0">
                <a:solidFill>
                  <a:srgbClr val="1E40AF"/>
                </a:solidFill>
                <a:latin typeface="DejaVu Sans"/>
                <a:cs typeface="DejaVu Sans"/>
              </a:rPr>
              <a:t>ấ</a:t>
            </a:r>
            <a:r>
              <a:rPr sz="1000" dirty="0">
                <a:solidFill>
                  <a:srgbClr val="1E40AF"/>
                </a:solidFill>
                <a:latin typeface="Liberation Sans"/>
                <a:cs typeface="Liberation Sans"/>
              </a:rPr>
              <a:t>t th</a:t>
            </a:r>
            <a:r>
              <a:rPr sz="1000" spc="15" dirty="0">
                <a:solidFill>
                  <a:srgbClr val="1E40AF"/>
                </a:solidFill>
                <a:latin typeface="DejaVu Sans"/>
                <a:cs typeface="DejaVu Sans"/>
              </a:rPr>
              <a:t>ườ</a:t>
            </a:r>
            <a:r>
              <a:rPr sz="1000" dirty="0">
                <a:solidFill>
                  <a:srgbClr val="1E40A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650532" y="6444781"/>
            <a:ext cx="2228574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Kh</a:t>
            </a:r>
            <a:r>
              <a:rPr sz="1350" b="1" spc="82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Năng T</a:t>
            </a:r>
            <a:r>
              <a:rPr sz="1350" b="1" spc="44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ng Quát Hóa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5347" y="6689269"/>
            <a:ext cx="10720399" cy="2741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15185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FFFFFF"/>
                </a:solidFill>
                <a:latin typeface="Liberation Sans"/>
                <a:cs typeface="Liberation Sans"/>
              </a:rPr>
              <a:t>Ki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sz="1200" spc="-2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eration Sans"/>
                <a:cs typeface="Liberation Sans"/>
              </a:rPr>
              <a:t>ch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ứ</a:t>
            </a: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eration Sans"/>
                <a:cs typeface="Liberation Sans"/>
              </a:rPr>
              <a:t>kh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2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năng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i="1" spc="-10" dirty="0">
                <a:solidFill>
                  <a:srgbClr val="FFFFFF"/>
                </a:solidFill>
                <a:latin typeface="Liberation Sans"/>
                <a:cs typeface="Liberation Sans"/>
              </a:rPr>
              <a:t>thích</a:t>
            </a:r>
            <a:r>
              <a:rPr sz="1200" b="1" i="1" spc="73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i="1" spc="-15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1200" b="1" i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i="1" spc="-15" dirty="0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sz="1200" b="1" i="1" spc="4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200" b="1" i="1" spc="-2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i="1" spc="-15" dirty="0">
                <a:solidFill>
                  <a:srgbClr val="FFFFFF"/>
                </a:solidFill>
                <a:latin typeface="Liberation Sans"/>
                <a:cs typeface="Liberation Sans"/>
              </a:rPr>
              <a:t>qu</a:t>
            </a:r>
            <a:r>
              <a:rPr sz="1200" b="1" i="1" spc="74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iberation Sans"/>
                <a:cs typeface="Liberation Sans"/>
              </a:rPr>
              <a:t>trên </a:t>
            </a:r>
            <a:r>
              <a:rPr sz="1200" spc="-12" dirty="0">
                <a:solidFill>
                  <a:srgbClr val="FFFFFF"/>
                </a:solidFill>
                <a:latin typeface="Liberation Sans"/>
                <a:cs typeface="Liberation Sans"/>
              </a:rPr>
              <a:t>các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 t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p</a:t>
            </a:r>
            <a:r>
              <a:rPr sz="1200" spc="-2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1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FFFFFF"/>
                </a:solidFill>
                <a:latin typeface="Liberation Sans"/>
                <a:cs typeface="Liberation Sans"/>
              </a:rPr>
              <a:t> m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ớ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i.</a:t>
            </a:r>
          </a:p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"Mô hình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i 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ư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u c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ầ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n đ</a:t>
            </a:r>
            <a:r>
              <a:rPr sz="1350" spc="-15" dirty="0">
                <a:solidFill>
                  <a:srgbClr val="004D66"/>
                </a:solidFill>
                <a:latin typeface="DejaVu Sans"/>
                <a:cs typeface="DejaVu Sans"/>
              </a:rPr>
              <a:t>ượ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c đánh giá không ch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ỉ</a:t>
            </a:r>
            <a:r>
              <a:rPr sz="1350" spc="36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qua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chính xác mà còn 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ở</a:t>
            </a:r>
            <a:r>
              <a:rPr sz="1350" spc="3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s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b="1" i="1" dirty="0">
                <a:solidFill>
                  <a:srgbClr val="004D66"/>
                </a:solidFill>
                <a:latin typeface="Liberation Sans"/>
                <a:cs typeface="Liberation Sans"/>
              </a:rPr>
              <a:t>v</a:t>
            </a:r>
            <a:r>
              <a:rPr sz="1350" b="1" i="1" spc="44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i="1" dirty="0">
                <a:solidFill>
                  <a:srgbClr val="004D66"/>
                </a:solidFill>
                <a:latin typeface="Liberation Sans"/>
                <a:cs typeface="Liberation Sans"/>
              </a:rPr>
              <a:t>ng ch</a:t>
            </a:r>
            <a:r>
              <a:rPr sz="1350" b="1" i="1" spc="45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i="1" dirty="0">
                <a:solidFill>
                  <a:srgbClr val="004D66"/>
                </a:solidFill>
                <a:latin typeface="Liberation Sans"/>
                <a:cs typeface="Liberation Sans"/>
              </a:rPr>
              <a:t>c 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và </a:t>
            </a:r>
            <a:r>
              <a:rPr sz="1350" b="1" i="1" dirty="0">
                <a:solidFill>
                  <a:srgbClr val="004D66"/>
                </a:solidFill>
                <a:latin typeface="Liberation Sans"/>
                <a:cs typeface="Liberation Sans"/>
              </a:rPr>
              <a:t>kh</a:t>
            </a:r>
            <a:r>
              <a:rPr sz="1350" b="1" i="1" spc="82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i="1" dirty="0">
                <a:solidFill>
                  <a:srgbClr val="004D66"/>
                </a:solidFill>
                <a:latin typeface="Liberation Sans"/>
                <a:cs typeface="Liberation Sans"/>
              </a:rPr>
              <a:t>năng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735811" y="6959661"/>
            <a:ext cx="852753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000" b="1" spc="68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000" b="1" spc="32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u m</a:t>
            </a:r>
            <a:r>
              <a:rPr sz="1000" b="1" spc="32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7692032" y="6959661"/>
            <a:ext cx="1324026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4532D"/>
                </a:solidFill>
                <a:latin typeface="Liberation Sans"/>
                <a:cs typeface="Liberation Sans"/>
              </a:rPr>
              <a:t>Mô hình v</a:t>
            </a:r>
            <a:r>
              <a:rPr sz="1000" b="1" spc="401" dirty="0">
                <a:solidFill>
                  <a:srgbClr val="14532D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14532D"/>
                </a:solidFill>
                <a:latin typeface="Liberation Sans"/>
                <a:cs typeface="Liberation Sans"/>
              </a:rPr>
              <a:t>ng ch</a:t>
            </a:r>
            <a:r>
              <a:rPr sz="1000" b="1" spc="323" dirty="0">
                <a:solidFill>
                  <a:srgbClr val="14532D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14532D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35347" y="6983789"/>
            <a:ext cx="248009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1" dirty="0">
                <a:solidFill>
                  <a:srgbClr val="004D66"/>
                </a:solidFill>
                <a:latin typeface="Liberation Sans"/>
                <a:cs typeface="Liberation Sans"/>
              </a:rPr>
              <a:t>thích</a:t>
            </a:r>
            <a:r>
              <a:rPr sz="1350" b="1" i="1" spc="82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i="1" dirty="0">
                <a:solidFill>
                  <a:srgbClr val="004D66"/>
                </a:solidFill>
                <a:latin typeface="Liberation Sans"/>
                <a:cs typeface="Liberation Sans"/>
              </a:rPr>
              <a:t>ng 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v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ớ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i m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ọ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i thách th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ứ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c."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86010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058292" y="376231"/>
            <a:ext cx="8227608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III. 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K</a:t>
            </a:r>
            <a:r>
              <a:rPr sz="3000" b="1" spc="1057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t</a:t>
            </a:r>
            <a:r>
              <a:rPr sz="3000" b="1" spc="14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8" dirty="0">
                <a:solidFill>
                  <a:srgbClr val="4CAF50"/>
                </a:solidFill>
                <a:latin typeface="Liberation Sans"/>
                <a:cs typeface="Liberation Sans"/>
              </a:rPr>
              <a:t>Qu</a:t>
            </a:r>
            <a:r>
              <a:rPr sz="3000" b="1" spc="1038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: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 Phân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Tích 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Sai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S</a:t>
            </a:r>
            <a:r>
              <a:rPr sz="3000" b="1" spc="189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2" dirty="0">
                <a:solidFill>
                  <a:srgbClr val="004D66"/>
                </a:solidFill>
                <a:latin typeface="Liberation Sans"/>
                <a:cs typeface="Liberation Sans"/>
              </a:rPr>
              <a:t>và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Đ</a:t>
            </a:r>
            <a:r>
              <a:rPr sz="3000" b="1" spc="189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-17" dirty="0">
                <a:solidFill>
                  <a:srgbClr val="004D66"/>
                </a:solidFill>
                <a:latin typeface="Liberation Sans"/>
                <a:cs typeface="Liberation Sans"/>
              </a:rPr>
              <a:t>Tin</a:t>
            </a:r>
            <a:r>
              <a:rPr sz="3000" b="1" spc="3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C</a:t>
            </a:r>
            <a:r>
              <a:rPr sz="3000" b="1" spc="105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55712" y="1273965"/>
            <a:ext cx="3147148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Xu H</a:t>
            </a:r>
            <a:r>
              <a:rPr sz="1500" b="1" spc="146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ng Sai S</a:t>
            </a:r>
            <a:r>
              <a:rPr sz="1500" b="1" spc="9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Theo Th</a:t>
            </a:r>
            <a:r>
              <a:rPr sz="1500" b="1" spc="48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i Gian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969769" y="4255555"/>
            <a:ext cx="2491668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Đánh Giá Đ</a:t>
            </a:r>
            <a:r>
              <a:rPr sz="1350" b="1" spc="8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spc="-15" dirty="0">
                <a:solidFill>
                  <a:srgbClr val="004D66"/>
                </a:solidFill>
                <a:latin typeface="Liberation Sans"/>
                <a:cs typeface="Liberation Sans"/>
              </a:rPr>
              <a:t>Tin</a:t>
            </a: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 C</a:t>
            </a:r>
            <a:r>
              <a:rPr sz="1350" b="1" spc="44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y D</a:t>
            </a:r>
            <a:r>
              <a:rPr sz="1350" b="1" spc="8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Báo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969769" y="4490518"/>
            <a:ext cx="4606598" cy="211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m</a:t>
            </a:r>
            <a:r>
              <a:rPr sz="1200" spc="-2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b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ả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o</a:t>
            </a:r>
            <a:r>
              <a:rPr sz="1200" spc="-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5" dirty="0">
                <a:solidFill>
                  <a:srgbClr val="004D66"/>
                </a:solidFill>
                <a:latin typeface="Liberation Sans"/>
                <a:cs typeface="Liberation Sans"/>
              </a:rPr>
              <a:t>hi</a:t>
            </a:r>
            <a:r>
              <a:rPr sz="1200" b="1" i="1" spc="42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200" b="1" i="1" spc="-2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4" dirty="0">
                <a:solidFill>
                  <a:srgbClr val="004D66"/>
                </a:solidFill>
                <a:latin typeface="Liberation Sans"/>
                <a:cs typeface="Liberation Sans"/>
              </a:rPr>
              <a:t>su</a:t>
            </a:r>
            <a:r>
              <a:rPr sz="1200" b="1" i="1" spc="41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200" b="1" i="1" spc="-1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200" b="1" i="1" spc="72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4" dirty="0">
                <a:solidFill>
                  <a:srgbClr val="004D66"/>
                </a:solidFill>
                <a:latin typeface="Liberation Sans"/>
                <a:cs typeface="Liberation Sans"/>
              </a:rPr>
              <a:t>báo</a:t>
            </a:r>
            <a:r>
              <a:rPr sz="1200" b="1" i="1" spc="74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200" b="1" i="1" spc="-2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1200" b="1" i="1" spc="-4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5" dirty="0">
                <a:solidFill>
                  <a:srgbClr val="004D66"/>
                </a:solidFill>
                <a:latin typeface="Liberation Sans"/>
                <a:cs typeface="Liberation Sans"/>
              </a:rPr>
              <a:t>nh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Liberation Sans"/>
                <a:cs typeface="Liberation Sans"/>
              </a:rPr>
              <a:t>trong </a:t>
            </a:r>
            <a:r>
              <a:rPr sz="1200" spc="-12" dirty="0">
                <a:solidFill>
                  <a:srgbClr val="004D66"/>
                </a:solidFill>
                <a:latin typeface="Liberation Sans"/>
                <a:cs typeface="Liberation Sans"/>
              </a:rPr>
              <a:t>các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004D66"/>
                </a:solidFill>
                <a:latin typeface="Liberation Sans"/>
                <a:cs typeface="Liberation Sans"/>
              </a:rPr>
              <a:t>đi</a:t>
            </a:r>
            <a:r>
              <a:rPr sz="1200" spc="11" dirty="0">
                <a:solidFill>
                  <a:srgbClr val="004D66"/>
                </a:solidFill>
                <a:latin typeface="DejaVu Sans"/>
                <a:cs typeface="DejaVu Sans"/>
              </a:rPr>
              <a:t>ề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ki</a:t>
            </a:r>
            <a:r>
              <a:rPr sz="1200" spc="11" dirty="0">
                <a:solidFill>
                  <a:srgbClr val="004D66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Liberation Sans"/>
                <a:cs typeface="Liberation Sans"/>
              </a:rPr>
              <a:t>v</a:t>
            </a:r>
            <a:r>
              <a:rPr sz="1200" spc="15" dirty="0">
                <a:solidFill>
                  <a:srgbClr val="004D66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200" spc="-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hành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969769" y="4713020"/>
            <a:ext cx="882759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2" dirty="0">
                <a:solidFill>
                  <a:srgbClr val="004D66"/>
                </a:solidFill>
                <a:latin typeface="Liberation Sans"/>
                <a:cs typeface="Liberation Sans"/>
              </a:rPr>
              <a:t>khác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nhau.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07095" y="4979190"/>
            <a:ext cx="2330086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Phân B</a:t>
            </a:r>
            <a:r>
              <a:rPr sz="1500" b="1" spc="9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T</a:t>
            </a:r>
            <a:r>
              <a:rPr sz="1500" b="1" spc="49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Su</a:t>
            </a:r>
            <a:r>
              <a:rPr sz="1500" b="1" spc="48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500" b="1" dirty="0">
                <a:solidFill>
                  <a:srgbClr val="004D66"/>
                </a:solidFill>
                <a:latin typeface="Liberation Sans"/>
                <a:cs typeface="Liberation Sans"/>
              </a:rPr>
              <a:t>t Sai 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55047" y="4977047"/>
            <a:ext cx="88132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66534"/>
                </a:solidFill>
                <a:latin typeface="Liberation Sans"/>
                <a:cs typeface="Liberation Sans"/>
              </a:rPr>
              <a:t>D</a:t>
            </a:r>
            <a:r>
              <a:rPr sz="1000" dirty="0">
                <a:solidFill>
                  <a:srgbClr val="166534"/>
                </a:solidFill>
                <a:latin typeface="DejaVu Sans"/>
                <a:cs typeface="DejaVu Sans"/>
              </a:rPr>
              <a:t>ữ</a:t>
            </a:r>
            <a:r>
              <a:rPr sz="1000" spc="70" dirty="0">
                <a:solidFill>
                  <a:srgbClr val="166534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66534"/>
                </a:solidFill>
                <a:latin typeface="Liberation Sans"/>
                <a:cs typeface="Liberation Sans"/>
              </a:rPr>
              <a:t>li</a:t>
            </a:r>
            <a:r>
              <a:rPr sz="1000" spc="-15" dirty="0">
                <a:solidFill>
                  <a:srgbClr val="166534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166534"/>
                </a:solidFill>
                <a:latin typeface="Liberation Sans"/>
                <a:cs typeface="Liberation Sans"/>
              </a:rPr>
              <a:t>u s</a:t>
            </a:r>
            <a:r>
              <a:rPr sz="1000" spc="-12" dirty="0">
                <a:solidFill>
                  <a:srgbClr val="166534"/>
                </a:solidFill>
                <a:latin typeface="DejaVu Sans"/>
                <a:cs typeface="DejaVu Sans"/>
              </a:rPr>
              <a:t>ạ</a:t>
            </a:r>
            <a:r>
              <a:rPr sz="1000" dirty="0">
                <a:solidFill>
                  <a:srgbClr val="166534"/>
                </a:solidFill>
                <a:latin typeface="Liberation Sans"/>
                <a:cs typeface="Liberation Sans"/>
              </a:rPr>
              <a:t>ch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039843" y="4977047"/>
            <a:ext cx="924130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2400E"/>
                </a:solidFill>
                <a:latin typeface="Liberation Sans"/>
                <a:cs typeface="Liberation Sans"/>
              </a:rPr>
              <a:t>D</a:t>
            </a:r>
            <a:r>
              <a:rPr sz="1000" dirty="0">
                <a:solidFill>
                  <a:srgbClr val="92400E"/>
                </a:solidFill>
                <a:latin typeface="DejaVu Sans"/>
                <a:cs typeface="DejaVu Sans"/>
              </a:rPr>
              <a:t>ữ</a:t>
            </a:r>
            <a:r>
              <a:rPr sz="1000" spc="70" dirty="0">
                <a:solidFill>
                  <a:srgbClr val="92400E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92400E"/>
                </a:solidFill>
                <a:latin typeface="Liberation Sans"/>
                <a:cs typeface="Liberation Sans"/>
              </a:rPr>
              <a:t>li</a:t>
            </a:r>
            <a:r>
              <a:rPr sz="1000" spc="-15" dirty="0">
                <a:solidFill>
                  <a:srgbClr val="92400E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92400E"/>
                </a:solidFill>
                <a:latin typeface="Liberation Sans"/>
                <a:cs typeface="Liberation Sans"/>
              </a:rPr>
              <a:t>u nhi</a:t>
            </a:r>
            <a:r>
              <a:rPr sz="1000" spc="-15" dirty="0">
                <a:solidFill>
                  <a:srgbClr val="92400E"/>
                </a:solidFill>
                <a:latin typeface="DejaVu Sans"/>
                <a:cs typeface="DejaVu Sans"/>
              </a:rPr>
              <a:t>ễ</a:t>
            </a:r>
            <a:r>
              <a:rPr sz="1000" dirty="0">
                <a:solidFill>
                  <a:srgbClr val="92400E"/>
                </a:solidFill>
                <a:latin typeface="Liberation Sans"/>
                <a:cs typeface="Liberation Sans"/>
              </a:rPr>
              <a:t>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969769" y="5570005"/>
            <a:ext cx="4819134" cy="6719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Xác Đ nh Gi</a:t>
            </a:r>
            <a:r>
              <a:rPr sz="1350" b="1" spc="45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i H</a:t>
            </a:r>
            <a:r>
              <a:rPr sz="1350" b="1" spc="44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n &amp; Nguyên Nhân Sai L</a:t>
            </a:r>
            <a:r>
              <a:rPr sz="1350" b="1" spc="44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004D66"/>
                </a:solidFill>
                <a:latin typeface="Liberation Sans"/>
                <a:cs typeface="Liberation Sans"/>
              </a:rPr>
              <a:t>ch</a:t>
            </a:r>
          </a:p>
          <a:p>
            <a:pPr marL="0" marR="0">
              <a:lnSpc>
                <a:spcPts val="1313"/>
              </a:lnSpc>
              <a:spcBef>
                <a:spcPts val="450"/>
              </a:spcBef>
              <a:spcAft>
                <a:spcPts val="0"/>
              </a:spcAft>
            </a:pPr>
            <a:r>
              <a:rPr sz="1200" spc="-15" dirty="0">
                <a:solidFill>
                  <a:srgbClr val="004D66"/>
                </a:solidFill>
                <a:latin typeface="Liberation Sans"/>
                <a:cs typeface="Liberation Sans"/>
              </a:rPr>
              <a:t>Phân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tích</a:t>
            </a:r>
            <a:r>
              <a:rPr sz="1200" spc="-1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Liberation Sans"/>
                <a:cs typeface="Liberation Sans"/>
              </a:rPr>
              <a:t>các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k</a:t>
            </a:r>
            <a:r>
              <a:rPr sz="1200" b="1" i="1" spc="-4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4" dirty="0">
                <a:solidFill>
                  <a:srgbClr val="004D66"/>
                </a:solidFill>
                <a:latin typeface="Liberation Sans"/>
                <a:cs typeface="Liberation Sans"/>
              </a:rPr>
              <a:t>ch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 b</a:t>
            </a:r>
            <a:r>
              <a:rPr sz="1200" b="1" i="1" spc="40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1200" b="1" i="1" spc="-21" dirty="0">
                <a:solidFill>
                  <a:srgbClr val="004D66"/>
                </a:solidFill>
                <a:latin typeface="Liberation Sans"/>
                <a:cs typeface="Liberation Sans"/>
              </a:rPr>
              <a:t> mô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1" dirty="0">
                <a:solidFill>
                  <a:srgbClr val="004D66"/>
                </a:solidFill>
                <a:latin typeface="Liberation Sans"/>
                <a:cs typeface="Liberation Sans"/>
              </a:rPr>
              <a:t>hình</a:t>
            </a:r>
            <a:r>
              <a:rPr sz="1200" b="1" i="1" spc="-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200" b="1" i="1" spc="72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4" dirty="0">
                <a:solidFill>
                  <a:srgbClr val="004D66"/>
                </a:solidFill>
                <a:latin typeface="Liberation Sans"/>
                <a:cs typeface="Liberation Sans"/>
              </a:rPr>
              <a:t>báo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5" dirty="0">
                <a:solidFill>
                  <a:srgbClr val="004D66"/>
                </a:solidFill>
                <a:latin typeface="Liberation Sans"/>
                <a:cs typeface="Liberation Sans"/>
              </a:rPr>
              <a:t>không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2" dirty="0">
                <a:solidFill>
                  <a:srgbClr val="004D66"/>
                </a:solidFill>
                <a:latin typeface="Liberation Sans"/>
                <a:cs typeface="Liberation Sans"/>
              </a:rPr>
              <a:t>chính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b="1" i="1" spc="-14" dirty="0">
                <a:solidFill>
                  <a:srgbClr val="004D66"/>
                </a:solidFill>
                <a:latin typeface="Liberation Sans"/>
                <a:cs typeface="Liberation Sans"/>
              </a:rPr>
              <a:t>xác</a:t>
            </a:r>
            <a:r>
              <a:rPr sz="1200" b="1" i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1" dirty="0">
                <a:solidFill>
                  <a:srgbClr val="004D66"/>
                </a:solidFill>
                <a:latin typeface="Liberation Sans"/>
                <a:cs typeface="Liberation Sans"/>
              </a:rPr>
              <a:t>và</a:t>
            </a:r>
            <a:r>
              <a:rPr sz="120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004D66"/>
                </a:solidFill>
                <a:latin typeface="Liberation Sans"/>
                <a:cs typeface="Liberation Sans"/>
              </a:rPr>
              <a:t>nguyên</a:t>
            </a:r>
          </a:p>
          <a:p>
            <a:pPr marL="0" marR="0">
              <a:lnSpc>
                <a:spcPts val="1313"/>
              </a:lnSpc>
              <a:spcBef>
                <a:spcPts val="411"/>
              </a:spcBef>
              <a:spcAft>
                <a:spcPts val="0"/>
              </a:spcAft>
            </a:pPr>
            <a:r>
              <a:rPr sz="1200" spc="-14" dirty="0">
                <a:solidFill>
                  <a:srgbClr val="004D66"/>
                </a:solidFill>
                <a:latin typeface="Liberation Sans"/>
                <a:cs typeface="Liberation Sans"/>
              </a:rPr>
              <a:t>nhân.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7055047" y="6301022"/>
            <a:ext cx="1256263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991B1B"/>
                </a:solidFill>
                <a:latin typeface="Liberation Sans"/>
                <a:cs typeface="Liberation Sans"/>
              </a:rPr>
              <a:t>Bi</a:t>
            </a:r>
            <a:r>
              <a:rPr sz="1000" spc="-15" dirty="0">
                <a:solidFill>
                  <a:srgbClr val="991B1B"/>
                </a:solidFill>
                <a:latin typeface="DejaVu Sans"/>
                <a:cs typeface="DejaVu Sans"/>
              </a:rPr>
              <a:t>ế</a:t>
            </a:r>
            <a:r>
              <a:rPr sz="1000" dirty="0">
                <a:solidFill>
                  <a:srgbClr val="991B1B"/>
                </a:solidFill>
                <a:latin typeface="Liberation Sans"/>
                <a:cs typeface="Liberation Sans"/>
              </a:rPr>
              <a:t>n đ</a:t>
            </a:r>
            <a:r>
              <a:rPr sz="1000" spc="-11" dirty="0">
                <a:solidFill>
                  <a:srgbClr val="991B1B"/>
                </a:solidFill>
                <a:latin typeface="DejaVu Sans"/>
                <a:cs typeface="DejaVu Sans"/>
              </a:rPr>
              <a:t>ộ</a:t>
            </a:r>
            <a:r>
              <a:rPr sz="1000" dirty="0">
                <a:solidFill>
                  <a:srgbClr val="991B1B"/>
                </a:solidFill>
                <a:latin typeface="Liberation Sans"/>
                <a:cs typeface="Liberation Sans"/>
              </a:rPr>
              <a:t>ng ngo</a:t>
            </a:r>
            <a:r>
              <a:rPr sz="1000" spc="-12" dirty="0">
                <a:solidFill>
                  <a:srgbClr val="991B1B"/>
                </a:solidFill>
                <a:latin typeface="DejaVu Sans"/>
                <a:cs typeface="DejaVu Sans"/>
              </a:rPr>
              <a:t>ạ</a:t>
            </a:r>
            <a:r>
              <a:rPr sz="1000" dirty="0">
                <a:solidFill>
                  <a:srgbClr val="991B1B"/>
                </a:solidFill>
                <a:latin typeface="Liberation Sans"/>
                <a:cs typeface="Liberation Sans"/>
              </a:rPr>
              <a:t>i lai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8414890" y="6301022"/>
            <a:ext cx="1263981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1E40AF"/>
                </a:solidFill>
                <a:latin typeface="Liberation Sans"/>
                <a:cs typeface="Liberation Sans"/>
              </a:rPr>
              <a:t>S</a:t>
            </a:r>
            <a:r>
              <a:rPr sz="1000" dirty="0">
                <a:solidFill>
                  <a:srgbClr val="1E40AF"/>
                </a:solidFill>
                <a:latin typeface="DejaVu Sans"/>
                <a:cs typeface="DejaVu Sans"/>
              </a:rPr>
              <a:t>ự</a:t>
            </a:r>
            <a:r>
              <a:rPr sz="1000" spc="70" dirty="0">
                <a:solidFill>
                  <a:srgbClr val="1E40AF"/>
                </a:solidFill>
                <a:latin typeface="Times New Roman"/>
                <a:cs typeface="Times New Roman"/>
              </a:rPr>
              <a:t> </a:t>
            </a:r>
            <a:r>
              <a:rPr sz="1000" dirty="0">
                <a:solidFill>
                  <a:srgbClr val="1E40AF"/>
                </a:solidFill>
                <a:latin typeface="Liberation Sans"/>
                <a:cs typeface="Liberation Sans"/>
              </a:rPr>
              <a:t>ki</a:t>
            </a:r>
            <a:r>
              <a:rPr sz="1000" spc="-15" dirty="0">
                <a:solidFill>
                  <a:srgbClr val="1E40AF"/>
                </a:solidFill>
                <a:latin typeface="DejaVu Sans"/>
                <a:cs typeface="DejaVu Sans"/>
              </a:rPr>
              <a:t>ệ</a:t>
            </a:r>
            <a:r>
              <a:rPr sz="1000" dirty="0">
                <a:solidFill>
                  <a:srgbClr val="1E40AF"/>
                </a:solidFill>
                <a:latin typeface="Liberation Sans"/>
                <a:cs typeface="Liberation Sans"/>
              </a:rPr>
              <a:t>n b</a:t>
            </a:r>
            <a:r>
              <a:rPr sz="1000" spc="-12" dirty="0">
                <a:solidFill>
                  <a:srgbClr val="1E40AF"/>
                </a:solidFill>
                <a:latin typeface="DejaVu Sans"/>
                <a:cs typeface="DejaVu Sans"/>
              </a:rPr>
              <a:t>ấ</a:t>
            </a:r>
            <a:r>
              <a:rPr sz="1000" dirty="0">
                <a:solidFill>
                  <a:srgbClr val="1E40AF"/>
                </a:solidFill>
                <a:latin typeface="Liberation Sans"/>
                <a:cs typeface="Liberation Sans"/>
              </a:rPr>
              <a:t>t th</a:t>
            </a:r>
            <a:r>
              <a:rPr sz="1000" spc="15" dirty="0">
                <a:solidFill>
                  <a:srgbClr val="1E40AF"/>
                </a:solidFill>
                <a:latin typeface="DejaVu Sans"/>
                <a:cs typeface="DejaVu Sans"/>
              </a:rPr>
              <a:t>ườ</a:t>
            </a:r>
            <a:r>
              <a:rPr sz="1000" dirty="0">
                <a:solidFill>
                  <a:srgbClr val="1E40A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650532" y="6893980"/>
            <a:ext cx="2228574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Kh</a:t>
            </a:r>
            <a:r>
              <a:rPr sz="1350" b="1" spc="823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Năng T</a:t>
            </a:r>
            <a:r>
              <a:rPr sz="1350" b="1" spc="44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ng Quát Hóa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650532" y="7138468"/>
            <a:ext cx="470521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0" dirty="0">
                <a:solidFill>
                  <a:srgbClr val="FFFFFF"/>
                </a:solidFill>
                <a:latin typeface="Liberation Sans"/>
                <a:cs typeface="Liberation Sans"/>
              </a:rPr>
              <a:t>Ki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ể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m</a:t>
            </a:r>
            <a:r>
              <a:rPr sz="1200" spc="-27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eration Sans"/>
                <a:cs typeface="Liberation Sans"/>
              </a:rPr>
              <a:t>ch</a:t>
            </a:r>
            <a:r>
              <a:rPr sz="1200" spc="-10" dirty="0">
                <a:solidFill>
                  <a:srgbClr val="FFFFFF"/>
                </a:solidFill>
                <a:latin typeface="DejaVu Sans"/>
                <a:cs typeface="DejaVu Sans"/>
              </a:rPr>
              <a:t>ứ</a:t>
            </a: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2" dirty="0">
                <a:solidFill>
                  <a:srgbClr val="FFFFFF"/>
                </a:solidFill>
                <a:latin typeface="Liberation Sans"/>
                <a:cs typeface="Liberation Sans"/>
              </a:rPr>
              <a:t>kh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ả</a:t>
            </a:r>
            <a:r>
              <a:rPr sz="1200" spc="4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năng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i="1" spc="-10" dirty="0">
                <a:solidFill>
                  <a:srgbClr val="FFFFFF"/>
                </a:solidFill>
                <a:latin typeface="Liberation Sans"/>
                <a:cs typeface="Liberation Sans"/>
              </a:rPr>
              <a:t>thích</a:t>
            </a:r>
            <a:r>
              <a:rPr sz="1200" b="1" i="1" spc="73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i="1" spc="-15" dirty="0">
                <a:solidFill>
                  <a:srgbClr val="FFFFFF"/>
                </a:solidFill>
                <a:latin typeface="Liberation Sans"/>
                <a:cs typeface="Liberation Sans"/>
              </a:rPr>
              <a:t>ng</a:t>
            </a:r>
            <a:r>
              <a:rPr sz="1200" b="1" i="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i="1" spc="-15" dirty="0">
                <a:solidFill>
                  <a:srgbClr val="FFFFFF"/>
                </a:solidFill>
                <a:latin typeface="Liberation Sans"/>
                <a:cs typeface="Liberation Sans"/>
              </a:rPr>
              <a:t>hi</a:t>
            </a:r>
            <a:r>
              <a:rPr sz="1200" b="1" i="1" spc="425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i="1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200" b="1" i="1" spc="-2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b="1" i="1" spc="-15" dirty="0">
                <a:solidFill>
                  <a:srgbClr val="FFFFFF"/>
                </a:solidFill>
                <a:latin typeface="Liberation Sans"/>
                <a:cs typeface="Liberation Sans"/>
              </a:rPr>
              <a:t>qu</a:t>
            </a:r>
            <a:r>
              <a:rPr sz="1200" b="1" i="1" spc="744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Liberation Sans"/>
                <a:cs typeface="Liberation Sans"/>
              </a:rPr>
              <a:t>trên </a:t>
            </a:r>
            <a:r>
              <a:rPr sz="1200" spc="-12" dirty="0">
                <a:solidFill>
                  <a:srgbClr val="FFFFFF"/>
                </a:solidFill>
                <a:latin typeface="Liberation Sans"/>
                <a:cs typeface="Liberation Sans"/>
              </a:rPr>
              <a:t>các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 t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ậ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p</a:t>
            </a:r>
            <a:r>
              <a:rPr sz="1200" spc="-2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200" spc="-14" dirty="0">
                <a:solidFill>
                  <a:srgbClr val="FFFFFF"/>
                </a:solidFill>
                <a:latin typeface="Liberation Sans"/>
                <a:cs typeface="Liberation Sans"/>
              </a:rPr>
              <a:t>d</a:t>
            </a:r>
            <a:r>
              <a:rPr sz="1200" dirty="0">
                <a:solidFill>
                  <a:srgbClr val="FFFFFF"/>
                </a:solidFill>
                <a:latin typeface="DejaVu Sans"/>
                <a:cs typeface="DejaVu Sans"/>
              </a:rPr>
              <a:t>ữ</a:t>
            </a:r>
            <a:r>
              <a:rPr sz="1200" spc="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li</a:t>
            </a:r>
            <a:r>
              <a:rPr sz="1200" spc="11" dirty="0">
                <a:solidFill>
                  <a:srgbClr val="FFFFFF"/>
                </a:solidFill>
                <a:latin typeface="DejaVu Sans"/>
                <a:cs typeface="DejaVu Sans"/>
              </a:rPr>
              <a:t>ệ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u</a:t>
            </a:r>
            <a:r>
              <a:rPr sz="1200" spc="-20" dirty="0">
                <a:solidFill>
                  <a:srgbClr val="FFFFFF"/>
                </a:solidFill>
                <a:latin typeface="Liberation Sans"/>
                <a:cs typeface="Liberation Sans"/>
              </a:rPr>
              <a:t> m</a:t>
            </a:r>
            <a:r>
              <a:rPr sz="1200" spc="15" dirty="0">
                <a:solidFill>
                  <a:srgbClr val="FFFFFF"/>
                </a:solidFill>
                <a:latin typeface="DejaVu Sans"/>
                <a:cs typeface="DejaVu Sans"/>
              </a:rPr>
              <a:t>ớ</a:t>
            </a:r>
            <a:r>
              <a:rPr sz="1200" dirty="0">
                <a:solidFill>
                  <a:srgbClr val="FFFFFF"/>
                </a:solidFill>
                <a:latin typeface="Liberation Sans"/>
                <a:cs typeface="Liberation Sans"/>
              </a:rPr>
              <a:t>i.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735811" y="7408860"/>
            <a:ext cx="852753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D</a:t>
            </a:r>
            <a:r>
              <a:rPr sz="1000" b="1" spc="68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li</a:t>
            </a:r>
            <a:r>
              <a:rPr sz="1000" b="1" spc="32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u m</a:t>
            </a:r>
            <a:r>
              <a:rPr sz="1000" b="1" spc="32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7692032" y="7408860"/>
            <a:ext cx="1324026" cy="1811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26"/>
              </a:lnSpc>
              <a:spcBef>
                <a:spcPts val="0"/>
              </a:spcBef>
              <a:spcAft>
                <a:spcPts val="0"/>
              </a:spcAft>
            </a:pPr>
            <a:r>
              <a:rPr sz="1000" b="1" dirty="0">
                <a:solidFill>
                  <a:srgbClr val="14532D"/>
                </a:solidFill>
                <a:latin typeface="Liberation Sans"/>
                <a:cs typeface="Liberation Sans"/>
              </a:rPr>
              <a:t>Mô hình v</a:t>
            </a:r>
            <a:r>
              <a:rPr sz="1000" b="1" spc="401" dirty="0">
                <a:solidFill>
                  <a:srgbClr val="14532D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14532D"/>
                </a:solidFill>
                <a:latin typeface="Liberation Sans"/>
                <a:cs typeface="Liberation Sans"/>
              </a:rPr>
              <a:t>ng ch</a:t>
            </a:r>
            <a:r>
              <a:rPr sz="1000" b="1" spc="323" dirty="0">
                <a:solidFill>
                  <a:srgbClr val="14532D"/>
                </a:solidFill>
                <a:latin typeface="Liberation Sans"/>
                <a:cs typeface="Liberation Sans"/>
              </a:rPr>
              <a:t> </a:t>
            </a:r>
            <a:r>
              <a:rPr sz="1000" b="1" dirty="0">
                <a:solidFill>
                  <a:srgbClr val="14532D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35347" y="7680638"/>
            <a:ext cx="7860018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"Mô hình t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ố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i 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ư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u c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ầ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n đ</a:t>
            </a:r>
            <a:r>
              <a:rPr sz="1350" spc="-15" dirty="0">
                <a:solidFill>
                  <a:srgbClr val="004D66"/>
                </a:solidFill>
                <a:latin typeface="DejaVu Sans"/>
                <a:cs typeface="DejaVu Sans"/>
              </a:rPr>
              <a:t>ượ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c đánh giá không ch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ỉ</a:t>
            </a:r>
            <a:r>
              <a:rPr sz="1350" spc="36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qua đ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ộ</a:t>
            </a:r>
            <a:r>
              <a:rPr sz="1350" spc="3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chính xác mà còn 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ở</a:t>
            </a:r>
            <a:r>
              <a:rPr sz="1350" spc="34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s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ự</a:t>
            </a:r>
            <a:r>
              <a:rPr sz="1350" dirty="0">
                <a:solidFill>
                  <a:srgbClr val="004D66"/>
                </a:solidFill>
                <a:latin typeface="Times New Roman"/>
                <a:cs typeface="Times New Roman"/>
              </a:rPr>
              <a:t> </a:t>
            </a:r>
            <a:r>
              <a:rPr sz="1350" b="1" i="1" dirty="0">
                <a:solidFill>
                  <a:srgbClr val="004D66"/>
                </a:solidFill>
                <a:latin typeface="Liberation Sans"/>
                <a:cs typeface="Liberation Sans"/>
              </a:rPr>
              <a:t>v</a:t>
            </a:r>
            <a:r>
              <a:rPr sz="1350" b="1" i="1" spc="44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i="1" dirty="0">
                <a:solidFill>
                  <a:srgbClr val="004D66"/>
                </a:solidFill>
                <a:latin typeface="Liberation Sans"/>
                <a:cs typeface="Liberation Sans"/>
              </a:rPr>
              <a:t>ng ch</a:t>
            </a:r>
            <a:r>
              <a:rPr sz="1350" b="1" i="1" spc="45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i="1" dirty="0">
                <a:solidFill>
                  <a:srgbClr val="004D66"/>
                </a:solidFill>
                <a:latin typeface="Liberation Sans"/>
                <a:cs typeface="Liberation Sans"/>
              </a:rPr>
              <a:t>c 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và </a:t>
            </a:r>
            <a:r>
              <a:rPr sz="1350" b="1" i="1" dirty="0">
                <a:solidFill>
                  <a:srgbClr val="004D66"/>
                </a:solidFill>
                <a:latin typeface="Liberation Sans"/>
                <a:cs typeface="Liberation Sans"/>
              </a:rPr>
              <a:t>kh</a:t>
            </a:r>
            <a:r>
              <a:rPr sz="1350" b="1" i="1" spc="82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i="1" dirty="0">
                <a:solidFill>
                  <a:srgbClr val="004D66"/>
                </a:solidFill>
                <a:latin typeface="Liberation Sans"/>
                <a:cs typeface="Liberation Sans"/>
              </a:rPr>
              <a:t>năng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35347" y="7937813"/>
            <a:ext cx="2480090" cy="2367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64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1" dirty="0">
                <a:solidFill>
                  <a:srgbClr val="004D66"/>
                </a:solidFill>
                <a:latin typeface="Liberation Sans"/>
                <a:cs typeface="Liberation Sans"/>
              </a:rPr>
              <a:t>thích</a:t>
            </a:r>
            <a:r>
              <a:rPr sz="1350" b="1" i="1" spc="82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1350" b="1" i="1" dirty="0">
                <a:solidFill>
                  <a:srgbClr val="004D66"/>
                </a:solidFill>
                <a:latin typeface="Liberation Sans"/>
                <a:cs typeface="Liberation Sans"/>
              </a:rPr>
              <a:t>ng 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v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ớ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i m</a:t>
            </a:r>
            <a:r>
              <a:rPr sz="1350" dirty="0">
                <a:solidFill>
                  <a:srgbClr val="004D66"/>
                </a:solidFill>
                <a:latin typeface="DejaVu Sans"/>
                <a:cs typeface="DejaVu Sans"/>
              </a:rPr>
              <a:t>ọ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i thách th</a:t>
            </a:r>
            <a:r>
              <a:rPr sz="1350" spc="-31" dirty="0">
                <a:solidFill>
                  <a:srgbClr val="004D66"/>
                </a:solidFill>
                <a:latin typeface="DejaVu Sans"/>
                <a:cs typeface="DejaVu Sans"/>
              </a:rPr>
              <a:t>ứ</a:t>
            </a:r>
            <a:r>
              <a:rPr sz="1350" i="1" dirty="0">
                <a:solidFill>
                  <a:srgbClr val="004D66"/>
                </a:solidFill>
                <a:latin typeface="Liberation Sans"/>
                <a:cs typeface="Liberation Sans"/>
              </a:rPr>
              <a:t>c."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71231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365426" y="380416"/>
            <a:ext cx="3613493" cy="6341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93"/>
              </a:lnSpc>
              <a:spcBef>
                <a:spcPts val="0"/>
              </a:spcBef>
              <a:spcAft>
                <a:spcPts val="0"/>
              </a:spcAft>
            </a:pPr>
            <a:r>
              <a:rPr sz="4050" b="1" spc="-179" dirty="0">
                <a:solidFill>
                  <a:srgbClr val="004D66"/>
                </a:solidFill>
                <a:latin typeface="DejaVu Sans"/>
                <a:cs typeface="DejaVu Sans"/>
              </a:rPr>
              <a:t>IV.</a:t>
            </a:r>
            <a:r>
              <a:rPr sz="4050" b="1" spc="166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4050" b="1" spc="-14" dirty="0">
                <a:solidFill>
                  <a:srgbClr val="004D66"/>
                </a:solidFill>
                <a:latin typeface="DejaVu Sans"/>
                <a:cs typeface="DejaVu Sans"/>
              </a:rPr>
              <a:t>Kết</a:t>
            </a:r>
            <a:r>
              <a:rPr sz="405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4050" b="1" spc="-12" dirty="0">
                <a:solidFill>
                  <a:srgbClr val="004D66"/>
                </a:solidFill>
                <a:latin typeface="DejaVu Sans"/>
                <a:cs typeface="DejaVu Sans"/>
              </a:rPr>
              <a:t>Luận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67581" y="1514931"/>
            <a:ext cx="5503274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5" dirty="0">
                <a:solidFill>
                  <a:srgbClr val="004D66"/>
                </a:solidFill>
                <a:latin typeface="DejaVu Sans"/>
                <a:cs typeface="DejaVu Sans"/>
              </a:rPr>
              <a:t>Mục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tiêu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đề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tài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hoàn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thành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xuất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sắc,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đạt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được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các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kết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quả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chính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đã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đề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ra.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67581" y="2753181"/>
            <a:ext cx="5397686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5" dirty="0">
                <a:solidFill>
                  <a:srgbClr val="004D66"/>
                </a:solidFill>
                <a:latin typeface="DejaVu Sans"/>
                <a:cs typeface="DejaVu Sans"/>
              </a:rPr>
              <a:t>Ứng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dụng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kỹ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thuật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khai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phá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dữ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liệu</a:t>
            </a: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hiệu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quả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vào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bài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toán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dự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báo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nhiệt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độ.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67581" y="3991431"/>
            <a:ext cx="5350180" cy="5817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4" dirty="0">
                <a:solidFill>
                  <a:srgbClr val="004D66"/>
                </a:solidFill>
                <a:latin typeface="DejaVu Sans"/>
                <a:cs typeface="DejaVu Sans"/>
              </a:rPr>
              <a:t>Đóng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góp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thiết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thực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vào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lĩnh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vực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dự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báo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thời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tiết</a:t>
            </a:r>
          </a:p>
          <a:p>
            <a:pPr marL="0" marR="0">
              <a:lnSpc>
                <a:spcPts val="1955"/>
              </a:lnSpc>
              <a:spcBef>
                <a:spcPts val="319"/>
              </a:spcBef>
              <a:spcAft>
                <a:spcPts val="0"/>
              </a:spcAft>
            </a:pP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và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ứng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dụng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học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70" dirty="0">
                <a:solidFill>
                  <a:srgbClr val="004D66"/>
                </a:solidFill>
                <a:latin typeface="DejaVu Sans"/>
                <a:cs typeface="DejaVu Sans"/>
              </a:rPr>
              <a:t>máy.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765701" y="4792285"/>
            <a:ext cx="3909880" cy="5664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spc="10" dirty="0">
                <a:solidFill>
                  <a:srgbClr val="004D66"/>
                </a:solidFill>
                <a:latin typeface="DejaVu Sans"/>
                <a:cs typeface="DejaVu Sans"/>
              </a:rPr>
              <a:t>Dự</a:t>
            </a:r>
            <a:r>
              <a:rPr sz="1500" b="1" dirty="0">
                <a:solidFill>
                  <a:srgbClr val="004D66"/>
                </a:solidFill>
                <a:latin typeface="DejaVu Sans"/>
                <a:cs typeface="DejaVu Sans"/>
              </a:rPr>
              <a:t> báo chính xác, thúc đẩy tiến bộ</a:t>
            </a:r>
          </a:p>
          <a:p>
            <a:pPr marL="1354782" marR="0">
              <a:lnSpc>
                <a:spcPts val="1760"/>
              </a:lnSpc>
              <a:spcBef>
                <a:spcPts val="639"/>
              </a:spcBef>
              <a:spcAft>
                <a:spcPts val="0"/>
              </a:spcAft>
            </a:pPr>
            <a:r>
              <a:rPr sz="1500" b="1" dirty="0">
                <a:solidFill>
                  <a:srgbClr val="004D66"/>
                </a:solidFill>
                <a:latin typeface="DejaVu Sans"/>
                <a:cs typeface="DejaVu Sans"/>
              </a:rPr>
              <a:t>khoa học.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67581" y="5220156"/>
            <a:ext cx="5510675" cy="59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sz="1700" spc="-18" dirty="0">
                <a:solidFill>
                  <a:srgbClr val="004D66"/>
                </a:solidFill>
                <a:latin typeface="DejaVu Sans"/>
                <a:cs typeface="DejaVu Sans"/>
              </a:rPr>
              <a:t>Mô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hình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xây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dựng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có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nhiều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điểm</a:t>
            </a:r>
            <a:r>
              <a:rPr sz="1700" spc="-15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2" dirty="0">
                <a:solidFill>
                  <a:srgbClr val="004D66"/>
                </a:solidFill>
                <a:latin typeface="DejaVu Sans"/>
                <a:cs typeface="DejaVu Sans"/>
              </a:rPr>
              <a:t>nổi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bật,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sáng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tạo</a:t>
            </a:r>
          </a:p>
          <a:p>
            <a:pPr marL="0" marR="0">
              <a:lnSpc>
                <a:spcPts val="1955"/>
              </a:lnSpc>
              <a:spcBef>
                <a:spcPts val="444"/>
              </a:spcBef>
              <a:spcAft>
                <a:spcPts val="0"/>
              </a:spcAft>
            </a:pP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với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hiệu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suất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1" dirty="0">
                <a:solidFill>
                  <a:srgbClr val="004D66"/>
                </a:solidFill>
                <a:latin typeface="DejaVu Sans"/>
                <a:cs typeface="DejaVu Sans"/>
              </a:rPr>
              <a:t>cao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(R2</a:t>
            </a:r>
            <a:r>
              <a:rPr sz="1700" dirty="0">
                <a:solidFill>
                  <a:srgbClr val="004D66"/>
                </a:solidFill>
                <a:latin typeface="DejaVu Sans"/>
                <a:cs typeface="DejaVu Sans"/>
              </a:rPr>
              <a:t> ~</a:t>
            </a:r>
            <a:r>
              <a:rPr sz="1700" spc="-23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700" spc="-10" dirty="0">
                <a:solidFill>
                  <a:srgbClr val="004D66"/>
                </a:solidFill>
                <a:latin typeface="DejaVu Sans"/>
                <a:cs typeface="DejaVu Sans"/>
              </a:rPr>
              <a:t>0.99).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117228" y="6371171"/>
            <a:ext cx="8109927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4D66"/>
                </a:solidFill>
                <a:latin typeface="DejaVu Sans"/>
                <a:cs typeface="DejaVu Sans"/>
              </a:rPr>
              <a:t>"Nghiên cứu </a:t>
            </a:r>
            <a:r>
              <a:rPr sz="2000" spc="15" dirty="0">
                <a:solidFill>
                  <a:srgbClr val="004D66"/>
                </a:solidFill>
                <a:latin typeface="DejaVu Sans"/>
                <a:cs typeface="DejaVu Sans"/>
              </a:rPr>
              <a:t>mở</a:t>
            </a:r>
            <a:r>
              <a:rPr sz="2000" dirty="0">
                <a:solidFill>
                  <a:srgbClr val="004D66"/>
                </a:solidFill>
                <a:latin typeface="DejaVu Sans"/>
                <a:cs typeface="DejaVu Sans"/>
              </a:rPr>
              <a:t> ra </a:t>
            </a:r>
            <a:r>
              <a:rPr sz="2000" spc="10" dirty="0">
                <a:solidFill>
                  <a:srgbClr val="004D66"/>
                </a:solidFill>
                <a:latin typeface="DejaVu Sans"/>
                <a:cs typeface="DejaVu Sans"/>
              </a:rPr>
              <a:t>hướng</a:t>
            </a:r>
            <a:r>
              <a:rPr sz="20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4D66"/>
                </a:solidFill>
                <a:latin typeface="DejaVu Sans"/>
                <a:cs typeface="DejaVu Sans"/>
              </a:rPr>
              <a:t>đi</a:t>
            </a:r>
            <a:r>
              <a:rPr sz="20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4D66"/>
                </a:solidFill>
                <a:latin typeface="DejaVu Sans"/>
                <a:cs typeface="DejaVu Sans"/>
              </a:rPr>
              <a:t>mới,</a:t>
            </a:r>
            <a:r>
              <a:rPr sz="2000" dirty="0">
                <a:solidFill>
                  <a:srgbClr val="004D66"/>
                </a:solidFill>
                <a:latin typeface="DejaVu Sans"/>
                <a:cs typeface="DejaVu Sans"/>
              </a:rPr>
              <a:t> tối </a:t>
            </a:r>
            <a:r>
              <a:rPr sz="2000" spc="10" dirty="0">
                <a:solidFill>
                  <a:srgbClr val="004D66"/>
                </a:solidFill>
                <a:latin typeface="DejaVu Sans"/>
                <a:cs typeface="DejaVu Sans"/>
              </a:rPr>
              <a:t>ưu</a:t>
            </a:r>
            <a:r>
              <a:rPr sz="20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4D66"/>
                </a:solidFill>
                <a:latin typeface="DejaVu Sans"/>
                <a:cs typeface="DejaVu Sans"/>
              </a:rPr>
              <a:t>hóa</a:t>
            </a:r>
            <a:r>
              <a:rPr sz="2000" dirty="0">
                <a:solidFill>
                  <a:srgbClr val="004D66"/>
                </a:solidFill>
                <a:latin typeface="DejaVu Sans"/>
                <a:cs typeface="DejaVu Sans"/>
              </a:rPr>
              <a:t> công tác </a:t>
            </a:r>
            <a:r>
              <a:rPr sz="2000" spc="10" dirty="0">
                <a:solidFill>
                  <a:srgbClr val="004D66"/>
                </a:solidFill>
                <a:latin typeface="DejaVu Sans"/>
                <a:cs typeface="DejaVu Sans"/>
              </a:rPr>
              <a:t>dự</a:t>
            </a:r>
            <a:r>
              <a:rPr sz="2000" dirty="0">
                <a:solidFill>
                  <a:srgbClr val="004D66"/>
                </a:solidFill>
                <a:latin typeface="DejaVu Sans"/>
                <a:cs typeface="DejaVu Sans"/>
              </a:rPr>
              <a:t> báo."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7553621" y="6870998"/>
            <a:ext cx="4620195" cy="1871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173"/>
              </a:lnSpc>
              <a:spcBef>
                <a:spcPts val="0"/>
              </a:spcBef>
              <a:spcAft>
                <a:spcPts val="0"/>
              </a:spcAft>
            </a:pPr>
            <a:r>
              <a:rPr sz="1000" dirty="0">
                <a:solidFill>
                  <a:srgbClr val="6B7280"/>
                </a:solidFill>
                <a:latin typeface="DejaVu Sans"/>
                <a:cs typeface="DejaVu Sans"/>
              </a:rPr>
              <a:t>Source: What is the State of Predictive Analytics in 2025? - RTInsights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101150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537072" y="405010"/>
            <a:ext cx="7270248" cy="485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372" dirty="0">
                <a:solidFill>
                  <a:srgbClr val="004D66"/>
                </a:solidFill>
                <a:latin typeface="DejaVu Sans"/>
                <a:cs typeface="DejaVu Sans"/>
              </a:rPr>
              <a:t>V.</a:t>
            </a:r>
            <a:r>
              <a:rPr sz="3000" b="1" spc="389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4D66"/>
                </a:solidFill>
                <a:latin typeface="DejaVu Sans"/>
                <a:cs typeface="DejaVu Sans"/>
              </a:rPr>
              <a:t>Thảo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5" dirty="0">
                <a:solidFill>
                  <a:srgbClr val="004D66"/>
                </a:solidFill>
                <a:latin typeface="DejaVu Sans"/>
                <a:cs typeface="DejaVu Sans"/>
              </a:rPr>
              <a:t>Luận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&amp;</a:t>
            </a:r>
            <a:r>
              <a:rPr sz="3000" b="1" spc="28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4D66"/>
                </a:solidFill>
                <a:latin typeface="DejaVu Sans"/>
                <a:cs typeface="DejaVu Sans"/>
              </a:rPr>
              <a:t>Hướng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17" dirty="0">
                <a:solidFill>
                  <a:srgbClr val="004D66"/>
                </a:solidFill>
                <a:latin typeface="DejaVu Sans"/>
                <a:cs typeface="DejaVu Sans"/>
              </a:rPr>
              <a:t>Phát</a:t>
            </a:r>
            <a:r>
              <a:rPr sz="3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3000" b="1" spc="-56" dirty="0">
                <a:solidFill>
                  <a:srgbClr val="004D66"/>
                </a:solidFill>
                <a:latin typeface="DejaVu Sans"/>
                <a:cs typeface="DejaVu Sans"/>
              </a:rPr>
              <a:t>Triển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05037" y="961987"/>
            <a:ext cx="7934326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4D66"/>
                </a:solidFill>
                <a:latin typeface="DejaVu Sans"/>
                <a:cs typeface="DejaVu Sans"/>
              </a:rPr>
              <a:t>Định Hình </a:t>
            </a:r>
            <a:r>
              <a:rPr sz="2000" spc="10" dirty="0">
                <a:solidFill>
                  <a:srgbClr val="004D66"/>
                </a:solidFill>
                <a:latin typeface="DejaVu Sans"/>
                <a:cs typeface="DejaVu Sans"/>
              </a:rPr>
              <a:t>Tương</a:t>
            </a:r>
            <a:r>
              <a:rPr sz="2000" dirty="0">
                <a:solidFill>
                  <a:srgbClr val="004D66"/>
                </a:solidFill>
                <a:latin typeface="DejaVu Sans"/>
                <a:cs typeface="DejaVu Sans"/>
              </a:rPr>
              <a:t> Lai: </a:t>
            </a:r>
            <a:r>
              <a:rPr sz="2000" spc="10" dirty="0">
                <a:solidFill>
                  <a:srgbClr val="004D66"/>
                </a:solidFill>
                <a:latin typeface="DejaVu Sans"/>
                <a:cs typeface="DejaVu Sans"/>
              </a:rPr>
              <a:t>Từ</a:t>
            </a:r>
            <a:r>
              <a:rPr sz="2000" dirty="0">
                <a:solidFill>
                  <a:srgbClr val="004D66"/>
                </a:solidFill>
                <a:latin typeface="DejaVu Sans"/>
                <a:cs typeface="DejaVu Sans"/>
              </a:rPr>
              <a:t> Thách </a:t>
            </a:r>
            <a:r>
              <a:rPr sz="2000" spc="10" dirty="0">
                <a:solidFill>
                  <a:srgbClr val="004D66"/>
                </a:solidFill>
                <a:latin typeface="DejaVu Sans"/>
                <a:cs typeface="DejaVu Sans"/>
              </a:rPr>
              <a:t>Thức</a:t>
            </a:r>
            <a:r>
              <a:rPr sz="20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4D66"/>
                </a:solidFill>
                <a:latin typeface="DejaVu Sans"/>
                <a:cs typeface="DejaVu Sans"/>
              </a:rPr>
              <a:t>Đến</a:t>
            </a:r>
            <a:r>
              <a:rPr sz="20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spc="-12" dirty="0">
                <a:solidFill>
                  <a:srgbClr val="004D66"/>
                </a:solidFill>
                <a:latin typeface="DejaVu Sans"/>
                <a:cs typeface="DejaVu Sans"/>
              </a:rPr>
              <a:t>Tiềm</a:t>
            </a:r>
            <a:r>
              <a:rPr sz="2000" spc="33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4D66"/>
                </a:solidFill>
                <a:latin typeface="DejaVu Sans"/>
                <a:cs typeface="DejaVu Sans"/>
              </a:rPr>
              <a:t>Năng</a:t>
            </a:r>
            <a:r>
              <a:rPr sz="20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4D66"/>
                </a:solidFill>
                <a:latin typeface="DejaVu Sans"/>
                <a:cs typeface="DejaVu Sans"/>
              </a:rPr>
              <a:t>Bứt</a:t>
            </a:r>
            <a:r>
              <a:rPr sz="200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spc="10" dirty="0">
                <a:solidFill>
                  <a:srgbClr val="004D66"/>
                </a:solidFill>
                <a:latin typeface="DejaVu Sans"/>
                <a:cs typeface="DejaVu Sans"/>
              </a:rPr>
              <a:t>Phá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4073" y="1586321"/>
            <a:ext cx="4320480" cy="589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endParaRPr lang="vi-VN" sz="2000" b="1" spc="10" dirty="0">
              <a:solidFill>
                <a:srgbClr val="004D66"/>
              </a:solidFill>
              <a:latin typeface="DejaVu Sans"/>
              <a:cs typeface="DejaVu Sans"/>
            </a:endParaRPr>
          </a:p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   </a:t>
            </a:r>
            <a:r>
              <a:rPr sz="2000" b="1" spc="10" dirty="0" err="1">
                <a:solidFill>
                  <a:srgbClr val="004D66"/>
                </a:solidFill>
                <a:latin typeface="DejaVu Sans"/>
                <a:cs typeface="DejaVu Sans"/>
              </a:rPr>
              <a:t>Cơ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hội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cải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dirty="0" err="1">
                <a:solidFill>
                  <a:srgbClr val="004D66"/>
                </a:solidFill>
                <a:latin typeface="DejaVu Sans"/>
                <a:cs typeface="DejaVu Sans"/>
              </a:rPr>
              <a:t>thiện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5" dirty="0" err="1">
                <a:solidFill>
                  <a:srgbClr val="004D66"/>
                </a:solidFill>
                <a:latin typeface="DejaVu Sans"/>
                <a:cs typeface="DejaVu Sans"/>
              </a:rPr>
              <a:t>mô</a:t>
            </a:r>
            <a:r>
              <a:rPr lang="vi-VN" sz="2000" b="1" spc="15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dirty="0" err="1">
                <a:solidFill>
                  <a:srgbClr val="004D66"/>
                </a:solidFill>
                <a:latin typeface="DejaVu Sans"/>
                <a:cs typeface="DejaVu Sans"/>
              </a:rPr>
              <a:t>hình</a:t>
            </a:r>
            <a:endParaRPr sz="2000" b="1" dirty="0">
              <a:solidFill>
                <a:srgbClr val="004D66"/>
              </a:solidFill>
              <a:latin typeface="DejaVu Sans"/>
              <a:cs typeface="DejaVu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9766" y="1857337"/>
            <a:ext cx="331111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004D66"/>
                </a:solidFill>
                <a:latin typeface="DejaVu Sans"/>
                <a:cs typeface="DejaVu Sans"/>
              </a:rPr>
              <a:t>Hạn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chế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&amp;</a:t>
            </a:r>
            <a:r>
              <a:rPr sz="2000" b="1" spc="18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Thách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thức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76758" y="2373951"/>
            <a:ext cx="3287691" cy="1033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Dữ liệu hạn chế, chưa đồng nhất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Độ phức tạp </a:t>
            </a:r>
            <a:r>
              <a:rPr sz="1500" spc="10" dirty="0">
                <a:solidFill>
                  <a:srgbClr val="004D66"/>
                </a:solidFill>
                <a:latin typeface="DejaVu Sans"/>
                <a:cs typeface="DejaVu Sans"/>
              </a:rPr>
              <a:t>mô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 hình hiện tại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Khả năng tổng quát hóa thấp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793854" y="2631126"/>
            <a:ext cx="3481833" cy="10331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Thêm đặc trưng mới (độ ẩm, mây)</a:t>
            </a:r>
          </a:p>
          <a:p>
            <a:pPr marL="0" marR="0">
              <a:lnSpc>
                <a:spcPts val="1760"/>
              </a:lnSpc>
              <a:spcBef>
                <a:spcPts val="1264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Thử nghiệm Deep Learning</a:t>
            </a:r>
            <a:r>
              <a:rPr sz="1500" spc="1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(LSTM)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sz="1500" spc="-10" dirty="0">
                <a:solidFill>
                  <a:srgbClr val="004D66"/>
                </a:solidFill>
                <a:latin typeface="DejaVu Sans"/>
                <a:cs typeface="DejaVu Sans"/>
              </a:rPr>
              <a:t>Tinh</a:t>
            </a:r>
            <a:r>
              <a:rPr sz="1500" spc="20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chỉnh sâu siêu tham số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48766" y="4451910"/>
            <a:ext cx="67884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991B1B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991B1B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991B1B"/>
                </a:solidFill>
                <a:latin typeface="DejaVu Sans"/>
                <a:cs typeface="DejaVu Sans"/>
              </a:rPr>
              <a:t>liệu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16434" y="4451910"/>
            <a:ext cx="80596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991B1B"/>
                </a:solidFill>
                <a:latin typeface="DejaVu Sans"/>
                <a:cs typeface="DejaVu Sans"/>
              </a:rPr>
              <a:t>Phức</a:t>
            </a:r>
            <a:r>
              <a:rPr sz="1200" dirty="0">
                <a:solidFill>
                  <a:srgbClr val="991B1B"/>
                </a:solidFill>
                <a:latin typeface="DejaVu Sans"/>
                <a:cs typeface="DejaVu Sans"/>
              </a:rPr>
              <a:t> </a:t>
            </a:r>
            <a:r>
              <a:rPr sz="1200" spc="-11" dirty="0">
                <a:solidFill>
                  <a:srgbClr val="991B1B"/>
                </a:solidFill>
                <a:latin typeface="DejaVu Sans"/>
                <a:cs typeface="DejaVu Sans"/>
              </a:rPr>
              <a:t>tạp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07967" y="4451910"/>
            <a:ext cx="89299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7" dirty="0">
                <a:solidFill>
                  <a:srgbClr val="166534"/>
                </a:solidFill>
                <a:latin typeface="DejaVu Sans"/>
                <a:cs typeface="DejaVu Sans"/>
              </a:rPr>
              <a:t>Đặc</a:t>
            </a:r>
            <a:r>
              <a:rPr sz="1200" dirty="0">
                <a:solidFill>
                  <a:srgbClr val="166534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166534"/>
                </a:solidFill>
                <a:latin typeface="DejaVu Sans"/>
                <a:cs typeface="DejaVu Sans"/>
              </a:rPr>
              <a:t>trưng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7689799" y="4451910"/>
            <a:ext cx="799032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4" dirty="0">
                <a:solidFill>
                  <a:srgbClr val="166534"/>
                </a:solidFill>
                <a:latin typeface="DejaVu Sans"/>
                <a:cs typeface="DejaVu Sans"/>
              </a:rPr>
              <a:t>DL/LSTM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229766" y="5524462"/>
            <a:ext cx="4213810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004D66"/>
                </a:solidFill>
                <a:latin typeface="DejaVu Sans"/>
                <a:cs typeface="DejaVu Sans"/>
              </a:rPr>
              <a:t>Ứng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dụng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thực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tế tiềm</a:t>
            </a:r>
            <a:r>
              <a:rPr sz="2000" b="1" spc="14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năng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988967" y="5524462"/>
            <a:ext cx="3871063" cy="3361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Tiềm</a:t>
            </a:r>
            <a:r>
              <a:rPr sz="2000" b="1" spc="12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năng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5" dirty="0">
                <a:solidFill>
                  <a:srgbClr val="004D66"/>
                </a:solidFill>
                <a:latin typeface="DejaVu Sans"/>
                <a:cs typeface="DejaVu Sans"/>
              </a:rPr>
              <a:t>mở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rộng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DejaVu Sans"/>
                <a:cs typeface="DejaVu Sans"/>
              </a:rPr>
              <a:t>đề</a:t>
            </a:r>
            <a:r>
              <a:rPr sz="2000" b="1" dirty="0">
                <a:solidFill>
                  <a:srgbClr val="004D66"/>
                </a:solidFill>
                <a:latin typeface="DejaVu Sans"/>
                <a:cs typeface="DejaVu Sans"/>
              </a:rPr>
              <a:t> tài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976758" y="6050601"/>
            <a:ext cx="3315636" cy="1023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Hệ thống cảnh báo sớm thời tiết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Tối ưu hóa sản xuất nông nghiệp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Quản lý &amp;</a:t>
            </a:r>
            <a:r>
              <a:rPr sz="1500" spc="12" dirty="0">
                <a:solidFill>
                  <a:srgbClr val="004D66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phân phối năng lượng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793854" y="6050601"/>
            <a:ext cx="285684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Dự báo đa địa điểm/khu vực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793854" y="6431601"/>
            <a:ext cx="3531808" cy="642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Dự báo các yếu tố môi trường khác</a:t>
            </a:r>
          </a:p>
          <a:p>
            <a:pPr marL="0" marR="0">
              <a:lnSpc>
                <a:spcPts val="1760"/>
              </a:lnSpc>
              <a:spcBef>
                <a:spcPts val="1239"/>
              </a:spcBef>
              <a:spcAft>
                <a:spcPts val="0"/>
              </a:spcAft>
            </a:pPr>
            <a:r>
              <a:rPr sz="1500" dirty="0">
                <a:solidFill>
                  <a:srgbClr val="004D66"/>
                </a:solidFill>
                <a:latin typeface="DejaVu Sans"/>
                <a:cs typeface="DejaVu Sans"/>
              </a:rPr>
              <a:t>Tích hợp nguồn dữ liệu đa dạng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48766" y="8119035"/>
            <a:ext cx="86237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E40AF"/>
                </a:solidFill>
                <a:latin typeface="DejaVu Sans"/>
                <a:cs typeface="DejaVu Sans"/>
              </a:rPr>
              <a:t>Cảnh</a:t>
            </a:r>
            <a:r>
              <a:rPr sz="1200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1E40AF"/>
                </a:solidFill>
                <a:latin typeface="DejaVu Sans"/>
                <a:cs typeface="DejaVu Sans"/>
              </a:rPr>
              <a:t>báo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900088" y="8119035"/>
            <a:ext cx="110429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5" dirty="0">
                <a:solidFill>
                  <a:srgbClr val="1E40AF"/>
                </a:solidFill>
                <a:latin typeface="DejaVu Sans"/>
                <a:cs typeface="DejaVu Sans"/>
              </a:rPr>
              <a:t>Nông</a:t>
            </a:r>
            <a:r>
              <a:rPr sz="1200" dirty="0">
                <a:solidFill>
                  <a:srgbClr val="1E40AF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1E40AF"/>
                </a:solidFill>
                <a:latin typeface="DejaVu Sans"/>
                <a:cs typeface="DejaVu Sans"/>
              </a:rPr>
              <a:t>nghiệp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607967" y="8119035"/>
            <a:ext cx="1055703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9A3412"/>
                </a:solidFill>
                <a:latin typeface="DejaVu Sans"/>
                <a:cs typeface="DejaVu Sans"/>
              </a:rPr>
              <a:t>Đa</a:t>
            </a:r>
            <a:r>
              <a:rPr sz="1200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9A3412"/>
                </a:solidFill>
                <a:latin typeface="DejaVu Sans"/>
                <a:cs typeface="DejaVu Sans"/>
              </a:rPr>
              <a:t>địa</a:t>
            </a:r>
            <a:r>
              <a:rPr sz="1200" spc="-11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spc="-12" dirty="0">
                <a:solidFill>
                  <a:srgbClr val="9A3412"/>
                </a:solidFill>
                <a:latin typeface="DejaVu Sans"/>
                <a:cs typeface="DejaVu Sans"/>
              </a:rPr>
              <a:t>điểm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852468" y="8119035"/>
            <a:ext cx="953706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spc="-18" dirty="0">
                <a:solidFill>
                  <a:srgbClr val="9A3412"/>
                </a:solidFill>
                <a:latin typeface="DejaVu Sans"/>
                <a:cs typeface="DejaVu Sans"/>
              </a:rPr>
              <a:t>Dữ</a:t>
            </a:r>
            <a:r>
              <a:rPr sz="1200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9A3412"/>
                </a:solidFill>
                <a:latin typeface="DejaVu Sans"/>
                <a:cs typeface="DejaVu Sans"/>
              </a:rPr>
              <a:t>liệu</a:t>
            </a:r>
            <a:r>
              <a:rPr sz="1200" spc="-14" dirty="0">
                <a:solidFill>
                  <a:srgbClr val="9A3412"/>
                </a:solidFill>
                <a:latin typeface="DejaVu Sans"/>
                <a:cs typeface="DejaVu Sans"/>
              </a:rPr>
              <a:t> </a:t>
            </a:r>
            <a:r>
              <a:rPr sz="1200" spc="-10" dirty="0">
                <a:solidFill>
                  <a:srgbClr val="9A3412"/>
                </a:solidFill>
                <a:latin typeface="DejaVu Sans"/>
                <a:cs typeface="DejaVu Sans"/>
              </a:rPr>
              <a:t>lớn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17649" y="9041451"/>
            <a:ext cx="10909008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"Tương lai của dự báo thời tiết nằm ở</a:t>
            </a:r>
            <a:r>
              <a:rPr sz="1500" spc="10" dirty="0">
                <a:solidFill>
                  <a:srgbClr val="FFFFFF"/>
                </a:solidFill>
                <a:latin typeface="DejaVu Sans"/>
                <a:cs typeface="DejaVu Sans"/>
              </a:rPr>
              <a:t> </a:t>
            </a:r>
            <a:r>
              <a:rPr sz="1500" dirty="0">
                <a:solidFill>
                  <a:srgbClr val="FFFFFF"/>
                </a:solidFill>
                <a:latin typeface="DejaVu Sans"/>
                <a:cs typeface="DejaVu Sans"/>
              </a:rPr>
              <a:t>sự kết hợp của dữ liệu, công nghệ và khả năng ứng dụng không giới hạn."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792860" y="9357285"/>
            <a:ext cx="2758628" cy="211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200" dirty="0">
                <a:solidFill>
                  <a:srgbClr val="BAE6FD"/>
                </a:solidFill>
                <a:latin typeface="DejaVu Sans"/>
                <a:cs typeface="DejaVu Sans"/>
              </a:rPr>
              <a:t>-</a:t>
            </a:r>
            <a:r>
              <a:rPr sz="1200" spc="-17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200" spc="-23" dirty="0">
                <a:solidFill>
                  <a:srgbClr val="BAE6FD"/>
                </a:solidFill>
                <a:latin typeface="DejaVu Sans"/>
                <a:cs typeface="DejaVu Sans"/>
              </a:rPr>
              <a:t>Tiềm</a:t>
            </a:r>
            <a:r>
              <a:rPr sz="1200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BAE6FD"/>
                </a:solidFill>
                <a:latin typeface="DejaVu Sans"/>
                <a:cs typeface="DejaVu Sans"/>
              </a:rPr>
              <a:t>năng</a:t>
            </a:r>
            <a:r>
              <a:rPr sz="1200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BAE6FD"/>
                </a:solidFill>
                <a:latin typeface="DejaVu Sans"/>
                <a:cs typeface="DejaVu Sans"/>
              </a:rPr>
              <a:t>của</a:t>
            </a:r>
            <a:r>
              <a:rPr sz="1200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200" spc="-17" dirty="0">
                <a:solidFill>
                  <a:srgbClr val="BAE6FD"/>
                </a:solidFill>
                <a:latin typeface="DejaVu Sans"/>
                <a:cs typeface="DejaVu Sans"/>
              </a:rPr>
              <a:t>AI</a:t>
            </a:r>
            <a:r>
              <a:rPr sz="1200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200" spc="-18" dirty="0">
                <a:solidFill>
                  <a:srgbClr val="BAE6FD"/>
                </a:solidFill>
                <a:latin typeface="DejaVu Sans"/>
                <a:cs typeface="DejaVu Sans"/>
              </a:rPr>
              <a:t>trong</a:t>
            </a:r>
            <a:r>
              <a:rPr sz="1200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200" spc="-15" dirty="0">
                <a:solidFill>
                  <a:srgbClr val="BAE6FD"/>
                </a:solidFill>
                <a:latin typeface="DejaVu Sans"/>
                <a:cs typeface="DejaVu Sans"/>
              </a:rPr>
              <a:t>Khí</a:t>
            </a:r>
            <a:r>
              <a:rPr sz="1200" dirty="0">
                <a:solidFill>
                  <a:srgbClr val="BAE6FD"/>
                </a:solidFill>
                <a:latin typeface="DejaVu Sans"/>
                <a:cs typeface="DejaVu Sans"/>
              </a:rPr>
              <a:t> </a:t>
            </a:r>
            <a:r>
              <a:rPr sz="1200" spc="-14" dirty="0">
                <a:solidFill>
                  <a:srgbClr val="BAE6FD"/>
                </a:solidFill>
                <a:latin typeface="DejaVu Sans"/>
                <a:cs typeface="DejaVu Sans"/>
              </a:rPr>
              <a:t>tượng</a:t>
            </a:r>
          </a:p>
        </p:txBody>
      </p:sp>
      <p:pic>
        <p:nvPicPr>
          <p:cNvPr id="26" name="Picture 25" descr="A green light bulb with a green arrow pointing up&#10;&#10;AI-generated content may be incorrect.">
            <a:extLst>
              <a:ext uri="{FF2B5EF4-FFF2-40B4-BE49-F238E27FC236}">
                <a16:creationId xmlns:a16="http://schemas.microsoft.com/office/drawing/2014/main" id="{287D4988-8107-14B8-B57D-C954E7BA8D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281" y="1722417"/>
            <a:ext cx="623208" cy="6232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1999" cy="95816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41052" y="375723"/>
            <a:ext cx="10262241" cy="4671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78"/>
              </a:lnSpc>
              <a:spcBef>
                <a:spcPts val="0"/>
              </a:spcBef>
              <a:spcAft>
                <a:spcPts val="0"/>
              </a:spcAft>
            </a:pPr>
            <a:r>
              <a:rPr sz="3000" b="1" spc="-261" dirty="0">
                <a:solidFill>
                  <a:srgbClr val="004D66"/>
                </a:solidFill>
                <a:latin typeface="Liberation Sans"/>
                <a:cs typeface="Liberation Sans"/>
              </a:rPr>
              <a:t>V.</a:t>
            </a:r>
            <a:r>
              <a:rPr sz="3000" b="1" spc="27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Th</a:t>
            </a:r>
            <a:r>
              <a:rPr sz="3000" b="1" spc="104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o</a:t>
            </a:r>
            <a:r>
              <a:rPr sz="3000" b="1" spc="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Lu</a:t>
            </a:r>
            <a:r>
              <a:rPr sz="3000" b="1" spc="104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  <a:r>
              <a:rPr sz="3000" b="1" spc="2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&amp;</a:t>
            </a:r>
            <a:r>
              <a:rPr sz="3000" b="1" spc="23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H</a:t>
            </a:r>
            <a:r>
              <a:rPr sz="3000" b="1" spc="3007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Phát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-47" dirty="0">
                <a:solidFill>
                  <a:srgbClr val="004D66"/>
                </a:solidFill>
                <a:latin typeface="Liberation Sans"/>
                <a:cs typeface="Liberation Sans"/>
              </a:rPr>
              <a:t>Tri</a:t>
            </a:r>
            <a:r>
              <a:rPr sz="3000" b="1" spc="109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n:</a:t>
            </a:r>
            <a:r>
              <a:rPr sz="3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3000" b="1" spc="18" dirty="0">
                <a:solidFill>
                  <a:srgbClr val="4CAF50"/>
                </a:solidFill>
                <a:latin typeface="Liberation Sans"/>
                <a:cs typeface="Liberation Sans"/>
              </a:rPr>
              <a:t>Gi</a:t>
            </a:r>
            <a:r>
              <a:rPr sz="3000" b="1" spc="1030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i</a:t>
            </a:r>
            <a:r>
              <a:rPr sz="3000" b="1" spc="12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4" dirty="0">
                <a:solidFill>
                  <a:srgbClr val="4CAF50"/>
                </a:solidFill>
                <a:latin typeface="Liberation Sans"/>
                <a:cs typeface="Liberation Sans"/>
              </a:rPr>
              <a:t>Pháp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 &amp;</a:t>
            </a:r>
            <a:r>
              <a:rPr sz="3000" b="1" spc="23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spc="15" dirty="0">
                <a:solidFill>
                  <a:srgbClr val="4CAF50"/>
                </a:solidFill>
                <a:latin typeface="Liberation Sans"/>
                <a:cs typeface="Liberation Sans"/>
              </a:rPr>
              <a:t>Câu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 H</a:t>
            </a:r>
            <a:r>
              <a:rPr sz="3000" b="1" spc="1057" dirty="0">
                <a:solidFill>
                  <a:srgbClr val="4CAF50"/>
                </a:solidFill>
                <a:latin typeface="Liberation Sans"/>
                <a:cs typeface="Liberation Sans"/>
              </a:rPr>
              <a:t> </a:t>
            </a:r>
            <a:r>
              <a:rPr sz="3000" b="1" dirty="0">
                <a:solidFill>
                  <a:srgbClr val="4CAF50"/>
                </a:solidFill>
                <a:latin typeface="Liberation Sans"/>
                <a:cs typeface="Liberation Sans"/>
              </a:rPr>
              <a:t>i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98091" y="1415538"/>
            <a:ext cx="2362846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11" dirty="0">
                <a:solidFill>
                  <a:srgbClr val="004D66"/>
                </a:solidFill>
                <a:latin typeface="Liberation Sans"/>
                <a:cs typeface="Liberation Sans"/>
              </a:rPr>
              <a:t>Gi</a:t>
            </a:r>
            <a:r>
              <a:rPr sz="2000" b="1" spc="63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i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Pháp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Kh</a:t>
            </a:r>
            <a:r>
              <a:rPr sz="2000" b="1" spc="120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Thi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283647" y="1415538"/>
            <a:ext cx="4407434" cy="324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52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Đ</a:t>
            </a:r>
            <a:r>
              <a:rPr sz="2000" b="1" spc="-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nh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H</a:t>
            </a:r>
            <a:r>
              <a:rPr sz="2000" b="1" spc="193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ng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 Nghiên C</a:t>
            </a:r>
            <a:r>
              <a:rPr sz="2000" b="1" spc="73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u</a:t>
            </a:r>
            <a:r>
              <a:rPr sz="2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spc="-27" dirty="0">
                <a:solidFill>
                  <a:srgbClr val="004D66"/>
                </a:solidFill>
                <a:latin typeface="Liberation Sans"/>
                <a:cs typeface="Liberation Sans"/>
              </a:rPr>
              <a:t>Ti</a:t>
            </a:r>
            <a:r>
              <a:rPr sz="2000" b="1" spc="751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p</a:t>
            </a:r>
            <a:r>
              <a:rPr sz="2000" b="1" spc="14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000" b="1" dirty="0">
                <a:solidFill>
                  <a:srgbClr val="004D66"/>
                </a:solidFill>
                <a:latin typeface="Liberation Sans"/>
                <a:cs typeface="Liberation Sans"/>
              </a:rPr>
              <a:t>Theo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26454" y="2031051"/>
            <a:ext cx="448712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i thi</a:t>
            </a:r>
            <a:r>
              <a:rPr sz="1500" spc="-23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ch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t l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ng d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sz="1500" spc="68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sz="1500" spc="-23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đ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vào, làm giàu đ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ặ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812011" y="2031051"/>
            <a:ext cx="4486240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-11" dirty="0">
                <a:solidFill>
                  <a:srgbClr val="374151"/>
                </a:solidFill>
                <a:latin typeface="DejaVu Sans"/>
                <a:cs typeface="DejaVu Sans"/>
              </a:rPr>
              <a:t>Ứ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ng d</a:t>
            </a:r>
            <a:r>
              <a:rPr sz="1500" spc="23" dirty="0">
                <a:solidFill>
                  <a:srgbClr val="374151"/>
                </a:solidFill>
                <a:latin typeface="DejaVu Sans"/>
                <a:cs typeface="DejaVu Sans"/>
              </a:rPr>
              <a:t>ụ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ng các ki</a:t>
            </a:r>
            <a:r>
              <a:rPr sz="1500" spc="-23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trúc Deep Learning nh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sz="1500" spc="68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LSTM,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26454" y="2326326"/>
            <a:ext cx="660398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sz="1500" spc="23" dirty="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ng.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812011" y="2330733"/>
            <a:ext cx="1251381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Transformer.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26454" y="2754951"/>
            <a:ext cx="4874535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i </a:t>
            </a:r>
            <a:r>
              <a:rPr sz="1500" spc="23" dirty="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hóa hi</a:t>
            </a:r>
            <a:r>
              <a:rPr sz="1500" spc="-23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su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t và t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c đ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sz="1500" spc="27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c</a:t>
            </a:r>
            <a:r>
              <a:rPr sz="1500" spc="23" dirty="0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thu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ậ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t toán 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mô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 hình.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812011" y="2754951"/>
            <a:ext cx="462785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Tích h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ợ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d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ữ</a:t>
            </a:r>
            <a:r>
              <a:rPr sz="1500" spc="68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li</a:t>
            </a:r>
            <a:r>
              <a:rPr sz="1500" spc="-23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ờ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i gian th</a:t>
            </a:r>
            <a:r>
              <a:rPr sz="1500" spc="23" dirty="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c t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sz="1500" spc="68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nhi</a:t>
            </a:r>
            <a:r>
              <a:rPr sz="1500" spc="-23" dirty="0">
                <a:solidFill>
                  <a:srgbClr val="374151"/>
                </a:solidFill>
                <a:latin typeface="DejaVu Sans"/>
                <a:cs typeface="DejaVu Sans"/>
              </a:rPr>
              <a:t>ề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ngu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ồ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(real-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812011" y="3064158"/>
            <a:ext cx="1059385" cy="2526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89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time data).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926454" y="3183576"/>
            <a:ext cx="4748896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ở</a:t>
            </a:r>
            <a:r>
              <a:rPr sz="1500" spc="27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r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ng kh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ả</a:t>
            </a:r>
            <a:r>
              <a:rPr sz="1500" spc="25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năng tích h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ợ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vào các h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500" spc="21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th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ng l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ớ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h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ơ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812011" y="3478851"/>
            <a:ext cx="4511567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Phát tri</a:t>
            </a:r>
            <a:r>
              <a:rPr sz="1500" spc="-23" dirty="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mô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 hình d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sz="1500" spc="68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báo đa y</a:t>
            </a:r>
            <a:r>
              <a:rPr sz="1500" spc="-23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u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t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ố</a:t>
            </a:r>
            <a:r>
              <a:rPr sz="1500" spc="27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(đ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sz="1500" spc="27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ẩ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m,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 l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ượ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26454" y="3612201"/>
            <a:ext cx="4678473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Nâng c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ấ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p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giao di</a:t>
            </a:r>
            <a:r>
              <a:rPr sz="1500" spc="-23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ng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ườ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i dùng đ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ể</a:t>
            </a:r>
            <a:r>
              <a:rPr sz="1500" spc="21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tr</a:t>
            </a:r>
            <a:r>
              <a:rPr sz="1500" spc="23" dirty="0">
                <a:solidFill>
                  <a:srgbClr val="374151"/>
                </a:solidFill>
                <a:latin typeface="DejaVu Sans"/>
                <a:cs typeface="DejaVu Sans"/>
              </a:rPr>
              <a:t>ự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c quan và thân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812011" y="3783651"/>
            <a:ext cx="660210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m</a:t>
            </a:r>
            <a:r>
              <a:rPr sz="1500" spc="23" dirty="0">
                <a:solidFill>
                  <a:srgbClr val="374151"/>
                </a:solidFill>
                <a:latin typeface="DejaVu Sans"/>
                <a:cs typeface="DejaVu Sans"/>
              </a:rPr>
              <a:t>ư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a).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926454" y="3907476"/>
            <a:ext cx="63349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thi</a:t>
            </a:r>
            <a:r>
              <a:rPr sz="1500" spc="-23" dirty="0">
                <a:solidFill>
                  <a:srgbClr val="374151"/>
                </a:solidFill>
                <a:latin typeface="DejaVu Sans"/>
                <a:cs typeface="DejaVu Sans"/>
              </a:rPr>
              <a:t>ệ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812011" y="4212276"/>
            <a:ext cx="4354471" cy="2616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Đánh giá tác đ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ng kinh t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500" spc="21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và xã h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ộ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i c</a:t>
            </a:r>
            <a:r>
              <a:rPr sz="1500" spc="23" dirty="0">
                <a:solidFill>
                  <a:srgbClr val="374151"/>
                </a:solidFill>
                <a:latin typeface="DejaVu Sans"/>
                <a:cs typeface="DejaVu Sans"/>
              </a:rPr>
              <a:t>ủ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a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mô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 hình.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19745" y="4702987"/>
            <a:ext cx="915114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T</a:t>
            </a:r>
            <a:r>
              <a:rPr sz="1200" b="1" spc="401" dirty="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i</a:t>
            </a:r>
            <a:r>
              <a:rPr sz="1200" b="1" spc="736" dirty="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u</a:t>
            </a:r>
            <a:r>
              <a:rPr sz="1200" b="1" spc="-21" dirty="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166534"/>
                </a:solidFill>
                <a:latin typeface="Liberation Sans"/>
                <a:cs typeface="Liberation Sans"/>
              </a:rPr>
              <a:t>hóa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1880889" y="4702987"/>
            <a:ext cx="1085541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Đ</a:t>
            </a:r>
            <a:r>
              <a:rPr sz="1200" b="1" spc="725" dirty="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sz="1200" b="1" spc="-12" dirty="0">
                <a:solidFill>
                  <a:srgbClr val="166534"/>
                </a:solidFill>
                <a:latin typeface="Liberation Sans"/>
                <a:cs typeface="Liberation Sans"/>
              </a:rPr>
              <a:t>chính</a:t>
            </a: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sz="1200" b="1" spc="-14" dirty="0">
                <a:solidFill>
                  <a:srgbClr val="166534"/>
                </a:solidFill>
                <a:latin typeface="Liberation Sans"/>
                <a:cs typeface="Liberation Sans"/>
              </a:rPr>
              <a:t>xác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3112442" y="4702987"/>
            <a:ext cx="1491356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166534"/>
                </a:solidFill>
                <a:latin typeface="Liberation Sans"/>
                <a:cs typeface="Liberation Sans"/>
              </a:rPr>
              <a:t>Kh</a:t>
            </a:r>
            <a:r>
              <a:rPr sz="1200" b="1" spc="746" dirty="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166534"/>
                </a:solidFill>
                <a:latin typeface="Liberation Sans"/>
                <a:cs typeface="Liberation Sans"/>
              </a:rPr>
              <a:t>năng</a:t>
            </a: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 m</a:t>
            </a:r>
            <a:r>
              <a:rPr sz="1200" b="1" spc="721" dirty="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166534"/>
                </a:solidFill>
                <a:latin typeface="Liberation Sans"/>
                <a:cs typeface="Liberation Sans"/>
              </a:rPr>
              <a:t>r</a:t>
            </a:r>
            <a:r>
              <a:rPr sz="1200" b="1" spc="407" dirty="0">
                <a:solidFill>
                  <a:srgbClr val="166534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166534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705301" y="4702987"/>
            <a:ext cx="795013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1E40AF"/>
                </a:solidFill>
                <a:latin typeface="Liberation Sans"/>
                <a:cs typeface="Liberation Sans"/>
              </a:rPr>
              <a:t>Sáng</a:t>
            </a:r>
            <a:r>
              <a:rPr sz="1200" b="1" dirty="0">
                <a:solidFill>
                  <a:srgbClr val="1E40AF"/>
                </a:solidFill>
                <a:latin typeface="Liberation Sans"/>
                <a:cs typeface="Liberation Sans"/>
              </a:rPr>
              <a:t> t</a:t>
            </a:r>
            <a:r>
              <a:rPr sz="1200" b="1" spc="407" dirty="0">
                <a:solidFill>
                  <a:srgbClr val="1E40A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1E40AF"/>
                </a:solidFill>
                <a:latin typeface="Liberation Sans"/>
                <a:cs typeface="Liberation Sans"/>
              </a:rPr>
              <a:t>o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7646341" y="4702987"/>
            <a:ext cx="775696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8" dirty="0">
                <a:solidFill>
                  <a:srgbClr val="1E40AF"/>
                </a:solidFill>
                <a:latin typeface="Liberation Sans"/>
                <a:cs typeface="Liberation Sans"/>
              </a:rPr>
              <a:t>Tiên</a:t>
            </a:r>
            <a:r>
              <a:rPr sz="1200" b="1" dirty="0">
                <a:solidFill>
                  <a:srgbClr val="1E40AF"/>
                </a:solidFill>
                <a:latin typeface="Liberation Sans"/>
                <a:cs typeface="Liberation Sans"/>
              </a:rPr>
              <a:t> ti</a:t>
            </a:r>
            <a:r>
              <a:rPr sz="1200" b="1" spc="417" dirty="0">
                <a:solidFill>
                  <a:srgbClr val="1E40AF"/>
                </a:solidFill>
                <a:latin typeface="Liberation Sans"/>
                <a:cs typeface="Liberation Sans"/>
              </a:rPr>
              <a:t> </a:t>
            </a:r>
            <a:r>
              <a:rPr sz="1200" b="1" dirty="0">
                <a:solidFill>
                  <a:srgbClr val="1E40AF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8691859" y="4702987"/>
            <a:ext cx="1371033" cy="2049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313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-15" dirty="0">
                <a:solidFill>
                  <a:srgbClr val="1E40AF"/>
                </a:solidFill>
                <a:latin typeface="Liberation Sans"/>
                <a:cs typeface="Liberation Sans"/>
              </a:rPr>
              <a:t>ng</a:t>
            </a:r>
            <a:r>
              <a:rPr sz="1200" b="1" dirty="0">
                <a:solidFill>
                  <a:srgbClr val="1E40AF"/>
                </a:solidFill>
                <a:latin typeface="Liberation Sans"/>
                <a:cs typeface="Liberation Sans"/>
              </a:rPr>
              <a:t> d</a:t>
            </a:r>
            <a:r>
              <a:rPr sz="1200" b="1" spc="401" dirty="0">
                <a:solidFill>
                  <a:srgbClr val="1E40AF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1E40AF"/>
                </a:solidFill>
                <a:latin typeface="Liberation Sans"/>
                <a:cs typeface="Liberation Sans"/>
              </a:rPr>
              <a:t>ng</a:t>
            </a:r>
            <a:r>
              <a:rPr sz="1200" b="1" dirty="0">
                <a:solidFill>
                  <a:srgbClr val="1E40AF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1E40AF"/>
                </a:solidFill>
                <a:latin typeface="Liberation Sans"/>
                <a:cs typeface="Liberation Sans"/>
              </a:rPr>
              <a:t>đa</a:t>
            </a:r>
            <a:r>
              <a:rPr sz="1200" b="1" dirty="0">
                <a:solidFill>
                  <a:srgbClr val="1E40AF"/>
                </a:solidFill>
                <a:latin typeface="Liberation Sans"/>
                <a:cs typeface="Liberation Sans"/>
              </a:rPr>
              <a:t> d</a:t>
            </a:r>
            <a:r>
              <a:rPr sz="1200" b="1" spc="401" dirty="0">
                <a:solidFill>
                  <a:srgbClr val="1E40AF"/>
                </a:solidFill>
                <a:latin typeface="Liberation Sans"/>
                <a:cs typeface="Liberation Sans"/>
              </a:rPr>
              <a:t> </a:t>
            </a:r>
            <a:r>
              <a:rPr sz="1200" b="1" spc="-15" dirty="0">
                <a:solidFill>
                  <a:srgbClr val="1E40AF"/>
                </a:solidFill>
                <a:latin typeface="Liberation Sans"/>
                <a:cs typeface="Liberation Sans"/>
              </a:rPr>
              <a:t>ng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525565" y="7158404"/>
            <a:ext cx="3293083" cy="3955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14"/>
              </a:lnSpc>
              <a:spcBef>
                <a:spcPts val="0"/>
              </a:spcBef>
              <a:spcAft>
                <a:spcPts val="0"/>
              </a:spcAft>
            </a:pPr>
            <a:r>
              <a:rPr sz="2500" b="1" spc="11" dirty="0">
                <a:solidFill>
                  <a:srgbClr val="004D66"/>
                </a:solidFill>
                <a:latin typeface="Liberation Sans"/>
                <a:cs typeface="Liberation Sans"/>
              </a:rPr>
              <a:t>Câu</a:t>
            </a:r>
            <a:r>
              <a:rPr sz="2500" b="1" dirty="0">
                <a:solidFill>
                  <a:srgbClr val="004D66"/>
                </a:solidFill>
                <a:latin typeface="Liberation Sans"/>
                <a:cs typeface="Liberation Sans"/>
              </a:rPr>
              <a:t> h</a:t>
            </a:r>
            <a:r>
              <a:rPr sz="2500" b="1" spc="892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500" b="1" dirty="0">
                <a:solidFill>
                  <a:srgbClr val="004D66"/>
                </a:solidFill>
                <a:latin typeface="Liberation Sans"/>
                <a:cs typeface="Liberation Sans"/>
              </a:rPr>
              <a:t>i</a:t>
            </a:r>
            <a:r>
              <a:rPr sz="2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500" b="1" dirty="0">
                <a:solidFill>
                  <a:srgbClr val="004D66"/>
                </a:solidFill>
                <a:latin typeface="Liberation Sans"/>
                <a:cs typeface="Liberation Sans"/>
              </a:rPr>
              <a:t>&amp;</a:t>
            </a:r>
            <a:r>
              <a:rPr sz="2500" b="1" spc="18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500" b="1" spc="10" dirty="0">
                <a:solidFill>
                  <a:srgbClr val="004D66"/>
                </a:solidFill>
                <a:latin typeface="Liberation Sans"/>
                <a:cs typeface="Liberation Sans"/>
              </a:rPr>
              <a:t>Th</a:t>
            </a:r>
            <a:r>
              <a:rPr sz="2500" b="1" spc="880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500" b="1" dirty="0">
                <a:solidFill>
                  <a:srgbClr val="004D66"/>
                </a:solidFill>
                <a:latin typeface="Liberation Sans"/>
                <a:cs typeface="Liberation Sans"/>
              </a:rPr>
              <a:t>o</a:t>
            </a:r>
            <a:r>
              <a:rPr sz="2500" b="1" spc="15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500" b="1" dirty="0">
                <a:solidFill>
                  <a:srgbClr val="004D66"/>
                </a:solidFill>
                <a:latin typeface="Liberation Sans"/>
                <a:cs typeface="Liberation Sans"/>
              </a:rPr>
              <a:t>lu</a:t>
            </a:r>
            <a:r>
              <a:rPr sz="2500" b="1" spc="886" dirty="0">
                <a:solidFill>
                  <a:srgbClr val="004D66"/>
                </a:solidFill>
                <a:latin typeface="Liberation Sans"/>
                <a:cs typeface="Liberation Sans"/>
              </a:rPr>
              <a:t> </a:t>
            </a:r>
            <a:r>
              <a:rPr sz="2500" b="1" dirty="0">
                <a:solidFill>
                  <a:srgbClr val="004D66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619672" y="7698426"/>
            <a:ext cx="7105054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Nhóm xin chân thành l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ắ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ng nghe các câu h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ỏ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i và ý ki</a:t>
            </a:r>
            <a:r>
              <a:rPr sz="1500" spc="-23" dirty="0">
                <a:solidFill>
                  <a:srgbClr val="374151"/>
                </a:solidFill>
                <a:latin typeface="DejaVu Sans"/>
                <a:cs typeface="DejaVu Sans"/>
              </a:rPr>
              <a:t>ế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</a:t>
            </a:r>
            <a:r>
              <a:rPr sz="1500" spc="10" dirty="0">
                <a:solidFill>
                  <a:srgbClr val="374151"/>
                </a:solidFill>
                <a:latin typeface="Liberation Sans"/>
                <a:cs typeface="Liberation Sans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đóng góp t</a:t>
            </a:r>
            <a:r>
              <a:rPr sz="1500" dirty="0">
                <a:solidFill>
                  <a:srgbClr val="374151"/>
                </a:solidFill>
                <a:latin typeface="DejaVu Sans"/>
                <a:cs typeface="DejaVu Sans"/>
              </a:rPr>
              <a:t>ừ</a:t>
            </a:r>
            <a:r>
              <a:rPr sz="1500" spc="68" dirty="0">
                <a:solidFill>
                  <a:srgbClr val="374151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quý th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ầ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y/cô và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5729287" y="7993701"/>
            <a:ext cx="885703" cy="2616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760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các b</a:t>
            </a:r>
            <a:r>
              <a:rPr sz="1500" spc="-18" dirty="0">
                <a:solidFill>
                  <a:srgbClr val="374151"/>
                </a:solidFill>
                <a:latin typeface="DejaVu Sans"/>
                <a:cs typeface="DejaVu Sans"/>
              </a:rPr>
              <a:t>ạ</a:t>
            </a:r>
            <a:r>
              <a:rPr sz="1500" dirty="0">
                <a:solidFill>
                  <a:srgbClr val="374151"/>
                </a:solidFill>
                <a:latin typeface="Liberation Sans"/>
                <a:cs typeface="Liberation Sans"/>
              </a:rPr>
              <a:t>n.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4312889" y="8627023"/>
            <a:ext cx="977717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Th</a:t>
            </a:r>
            <a:r>
              <a:rPr sz="1350" b="1" spc="4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o lu</a:t>
            </a:r>
            <a:r>
              <a:rPr sz="1350" b="1" spc="448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n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5735240" y="8627023"/>
            <a:ext cx="968466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T</a:t>
            </a:r>
            <a:r>
              <a:rPr sz="1350" b="1" spc="1271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ng tác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7148362" y="8627023"/>
            <a:ext cx="883068" cy="228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01"/>
              </a:lnSpc>
              <a:spcBef>
                <a:spcPts val="0"/>
              </a:spcBef>
              <a:spcAft>
                <a:spcPts val="0"/>
              </a:spcAft>
            </a:pP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Ph</a:t>
            </a:r>
            <a:r>
              <a:rPr sz="1350" b="1" spc="450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n h</a:t>
            </a:r>
            <a:r>
              <a:rPr sz="1350" b="1" spc="446" dirty="0">
                <a:solidFill>
                  <a:srgbClr val="FFFFFF"/>
                </a:solidFill>
                <a:latin typeface="Liberation Sans"/>
                <a:cs typeface="Liberation Sans"/>
              </a:rPr>
              <a:t> </a:t>
            </a:r>
            <a:r>
              <a:rPr sz="1350" b="1" dirty="0">
                <a:solidFill>
                  <a:srgbClr val="FFFFFF"/>
                </a:solidFill>
                <a:latin typeface="Liberation Sans"/>
                <a:cs typeface="Liberation Sans"/>
              </a:rPr>
              <a:t>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610546" y="1784156"/>
            <a:ext cx="3141997" cy="12102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9229"/>
              </a:lnSpc>
              <a:spcBef>
                <a:spcPts val="0"/>
              </a:spcBef>
              <a:spcAft>
                <a:spcPts val="0"/>
              </a:spcAft>
            </a:pPr>
            <a:r>
              <a:rPr sz="6050" spc="-150" dirty="0">
                <a:solidFill>
                  <a:srgbClr val="004D66"/>
                </a:solidFill>
                <a:latin typeface="NLWDPL+Be Vietnam Pro ExtraBold"/>
                <a:cs typeface="NLWDPL+Be Vietnam Pro ExtraBold"/>
              </a:rPr>
              <a:t>C</a:t>
            </a:r>
            <a:r>
              <a:rPr sz="6050" spc="-137" dirty="0">
                <a:solidFill>
                  <a:srgbClr val="004D66"/>
                </a:solidFill>
                <a:latin typeface="NPPDBE+Be Vietnam Pro ExtraBold"/>
                <a:cs typeface="NPPDBE+Be Vietnam Pro ExtraBold"/>
              </a:rPr>
              <a:t>ả</a:t>
            </a:r>
            <a:r>
              <a:rPr sz="6050" dirty="0">
                <a:solidFill>
                  <a:srgbClr val="004D66"/>
                </a:solidFill>
                <a:latin typeface="NLWDPL+Be Vietnam Pro ExtraBold"/>
                <a:cs typeface="NLWDPL+Be Vietnam Pro ExtraBold"/>
              </a:rPr>
              <a:t>m</a:t>
            </a:r>
            <a:r>
              <a:rPr sz="6050" spc="-417" dirty="0">
                <a:solidFill>
                  <a:srgbClr val="004D66"/>
                </a:solidFill>
                <a:latin typeface="NLWDPL+Be Vietnam Pro ExtraBold"/>
                <a:cs typeface="NLWDPL+Be Vietnam Pro ExtraBold"/>
              </a:rPr>
              <a:t> </a:t>
            </a:r>
            <a:r>
              <a:rPr sz="6050" spc="-141" dirty="0">
                <a:solidFill>
                  <a:srgbClr val="004D66"/>
                </a:solidFill>
                <a:latin typeface="FOEIPR+Be Vietnam Pro ExtraBold"/>
                <a:cs typeface="FOEIPR+Be Vietnam Pro ExtraBold"/>
              </a:rPr>
              <a:t>Ơ</a:t>
            </a:r>
            <a:r>
              <a:rPr sz="6050" dirty="0">
                <a:solidFill>
                  <a:srgbClr val="004D66"/>
                </a:solidFill>
                <a:latin typeface="NLWDPL+Be Vietnam Pro ExtraBold"/>
                <a:cs typeface="NLWDPL+Be Vietnam Pro ExtraBold"/>
              </a:rPr>
              <a:t>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62249" y="3630515"/>
            <a:ext cx="6823416" cy="5391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14"/>
              </a:lnSpc>
              <a:spcBef>
                <a:spcPts val="0"/>
              </a:spcBef>
              <a:spcAft>
                <a:spcPts val="0"/>
              </a:spcAft>
            </a:pPr>
            <a:r>
              <a:rPr lang="vi-VN" sz="3000" spc="20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	</a:t>
            </a:r>
            <a:r>
              <a:rPr sz="3000" spc="20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Xin</a:t>
            </a:r>
            <a:r>
              <a:rPr sz="3000" spc="-54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 </a:t>
            </a:r>
            <a:r>
              <a:rPr sz="3000" spc="10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chân</a:t>
            </a:r>
            <a:r>
              <a:rPr sz="3000" spc="-43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 </a:t>
            </a:r>
            <a:r>
              <a:rPr sz="3000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thành</a:t>
            </a:r>
            <a:r>
              <a:rPr sz="3000" spc="18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 </a:t>
            </a:r>
            <a:r>
              <a:rPr sz="3000" spc="20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c</a:t>
            </a:r>
            <a:r>
              <a:rPr sz="3000" spc="-18" dirty="0">
                <a:solidFill>
                  <a:srgbClr val="004D66"/>
                </a:solidFill>
                <a:latin typeface="GTVVPV+Be Vietnam Pro Medium"/>
                <a:cs typeface="GTVVPV+Be Vietnam Pro Medium"/>
              </a:rPr>
              <a:t>ả</a:t>
            </a:r>
            <a:r>
              <a:rPr sz="3000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m </a:t>
            </a:r>
            <a:r>
              <a:rPr sz="3000" dirty="0" err="1">
                <a:solidFill>
                  <a:srgbClr val="004D66"/>
                </a:solidFill>
                <a:latin typeface="PDEPVN+Be Vietnam Pro Medium"/>
                <a:cs typeface="PDEPVN+Be Vietnam Pro Medium"/>
              </a:rPr>
              <a:t>ơ</a:t>
            </a:r>
            <a:r>
              <a:rPr sz="3000" dirty="0" err="1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n</a:t>
            </a:r>
            <a:r>
              <a:rPr sz="3000" spc="-33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 </a:t>
            </a:r>
            <a:r>
              <a:rPr sz="3000" dirty="0" err="1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th</a:t>
            </a:r>
            <a:r>
              <a:rPr sz="3000" spc="-18" dirty="0" err="1">
                <a:solidFill>
                  <a:srgbClr val="004D66"/>
                </a:solidFill>
                <a:latin typeface="GTVVPV+Be Vietnam Pro Medium"/>
                <a:cs typeface="GTVVPV+Be Vietnam Pro Medium"/>
              </a:rPr>
              <a:t>ầ</a:t>
            </a:r>
            <a:r>
              <a:rPr sz="3000" spc="-17" dirty="0" err="1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y</a:t>
            </a:r>
            <a:endParaRPr sz="3000" spc="-17" dirty="0">
              <a:solidFill>
                <a:srgbClr val="004D66"/>
              </a:solidFill>
              <a:latin typeface="LKIEVF+Be Vietnam Pro Medium"/>
              <a:cs typeface="LKIEVF+Be Vietnam Pro Mediu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52849" y="4059140"/>
            <a:ext cx="4839614" cy="624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614"/>
              </a:lnSpc>
              <a:spcBef>
                <a:spcPts val="0"/>
              </a:spcBef>
              <a:spcAft>
                <a:spcPts val="0"/>
              </a:spcAft>
            </a:pPr>
            <a:r>
              <a:rPr sz="3000" spc="-95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và</a:t>
            </a:r>
            <a:r>
              <a:rPr sz="3000" spc="62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 </a:t>
            </a:r>
            <a:r>
              <a:rPr sz="3000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các </a:t>
            </a:r>
            <a:r>
              <a:rPr sz="3000" spc="-20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b</a:t>
            </a:r>
            <a:r>
              <a:rPr sz="3000" spc="-18" dirty="0">
                <a:solidFill>
                  <a:srgbClr val="004D66"/>
                </a:solidFill>
                <a:latin typeface="GTVVPV+Be Vietnam Pro Medium"/>
                <a:cs typeface="GTVVPV+Be Vietnam Pro Medium"/>
              </a:rPr>
              <a:t>ạ</a:t>
            </a:r>
            <a:r>
              <a:rPr sz="3000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n</a:t>
            </a:r>
            <a:r>
              <a:rPr sz="3000" spc="-33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 </a:t>
            </a:r>
            <a:r>
              <a:rPr sz="3000" spc="18" dirty="0">
                <a:solidFill>
                  <a:srgbClr val="004D66"/>
                </a:solidFill>
                <a:latin typeface="PDEPVN+Be Vietnam Pro Medium"/>
                <a:cs typeface="PDEPVN+Be Vietnam Pro Medium"/>
              </a:rPr>
              <a:t>đ</a:t>
            </a:r>
            <a:r>
              <a:rPr sz="3000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ã</a:t>
            </a:r>
            <a:r>
              <a:rPr sz="3000" spc="-33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 </a:t>
            </a:r>
            <a:r>
              <a:rPr sz="3000" spc="27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l</a:t>
            </a:r>
            <a:r>
              <a:rPr sz="3000" spc="-18" dirty="0">
                <a:solidFill>
                  <a:srgbClr val="004D66"/>
                </a:solidFill>
                <a:latin typeface="GTVVPV+Be Vietnam Pro Medium"/>
                <a:cs typeface="GTVVPV+Be Vietnam Pro Medium"/>
              </a:rPr>
              <a:t>ắ</a:t>
            </a:r>
            <a:r>
              <a:rPr sz="3000" spc="-18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ng</a:t>
            </a:r>
            <a:r>
              <a:rPr sz="3000" dirty="0">
                <a:solidFill>
                  <a:srgbClr val="004D66"/>
                </a:solidFill>
                <a:latin typeface="LKIEVF+Be Vietnam Pro Medium"/>
                <a:cs typeface="LKIEVF+Be Vietnam Pro Medium"/>
              </a:rPr>
              <a:t>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4211</Words>
  <Application>Microsoft Office PowerPoint</Application>
  <PresentationFormat>Widescreen</PresentationFormat>
  <Paragraphs>587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4" baseType="lpstr">
      <vt:lpstr>Liberation Mono</vt:lpstr>
      <vt:lpstr>EFCLVJ+Montserrat Thin Bold</vt:lpstr>
      <vt:lpstr>NLWDPL+Be Vietnam Pro ExtraBold</vt:lpstr>
      <vt:lpstr>GTVVPV+Be Vietnam Pro Medium</vt:lpstr>
      <vt:lpstr>FLSTOL+Montserrat Thin Bold</vt:lpstr>
      <vt:lpstr>Bell MT</vt:lpstr>
      <vt:lpstr>Times New Roman</vt:lpstr>
      <vt:lpstr>PDEPVN+Be Vietnam Pro Medium</vt:lpstr>
      <vt:lpstr>EENORM+Montserrat Thin Bold</vt:lpstr>
      <vt:lpstr>FOEIPR+Be Vietnam Pro ExtraBold</vt:lpstr>
      <vt:lpstr>DejaVu Sans Mono</vt:lpstr>
      <vt:lpstr>Liberation Sans</vt:lpstr>
      <vt:lpstr>DejaVu Sans</vt:lpstr>
      <vt:lpstr>Calibri</vt:lpstr>
      <vt:lpstr>NPPDBE+Be Vietnam Pro ExtraBold</vt:lpstr>
      <vt:lpstr>LKIEVF+Be Vietnam Pro Medium</vt:lpstr>
      <vt:lpstr>Theme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cp:lastModifiedBy>Truong Van Dieu</cp:lastModifiedBy>
  <cp:revision>7</cp:revision>
  <dcterms:modified xsi:type="dcterms:W3CDTF">2025-10-01T05:49:38Z</dcterms:modified>
</cp:coreProperties>
</file>