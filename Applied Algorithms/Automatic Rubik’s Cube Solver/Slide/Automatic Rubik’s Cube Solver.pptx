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12192000" cy="6858000"/>
  <p:embeddedFontLst>
    <p:embeddedFont>
      <p:font typeface="QBDEJV+Be Vietnam Pro Regular" panose="020B0604020202020204" charset="0"/>
      <p:regular r:id="rId23"/>
    </p:embeddedFont>
    <p:embeddedFont>
      <p:font typeface="RFIKTE+Be Vietnam Pro Bold" panose="020B0604020202020204" charset="0"/>
      <p:regular r:id="rId24"/>
    </p:embeddedFont>
    <p:embeddedFont>
      <p:font typeface="RGGOCF+Be Vietnam Pro Regular" panose="020B0604020202020204" charset="0"/>
      <p:regular r:id="rId25"/>
    </p:embeddedFont>
    <p:embeddedFont>
      <p:font typeface="TVNKGM+Be Vietnam Pro Bold" panose="020B0604020202020204" charset="0"/>
      <p:regular r:id="rId26"/>
    </p:embeddedFont>
    <p:embeddedFont>
      <p:font typeface="VMCLLB+Be Vietnam Pro Regular" panose="020B0604020202020204" charset="0"/>
      <p:regular r:id="rId27"/>
    </p:embeddedFont>
    <p:embeddedFont>
      <p:font typeface="WOSBIN+Be Vietnam Pro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-113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23017208@st.phenikaa-uni.edu.vn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5292" y="1687588"/>
            <a:ext cx="9573583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629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Liberation Sans"/>
                <a:cs typeface="Liberation Sans"/>
              </a:rPr>
              <a:t>Gi</a:t>
            </a:r>
            <a:r>
              <a:rPr sz="5050" b="1" spc="167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5050" b="1" dirty="0">
                <a:solidFill>
                  <a:srgbClr val="FFFFFF"/>
                </a:solidFill>
                <a:latin typeface="Liberation Sans"/>
                <a:cs typeface="Liberation Sans"/>
              </a:rPr>
              <a:t>i thi</a:t>
            </a:r>
            <a:r>
              <a:rPr sz="5050" b="1" spc="167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505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505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lang="vi-VN" sz="505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5050" b="1" dirty="0" err="1">
                <a:solidFill>
                  <a:srgbClr val="FFFFFF"/>
                </a:solidFill>
                <a:latin typeface="Liberation Sans"/>
                <a:cs typeface="Liberation Sans"/>
              </a:rPr>
              <a:t>hóm</a:t>
            </a:r>
            <a:endParaRPr sz="5050" b="1" dirty="0">
              <a:solidFill>
                <a:srgbClr val="FF4500"/>
              </a:solidFill>
              <a:latin typeface="Liberation Sans"/>
              <a:cs typeface="Liberation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199" y="3160446"/>
            <a:ext cx="653330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99" dirty="0">
                <a:solidFill>
                  <a:srgbClr val="FFFFFF"/>
                </a:solidFill>
                <a:latin typeface="Liberation Sans"/>
                <a:cs typeface="Liberation Sans"/>
              </a:rPr>
              <a:t>NHÓM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85393" y="3160446"/>
            <a:ext cx="1199138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00" dirty="0">
                <a:solidFill>
                  <a:srgbClr val="FFFFFF"/>
                </a:solidFill>
                <a:latin typeface="Liberation Sans"/>
                <a:cs typeface="Liberation Sans"/>
              </a:rPr>
              <a:t>THÀNH</a:t>
            </a:r>
            <a:r>
              <a:rPr sz="1200" b="1" spc="1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spc="103" dirty="0">
                <a:solidFill>
                  <a:srgbClr val="FFFFFF"/>
                </a:solidFill>
                <a:latin typeface="Liberation Sans"/>
                <a:cs typeface="Liberation Sans"/>
              </a:rPr>
              <a:t>VIÊN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78737" y="3160446"/>
            <a:ext cx="961701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98" dirty="0">
                <a:solidFill>
                  <a:srgbClr val="FFFFFF"/>
                </a:solidFill>
                <a:latin typeface="Liberation Sans"/>
                <a:cs typeface="Liberation Sans"/>
              </a:rPr>
              <a:t>MÔN</a:t>
            </a:r>
            <a:r>
              <a:rPr sz="1200" b="1" spc="112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Liberation Sans"/>
                <a:cs typeface="Liberation Sans"/>
              </a:rPr>
              <a:t>H</a:t>
            </a:r>
            <a:r>
              <a:rPr sz="1200" b="1" spc="78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2199" y="3433757"/>
            <a:ext cx="1774028" cy="865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FFFFFF"/>
                </a:solidFill>
                <a:latin typeface="Liberation Sans"/>
                <a:cs typeface="Liberation Sans"/>
              </a:rPr>
              <a:t>Nhóm</a:t>
            </a:r>
            <a:r>
              <a:rPr sz="3000" b="1" spc="1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FFFFFF"/>
                </a:solidFill>
                <a:latin typeface="Liberation Sans"/>
                <a:cs typeface="Liberation Sans"/>
              </a:rPr>
              <a:t>11</a:t>
            </a:r>
          </a:p>
          <a:p>
            <a:pPr marL="170556" marR="0">
              <a:lnSpc>
                <a:spcPts val="1313"/>
              </a:lnSpc>
              <a:spcBef>
                <a:spcPts val="1819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Liberation Sans"/>
                <a:cs typeface="Liberation Sans"/>
              </a:rPr>
              <a:t>Thông</a:t>
            </a:r>
            <a:r>
              <a:rPr sz="1200" b="1" dirty="0">
                <a:solidFill>
                  <a:srgbClr val="FFFFFF"/>
                </a:solidFill>
                <a:latin typeface="Liberation Sans"/>
                <a:cs typeface="Liberation Sans"/>
              </a:rPr>
              <a:t> tin</a:t>
            </a:r>
            <a:r>
              <a:rPr sz="1200" b="1" spc="-1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Liberation Sans"/>
                <a:cs typeface="Liberation Sans"/>
              </a:rPr>
              <a:t>chung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85393" y="3433757"/>
            <a:ext cx="2280988" cy="895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52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3000" b="1" spc="315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3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Văn</a:t>
            </a:r>
          </a:p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7" dirty="0">
                <a:solidFill>
                  <a:srgbClr val="FFFFFF"/>
                </a:solidFill>
                <a:latin typeface="Liberation Sans"/>
                <a:cs typeface="Liberation Sans"/>
              </a:rPr>
              <a:t>Di</a:t>
            </a:r>
            <a:r>
              <a:rPr sz="3000" b="1" spc="103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78737" y="3462332"/>
            <a:ext cx="2217452" cy="952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Thu</a:t>
            </a:r>
            <a:r>
              <a:rPr sz="3000" b="1" spc="104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3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spc="-46" dirty="0">
                <a:solidFill>
                  <a:srgbClr val="FFFFFF"/>
                </a:solidFill>
                <a:latin typeface="Liberation Sans"/>
                <a:cs typeface="Liberation Sans"/>
              </a:rPr>
              <a:t>Toán</a:t>
            </a:r>
          </a:p>
          <a:p>
            <a:pPr marL="333375" marR="0">
              <a:lnSpc>
                <a:spcPts val="3378"/>
              </a:lnSpc>
              <a:spcBef>
                <a:spcPts val="446"/>
              </a:spcBef>
              <a:spcAft>
                <a:spcPts val="0"/>
              </a:spcAft>
            </a:pPr>
            <a:r>
              <a:rPr sz="3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3000" b="1" dirty="0">
                <a:solidFill>
                  <a:srgbClr val="FFFFFF"/>
                </a:solidFill>
                <a:latin typeface="Liberation Sans"/>
                <a:cs typeface="Liberation Sans"/>
              </a:rPr>
              <a:t> D</a:t>
            </a:r>
            <a:r>
              <a:rPr sz="3000" b="1" spc="1132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55950" y="4522521"/>
            <a:ext cx="1322582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34" dirty="0">
                <a:solidFill>
                  <a:srgbClr val="FFFFFF"/>
                </a:solidFill>
                <a:latin typeface="Liberation Sans"/>
                <a:cs typeface="Liberation Sans"/>
              </a:rPr>
              <a:t>MSSV:</a:t>
            </a:r>
            <a:r>
              <a:rPr sz="1200" b="1" spc="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Liberation Sans"/>
                <a:cs typeface="Liberation Sans"/>
              </a:rPr>
              <a:t>23017208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49294" y="4627296"/>
            <a:ext cx="1777601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Liberation Sans"/>
                <a:cs typeface="Liberation Sans"/>
              </a:rPr>
              <a:t>Lý</a:t>
            </a:r>
            <a:r>
              <a:rPr sz="12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thuy</a:t>
            </a:r>
            <a:r>
              <a:rPr sz="1200" b="1" spc="4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200" b="1" spc="-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sz="1200" b="1" spc="-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sz="1200" b="1" spc="4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200" b="1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Liberation Sans"/>
                <a:cs typeface="Liberation Sans"/>
              </a:rPr>
              <a:t>hành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92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13348" y="375723"/>
            <a:ext cx="3527122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8" dirty="0">
                <a:solidFill>
                  <a:srgbClr val="FFFFFF"/>
                </a:solidFill>
                <a:latin typeface="Liberation Sans"/>
                <a:cs typeface="Liberation Sans"/>
              </a:rPr>
              <a:t>I. </a:t>
            </a:r>
            <a:r>
              <a:rPr sz="3000" b="1" spc="-56" dirty="0">
                <a:solidFill>
                  <a:srgbClr val="FFFFFF"/>
                </a:solidFill>
                <a:latin typeface="Liberation Sans"/>
                <a:cs typeface="Liberation Sans"/>
              </a:rPr>
              <a:t>Gi</a:t>
            </a:r>
            <a:r>
              <a:rPr sz="3000" b="1" spc="95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3000" b="1" spc="-13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spc="-61" dirty="0">
                <a:solidFill>
                  <a:srgbClr val="FFFFFF"/>
                </a:solidFill>
                <a:latin typeface="Liberation Sans"/>
                <a:cs typeface="Liberation Sans"/>
              </a:rPr>
              <a:t>Thi</a:t>
            </a:r>
            <a:r>
              <a:rPr sz="3000" b="1" spc="95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3000" b="1" spc="-12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spc="-61" dirty="0">
                <a:solidFill>
                  <a:srgbClr val="FFFFFF"/>
                </a:solidFill>
                <a:latin typeface="Liberation Sans"/>
                <a:cs typeface="Liberation Sans"/>
              </a:rPr>
              <a:t>Chung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72742" y="878526"/>
            <a:ext cx="559868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ừ</a:t>
            </a:r>
            <a:r>
              <a:rPr sz="1500" spc="68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Câu Đ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ố</a:t>
            </a:r>
            <a:r>
              <a:rPr sz="1500" spc="27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Ph</a:t>
            </a:r>
            <a:r>
              <a:rPr sz="1500" spc="23" dirty="0">
                <a:solidFill>
                  <a:srgbClr val="E5E7EB"/>
                </a:solidFill>
                <a:latin typeface="DejaVu Sans"/>
                <a:cs typeface="DejaVu Sans"/>
              </a:rPr>
              <a:t>ứ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c</a:t>
            </a:r>
            <a:r>
              <a:rPr sz="1500" spc="-18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500" spc="-18" dirty="0">
                <a:solidFill>
                  <a:srgbClr val="E5E7E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p</a:t>
            </a:r>
            <a:r>
              <a:rPr sz="1500" spc="1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Đ</a:t>
            </a:r>
            <a:r>
              <a:rPr sz="1500" spc="-23" dirty="0">
                <a:solidFill>
                  <a:srgbClr val="E5E7EB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Gi</a:t>
            </a:r>
            <a:r>
              <a:rPr sz="1500" spc="-18" dirty="0">
                <a:solidFill>
                  <a:srgbClr val="E5E7EB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i Pháp</a:t>
            </a:r>
            <a:r>
              <a:rPr sz="1500" spc="-23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ự</a:t>
            </a:r>
            <a:r>
              <a:rPr sz="1500" spc="68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Đ</a:t>
            </a:r>
            <a:r>
              <a:rPr sz="1500" spc="-18" dirty="0">
                <a:solidFill>
                  <a:srgbClr val="E5E7EB"/>
                </a:solidFill>
                <a:latin typeface="DejaVu Sans"/>
                <a:cs typeface="DejaVu Sans"/>
              </a:rPr>
              <a:t>ộ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ng Hóa</a:t>
            </a:r>
            <a:r>
              <a:rPr sz="1500" spc="-25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E5E7EB"/>
                </a:solidFill>
                <a:latin typeface="Liberation Sans"/>
                <a:cs typeface="Liberation Sans"/>
              </a:rPr>
              <a:t>Thông Minh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81116" y="1901843"/>
            <a:ext cx="4604560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700" b="1" spc="56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l</a:t>
            </a:r>
            <a:r>
              <a:rPr sz="1700" b="1" spc="57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700" b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nghiên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c</a:t>
            </a:r>
            <a:r>
              <a:rPr sz="1700" b="1" spc="56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u: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T</a:t>
            </a:r>
            <a:r>
              <a:rPr sz="1700" b="1" spc="103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700" b="1" spc="56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hóa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&amp;</a:t>
            </a:r>
            <a:r>
              <a:rPr sz="1700" b="1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700" b="1" spc="56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1700" b="1" spc="103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50420" y="2394511"/>
            <a:ext cx="3598818" cy="773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Liberation Sans"/>
                <a:cs typeface="Liberation Sans"/>
              </a:rPr>
              <a:t>Nhu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c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ầ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Liberation Sans"/>
                <a:cs typeface="Liberation Sans"/>
              </a:rPr>
              <a:t>gi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Liberation Sans"/>
                <a:cs typeface="Liberation Sans"/>
              </a:rPr>
              <a:t>Rubik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nhanh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Liberation Sans"/>
                <a:cs typeface="Liberation Sans"/>
              </a:rPr>
              <a:t>chóng,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chính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Liberation Sans"/>
                <a:cs typeface="Liberation Sans"/>
              </a:rPr>
              <a:t>xác.</a:t>
            </a:r>
          </a:p>
          <a:p>
            <a:pPr marL="0" marR="0">
              <a:lnSpc>
                <a:spcPts val="1368"/>
              </a:lnSpc>
              <a:spcBef>
                <a:spcPts val="831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ư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hóa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b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ướ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Liberation Sans"/>
                <a:cs typeface="Liberation Sans"/>
              </a:rPr>
              <a:t>gi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 v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ớ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Liberation Sans"/>
                <a:cs typeface="Liberation Sans"/>
              </a:rPr>
              <a:t>thu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Liberation Sans"/>
                <a:cs typeface="Liberation Sans"/>
              </a:rPr>
              <a:t>toán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Kociemba.</a:t>
            </a:r>
          </a:p>
          <a:p>
            <a:pPr marL="0" marR="0">
              <a:lnSpc>
                <a:spcPts val="1368"/>
              </a:lnSpc>
              <a:spcBef>
                <a:spcPts val="806"/>
              </a:spcBef>
              <a:spcAft>
                <a:spcPts val="0"/>
              </a:spcAft>
            </a:pPr>
            <a:r>
              <a:rPr sz="1200" spc="-54" dirty="0">
                <a:solidFill>
                  <a:srgbClr val="E5E7EB"/>
                </a:solidFill>
                <a:latin typeface="DejaVu Sans"/>
                <a:cs typeface="DejaVu Sans"/>
              </a:rPr>
              <a:t>Ứ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d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ụ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Liberation Sans"/>
                <a:cs typeface="Liberation Sans"/>
              </a:rPr>
              <a:t>công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ngh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ệ</a:t>
            </a:r>
            <a:r>
              <a:rPr sz="1200" spc="37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đ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ể</a:t>
            </a:r>
            <a:r>
              <a:rPr sz="1200" spc="37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Liberation Sans"/>
                <a:cs typeface="Liberation Sans"/>
              </a:rPr>
              <a:t>gi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Liberation Sans"/>
                <a:cs typeface="Liberation Sans"/>
              </a:rPr>
              <a:t>quy</a:t>
            </a:r>
            <a:r>
              <a:rPr sz="1200" spc="11" dirty="0">
                <a:solidFill>
                  <a:srgbClr val="E5E7EB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 bài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Liberation Sans"/>
                <a:cs typeface="Liberation Sans"/>
              </a:rPr>
              <a:t>toán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t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ổ</a:t>
            </a:r>
            <a:r>
              <a:rPr sz="1200" spc="41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h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ợ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43996" y="3331653"/>
            <a:ext cx="1399280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Kociemba</a:t>
            </a:r>
            <a:r>
              <a:rPr sz="1000" b="1" spc="-3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Algorithm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46713" y="3331653"/>
            <a:ext cx="1327904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Python</a:t>
            </a:r>
            <a:r>
              <a:rPr sz="1000" b="1" spc="-3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Automation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59098" y="3863463"/>
            <a:ext cx="2083926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B</a:t>
            </a:r>
            <a:r>
              <a:rPr sz="2000" b="1" spc="65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 c</a:t>
            </a:r>
            <a:r>
              <a:rPr sz="2000" b="1" spc="65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đ</a:t>
            </a:r>
            <a:r>
              <a:rPr sz="2000" b="1" spc="128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tài: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59098" y="4206363"/>
            <a:ext cx="3450189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S</a:t>
            </a:r>
            <a:r>
              <a:rPr sz="2000" b="1" spc="128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Ph</a:t>
            </a:r>
            <a:r>
              <a:rPr sz="2000" b="1" spc="1202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Bi</a:t>
            </a:r>
            <a:r>
              <a:rPr sz="2000" b="1" spc="71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2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sz="2000" b="1" spc="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Thách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sz="2000" b="1" spc="71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81116" y="4473593"/>
            <a:ext cx="400649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1700" b="1" spc="55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700" b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tiêu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700" b="1" spc="103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tài: </a:t>
            </a:r>
            <a:r>
              <a:rPr sz="1700" b="1" spc="-15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700" b="1" spc="58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700" b="1" spc="-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qu</a:t>
            </a:r>
            <a:r>
              <a:rPr sz="1700" b="1" spc="104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sz="1700" b="1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4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1700" b="1" spc="6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700" b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quan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35248" y="4679755"/>
            <a:ext cx="358795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Bi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u t</a:t>
            </a:r>
            <a:r>
              <a:rPr sz="1350" spc="-15" dirty="0">
                <a:solidFill>
                  <a:srgbClr val="E5E7EB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ng toàn c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u c</a:t>
            </a:r>
            <a:r>
              <a:rPr sz="1350" spc="-31" dirty="0">
                <a:solidFill>
                  <a:srgbClr val="E5E7EB"/>
                </a:solidFill>
                <a:latin typeface="DejaVu Sans"/>
                <a:cs typeface="DejaVu Sans"/>
              </a:rPr>
              <a:t>ủ</a:t>
            </a: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a trí tu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ệ</a:t>
            </a:r>
            <a:r>
              <a:rPr sz="1350" spc="30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năm 1974.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35248" y="4998527"/>
            <a:ext cx="3112687" cy="26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2000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H</a:t>
            </a:r>
            <a:r>
              <a:rPr sz="2000" baseline="-52500" dirty="0">
                <a:solidFill>
                  <a:srgbClr val="E5E7EB"/>
                </a:solidFill>
                <a:latin typeface="DejaVu Sans"/>
                <a:cs typeface="DejaVu Sans"/>
              </a:rPr>
              <a:t>ơ</a:t>
            </a:r>
            <a:r>
              <a:rPr sz="2000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n</a:t>
            </a:r>
            <a:r>
              <a:rPr sz="2000" spc="-186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2000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43</a:t>
            </a:r>
            <a:r>
              <a:rPr sz="2000" spc="-182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2000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quintillion</a:t>
            </a:r>
            <a:r>
              <a:rPr sz="2000" spc="-183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2000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(10</a:t>
            </a:r>
            <a:r>
              <a:rPr sz="1000" dirty="0">
                <a:solidFill>
                  <a:srgbClr val="E5E7EB"/>
                </a:solidFill>
                <a:latin typeface="Liberation Sans"/>
                <a:cs typeface="Liberation Sans"/>
              </a:rPr>
              <a:t>18</a:t>
            </a:r>
            <a:r>
              <a:rPr sz="2000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)</a:t>
            </a:r>
            <a:r>
              <a:rPr sz="2000" spc="-184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2000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2000" baseline="-52500" dirty="0">
                <a:solidFill>
                  <a:srgbClr val="E5E7EB"/>
                </a:solidFill>
                <a:latin typeface="DejaVu Sans"/>
                <a:cs typeface="DejaVu Sans"/>
              </a:rPr>
              <a:t>ổ</a:t>
            </a:r>
            <a:r>
              <a:rPr sz="2000" spc="-127" baseline="-52500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2000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h</a:t>
            </a:r>
            <a:r>
              <a:rPr sz="2000" baseline="-52500" dirty="0">
                <a:solidFill>
                  <a:srgbClr val="E5E7EB"/>
                </a:solidFill>
                <a:latin typeface="DejaVu Sans"/>
                <a:cs typeface="DejaVu Sans"/>
              </a:rPr>
              <a:t>ợ</a:t>
            </a:r>
            <a:r>
              <a:rPr sz="2000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p</a:t>
            </a:r>
            <a:r>
              <a:rPr sz="2000" spc="-186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2000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kh</a:t>
            </a:r>
            <a:r>
              <a:rPr sz="2000" baseline="-52500" dirty="0">
                <a:solidFill>
                  <a:srgbClr val="E5E7EB"/>
                </a:solidFill>
                <a:latin typeface="DejaVu Sans"/>
                <a:cs typeface="DejaVu Sans"/>
              </a:rPr>
              <a:t>ả</a:t>
            </a:r>
            <a:r>
              <a:rPr sz="2000" spc="-129" baseline="-52500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2000" baseline="-52500" dirty="0">
                <a:solidFill>
                  <a:srgbClr val="E5E7EB"/>
                </a:solidFill>
                <a:latin typeface="Liberation Sans"/>
                <a:cs typeface="Liberation Sans"/>
              </a:rPr>
              <a:t>thi.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750420" y="4975786"/>
            <a:ext cx="3709766" cy="764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Liberation Sans"/>
                <a:cs typeface="Liberation Sans"/>
              </a:rPr>
              <a:t>Xây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d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ự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trình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Liberation Sans"/>
                <a:cs typeface="Liberation Sans"/>
              </a:rPr>
              <a:t>gi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Liberation Sans"/>
                <a:cs typeface="Liberation Sans"/>
              </a:rPr>
              <a:t>Rubik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t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ự</a:t>
            </a:r>
            <a:r>
              <a:rPr sz="1200" spc="15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ộ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hoàn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Liberation Sans"/>
                <a:cs typeface="Liberation Sans"/>
              </a:rPr>
              <a:t>ch</a:t>
            </a:r>
            <a:r>
              <a:rPr sz="1200" spc="-33" dirty="0">
                <a:solidFill>
                  <a:srgbClr val="E5E7EB"/>
                </a:solidFill>
                <a:latin typeface="DejaVu Sans"/>
                <a:cs typeface="DejaVu Sans"/>
              </a:rPr>
              <a:t>ỉ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nh.</a:t>
            </a:r>
          </a:p>
          <a:p>
            <a:pPr marL="0" marR="0">
              <a:lnSpc>
                <a:spcPts val="1368"/>
              </a:lnSpc>
              <a:spcBef>
                <a:spcPts val="756"/>
              </a:spcBef>
              <a:spcAft>
                <a:spcPts val="0"/>
              </a:spcAft>
            </a:pPr>
            <a:r>
              <a:rPr sz="1200" spc="-18" dirty="0">
                <a:solidFill>
                  <a:srgbClr val="E5E7EB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Liberation Sans"/>
                <a:cs typeface="Liberation Sans"/>
              </a:rPr>
              <a:t>hi</a:t>
            </a:r>
            <a:r>
              <a:rPr sz="1200" spc="11" dirty="0">
                <a:solidFill>
                  <a:srgbClr val="E5E7EB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Liberation Sans"/>
                <a:cs typeface="Liberation Sans"/>
              </a:rPr>
              <a:t>su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Liberation Sans"/>
                <a:cs typeface="Liberation Sans"/>
              </a:rPr>
              <a:t>cao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v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ề</a:t>
            </a:r>
            <a:r>
              <a:rPr sz="1200" spc="37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đ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ộ</a:t>
            </a:r>
            <a:r>
              <a:rPr sz="1200" spc="41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và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đ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ộ</a:t>
            </a:r>
            <a:r>
              <a:rPr sz="1200" spc="41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ư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c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ủ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a</a:t>
            </a:r>
            <a:r>
              <a:rPr sz="1200" spc="-2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l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ờ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Liberation Sans"/>
                <a:cs typeface="Liberation Sans"/>
              </a:rPr>
              <a:t>gi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i.</a:t>
            </a:r>
          </a:p>
          <a:p>
            <a:pPr marL="0" marR="0">
              <a:lnSpc>
                <a:spcPts val="1368"/>
              </a:lnSpc>
              <a:spcBef>
                <a:spcPts val="806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Liberation Sans"/>
                <a:cs typeface="Liberation Sans"/>
              </a:rPr>
              <a:t>Cung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c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p</a:t>
            </a:r>
            <a:r>
              <a:rPr sz="1200" spc="-2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Liberation Sans"/>
                <a:cs typeface="Liberation Sans"/>
              </a:rPr>
              <a:t>giao di</a:t>
            </a:r>
            <a:r>
              <a:rPr sz="1200" spc="11" dirty="0">
                <a:solidFill>
                  <a:srgbClr val="E5E7EB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E5E7EB"/>
                </a:solidFill>
                <a:latin typeface="Liberation Sans"/>
                <a:cs typeface="Liberation Sans"/>
              </a:rPr>
              <a:t> mô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ph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ỏ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3D</a:t>
            </a:r>
            <a:r>
              <a:rPr sz="1200" spc="-1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tr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ự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Liberation Sans"/>
                <a:cs typeface="Liberation Sans"/>
              </a:rPr>
              <a:t>quan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E5E7EB"/>
                </a:solidFill>
                <a:latin typeface="Liberation Sans"/>
                <a:cs typeface="Liberation Sans"/>
              </a:rPr>
              <a:t>v</a:t>
            </a:r>
            <a:r>
              <a:rPr sz="1200" spc="15" dirty="0">
                <a:solidFill>
                  <a:srgbClr val="E5E7EB"/>
                </a:solidFill>
                <a:latin typeface="DejaVu Sans"/>
                <a:cs typeface="DejaVu Sans"/>
              </a:rPr>
              <a:t>ớ</a:t>
            </a:r>
            <a:r>
              <a:rPr sz="1200" dirty="0">
                <a:solidFill>
                  <a:srgbClr val="E5E7EB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35248" y="5365555"/>
            <a:ext cx="360561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Th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thách đ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ỉ</a:t>
            </a: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nh cao v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ề</a:t>
            </a:r>
            <a:r>
              <a:rPr sz="1350" spc="30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duy logic và s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E5E7E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kiên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7541" y="5613205"/>
            <a:ext cx="58920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nh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ẫ</a:t>
            </a:r>
            <a:r>
              <a:rPr sz="1350" dirty="0">
                <a:solidFill>
                  <a:srgbClr val="E5E7EB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543996" y="5750738"/>
            <a:ext cx="758486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5E7EB"/>
                </a:solidFill>
                <a:latin typeface="Liberation Sans"/>
                <a:cs typeface="Liberation Sans"/>
              </a:rPr>
              <a:t>VPython.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92968" y="6074852"/>
            <a:ext cx="735503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Khó khăn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945332" y="6074852"/>
            <a:ext cx="705440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Ph</a:t>
            </a:r>
            <a:r>
              <a:rPr sz="1000" b="1" spc="39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c t</a:t>
            </a:r>
            <a:r>
              <a:rPr sz="1000" b="1" spc="3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43996" y="6122478"/>
            <a:ext cx="994647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000" b="1" spc="31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u su</a:t>
            </a:r>
            <a:r>
              <a:rPr sz="1000" b="1" spc="32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t cao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642198" y="6122478"/>
            <a:ext cx="1506970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-50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1000" b="1" spc="3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i nghi</a:t>
            </a:r>
            <a:r>
              <a:rPr sz="1000" b="1" spc="3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m tr</a:t>
            </a:r>
            <a:r>
              <a:rPr sz="1000" b="1" spc="39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c quan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8143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21061" y="334315"/>
            <a:ext cx="6302328" cy="526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II. </a:t>
            </a:r>
            <a:r>
              <a:rPr sz="2800" b="1" spc="-12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DejaVu Sans"/>
                <a:cs typeface="DejaVu Sans"/>
              </a:rPr>
              <a:t>Biểu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12" dirty="0">
                <a:solidFill>
                  <a:srgbClr val="FFFFFF"/>
                </a:solidFill>
                <a:latin typeface="DejaVu Sans"/>
                <a:cs typeface="DejaVu Sans"/>
              </a:rPr>
              <a:t>Bài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142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3113" y="1172045"/>
            <a:ext cx="5892565" cy="669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1.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5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tả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bài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toán: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nghĩa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trạng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</a:p>
          <a:p>
            <a:pPr marL="0" marR="0">
              <a:lnSpc>
                <a:spcPts val="2346"/>
              </a:lnSpc>
              <a:spcBef>
                <a:spcPts val="328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sz="2000" b="1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phép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DejaVu Sans"/>
                <a:cs typeface="DejaVu Sans"/>
              </a:rPr>
              <a:t>quay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8395" y="1937063"/>
            <a:ext cx="598480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  <a:r>
              <a:rPr sz="1350" spc="329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350" spc="-43" dirty="0">
                <a:solidFill>
                  <a:srgbClr val="E5E7EB"/>
                </a:solidFill>
                <a:latin typeface="DejaVu Sans"/>
                <a:cs typeface="DejaVu Sans"/>
              </a:rPr>
              <a:t>Trạng</a:t>
            </a:r>
            <a:r>
              <a:rPr sz="1350" spc="36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thái: Hơn 43 quintillion tổ hợp, xác định qua hoán vị và định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8395" y="2194238"/>
            <a:ext cx="288726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hướng của 26 khối con (cubies).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8395" y="2499038"/>
            <a:ext cx="604602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  <a:r>
              <a:rPr sz="1350" spc="329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Phép </a:t>
            </a:r>
            <a:r>
              <a:rPr sz="1350" spc="-28" dirty="0">
                <a:solidFill>
                  <a:srgbClr val="E5E7EB"/>
                </a:solidFill>
                <a:latin typeface="DejaVu Sans"/>
                <a:cs typeface="DejaVu Sans"/>
              </a:rPr>
              <a:t>quay:</a:t>
            </a:r>
            <a:r>
              <a:rPr sz="1350" spc="23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Các mặt U, R, F, D, L, B quay 90°, 180°, 270° theo chiề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78395" y="2746688"/>
            <a:ext cx="256405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kim đồng hồ hoặc ngược lại.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06388" y="3214168"/>
            <a:ext cx="127906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  <a:r>
              <a:rPr sz="1200" spc="20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43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Quintillion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16993" y="3214168"/>
            <a:ext cx="130369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  <a:r>
              <a:rPr sz="1200" spc="20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Group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Theory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52304" y="3214168"/>
            <a:ext cx="127212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  <a:r>
              <a:rPr sz="1200" spc="20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Permutations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993260" y="3667595"/>
            <a:ext cx="356622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3.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5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hình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bài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03113" y="3858095"/>
            <a:ext cx="441267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2.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ràng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buộc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điều kiện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770017" y="4118288"/>
            <a:ext cx="376416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Sử dụng cấu trúc dữ liệu chuỗi hoặc mảng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để biểu diễn 54 mặt màu của khối </a:t>
            </a:r>
            <a:r>
              <a:rPr sz="1350" spc="-15" dirty="0">
                <a:solidFill>
                  <a:srgbClr val="E5E7EB"/>
                </a:solidFill>
                <a:latin typeface="DejaVu Sans"/>
                <a:cs typeface="DejaVu Sans"/>
              </a:rPr>
              <a:t>Rubik.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584131" y="4156388"/>
            <a:ext cx="253079" cy="836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</a:p>
          <a:p>
            <a:pPr marL="0" marR="0">
              <a:lnSpc>
                <a:spcPts val="1564"/>
              </a:lnSpc>
              <a:spcBef>
                <a:spcPts val="3110"/>
              </a:spcBef>
              <a:spcAft>
                <a:spcPts val="0"/>
              </a:spcAft>
            </a:pPr>
            <a:r>
              <a:rPr sz="135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92274" y="4413563"/>
            <a:ext cx="528910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Phần cứng: PC/</a:t>
            </a:r>
            <a:r>
              <a:rPr lang="vi-VN" sz="1350" dirty="0">
                <a:solidFill>
                  <a:srgbClr val="E5E7EB"/>
                </a:solidFill>
                <a:latin typeface="DejaVu Sans"/>
                <a:cs typeface="DejaVu Sans"/>
              </a:rPr>
              <a:t>Laptop</a:t>
            </a:r>
            <a:r>
              <a:rPr sz="1350" spc="3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để xử </a:t>
            </a:r>
            <a:r>
              <a:rPr sz="1350" spc="-66" dirty="0">
                <a:solidFill>
                  <a:srgbClr val="E5E7EB"/>
                </a:solidFill>
                <a:latin typeface="DejaVu Sans"/>
                <a:cs typeface="DejaVu Sans"/>
              </a:rPr>
              <a:t>lý.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92274" y="4708838"/>
            <a:ext cx="584856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Phần </a:t>
            </a:r>
            <a:r>
              <a:rPr sz="1350" dirty="0" err="1">
                <a:solidFill>
                  <a:srgbClr val="E5E7EB"/>
                </a:solidFill>
                <a:latin typeface="DejaVu Sans"/>
                <a:cs typeface="DejaVu Sans"/>
              </a:rPr>
              <a:t>mềm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: </a:t>
            </a:r>
            <a:r>
              <a:rPr lang="vi-VN" sz="1350" dirty="0">
                <a:solidFill>
                  <a:srgbClr val="E5E7EB"/>
                </a:solidFill>
                <a:latin typeface="DejaVu Sans"/>
                <a:cs typeface="DejaVu Sans"/>
              </a:rPr>
              <a:t>Kociemba để giải và tìm chuỗi xoay rubik tối ưu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, VPython </a:t>
            </a:r>
            <a:r>
              <a:rPr sz="1350" dirty="0" err="1">
                <a:solidFill>
                  <a:srgbClr val="E5E7EB"/>
                </a:solidFill>
                <a:latin typeface="DejaVu Sans"/>
                <a:cs typeface="DejaVu Sans"/>
              </a:rPr>
              <a:t>để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dirty="0" err="1">
                <a:solidFill>
                  <a:srgbClr val="E5E7EB"/>
                </a:solidFill>
                <a:latin typeface="DejaVu Sans"/>
                <a:cs typeface="DejaVu Sans"/>
              </a:rPr>
              <a:t>mô</a:t>
            </a:r>
            <a:r>
              <a:rPr lang="vi-VN" sz="1350" dirty="0">
                <a:solidFill>
                  <a:srgbClr val="E5E7EB"/>
                </a:solidFill>
                <a:latin typeface="DejaVu Sans"/>
                <a:cs typeface="DejaVu Sans"/>
              </a:rPr>
              <a:t> p</a:t>
            </a:r>
            <a:r>
              <a:rPr sz="1350" dirty="0" err="1">
                <a:solidFill>
                  <a:srgbClr val="E5E7EB"/>
                </a:solidFill>
                <a:latin typeface="DejaVu Sans"/>
                <a:cs typeface="DejaVu Sans"/>
              </a:rPr>
              <a:t>hỏng</a:t>
            </a:r>
            <a:r>
              <a:rPr lang="vi-VN" sz="1350" dirty="0">
                <a:solidFill>
                  <a:srgbClr val="E5E7EB"/>
                </a:solidFill>
                <a:latin typeface="DejaVu Sans"/>
                <a:cs typeface="DejaVu Sans"/>
              </a:rPr>
              <a:t> 3D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770017" y="4708838"/>
            <a:ext cx="3878741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Xây dựng các hàm để mô phỏng các phép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quay, cập nhật lại trạng thái của khối </a:t>
            </a:r>
            <a:r>
              <a:rPr sz="1350" spc="-18" dirty="0">
                <a:solidFill>
                  <a:srgbClr val="E5E7EB"/>
                </a:solidFill>
                <a:latin typeface="DejaVu Sans"/>
                <a:cs typeface="DejaVu Sans"/>
              </a:rPr>
              <a:t>Rubik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sau mỗi lần </a:t>
            </a:r>
            <a:r>
              <a:rPr sz="1350" spc="-41" dirty="0">
                <a:solidFill>
                  <a:srgbClr val="E5E7EB"/>
                </a:solidFill>
                <a:latin typeface="DejaVu Sans"/>
                <a:cs typeface="DejaVu Sans"/>
              </a:rPr>
              <a:t>quay.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292274" y="5270813"/>
            <a:ext cx="5547558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dirty="0" err="1">
                <a:solidFill>
                  <a:srgbClr val="E5E7EB"/>
                </a:solidFill>
                <a:latin typeface="DejaVu Sans"/>
                <a:cs typeface="DejaVu Sans"/>
              </a:rPr>
              <a:t>Môi</a:t>
            </a:r>
            <a:r>
              <a:rPr lang="en-US" sz="1350" dirty="0">
                <a:solidFill>
                  <a:srgbClr val="E5E7EB"/>
                </a:solidFill>
                <a:latin typeface="DejaVu Sans"/>
                <a:cs typeface="DejaVu Sans"/>
              </a:rPr>
              <a:t> tr</a:t>
            </a:r>
            <a:r>
              <a:rPr lang="vi-VN" sz="1350" dirty="0">
                <a:solidFill>
                  <a:srgbClr val="E5E7EB"/>
                </a:solidFill>
                <a:latin typeface="DejaVu Sans"/>
                <a:cs typeface="DejaVu Sans"/>
              </a:rPr>
              <a:t>ư</a:t>
            </a:r>
            <a:r>
              <a:rPr lang="en-US" sz="1350" dirty="0" err="1">
                <a:solidFill>
                  <a:srgbClr val="E5E7EB"/>
                </a:solidFill>
                <a:latin typeface="DejaVu Sans"/>
                <a:cs typeface="DejaVu Sans"/>
              </a:rPr>
              <a:t>ờng</a:t>
            </a:r>
            <a:r>
              <a:rPr lang="en-US" sz="1350" dirty="0">
                <a:solidFill>
                  <a:srgbClr val="E5E7EB"/>
                </a:solidFill>
                <a:latin typeface="DejaVu Sans"/>
                <a:cs typeface="DejaVu Sans"/>
              </a:rPr>
              <a:t>: </a:t>
            </a:r>
            <a:r>
              <a:rPr lang="vi-VN" sz="1350" dirty="0">
                <a:solidFill>
                  <a:srgbClr val="E5E7EB"/>
                </a:solidFill>
                <a:latin typeface="DejaVu Sans"/>
                <a:cs typeface="DejaVu Sans"/>
              </a:rPr>
              <a:t>VS code, trình duyệt</a:t>
            </a:r>
            <a:endParaRPr sz="1350" dirty="0">
              <a:solidFill>
                <a:srgbClr val="E5E7EB"/>
              </a:solidFill>
              <a:latin typeface="DejaVu Sans"/>
              <a:cs typeface="DejaVu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2274" y="5566088"/>
            <a:ext cx="559248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Tính toán: Lỗi làm </a:t>
            </a:r>
            <a:r>
              <a:rPr sz="1350" spc="-12" dirty="0">
                <a:solidFill>
                  <a:srgbClr val="E5E7EB"/>
                </a:solidFill>
                <a:latin typeface="DejaVu Sans"/>
                <a:cs typeface="DejaVu Sans"/>
              </a:rPr>
              <a:t>tròn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 số thực đòi hỏi chuẩn hóa trạng thái sau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mỗi phép </a:t>
            </a:r>
            <a:r>
              <a:rPr sz="1350" spc="-41" dirty="0">
                <a:solidFill>
                  <a:srgbClr val="E5E7EB"/>
                </a:solidFill>
                <a:latin typeface="DejaVu Sans"/>
                <a:cs typeface="DejaVu Sans"/>
              </a:rPr>
              <a:t>quay.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770017" y="5566088"/>
            <a:ext cx="3808293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Hệ thống tọa độ (coordinate system) </a:t>
            </a:r>
            <a:r>
              <a:rPr sz="1350" spc="-10" dirty="0">
                <a:solidFill>
                  <a:srgbClr val="E5E7EB"/>
                </a:solidFill>
                <a:latin typeface="DejaVu Sans"/>
                <a:cs typeface="DejaVu Sans"/>
              </a:rPr>
              <a:t>trong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thuật toán </a:t>
            </a:r>
            <a:r>
              <a:rPr sz="1350" spc="-14" dirty="0">
                <a:solidFill>
                  <a:srgbClr val="E5E7EB"/>
                </a:solidFill>
                <a:latin typeface="DejaVu Sans"/>
                <a:cs typeface="DejaVu Sans"/>
              </a:rPr>
              <a:t>Kociemba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 để định lượng và tìm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kiếm trạng thái.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584131" y="5604188"/>
            <a:ext cx="25307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47092" y="6538393"/>
            <a:ext cx="5851407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"Kociemba's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algorithm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deﬁnes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Rubik's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Cube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states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using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speciﬁc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coordinate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ranges:"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47092" y="7043972"/>
            <a:ext cx="2170768" cy="615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Corner Orientation:</a:t>
            </a:r>
            <a:r>
              <a:rPr sz="1000" b="1" spc="-28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0-2186</a:t>
            </a:r>
          </a:p>
          <a:p>
            <a:pPr marL="0" marR="0">
              <a:lnSpc>
                <a:spcPts val="1173"/>
              </a:lnSpc>
              <a:spcBef>
                <a:spcPts val="426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UDSlice Coordinate:</a:t>
            </a:r>
            <a:r>
              <a:rPr sz="1000" b="1" spc="-28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0-494</a:t>
            </a:r>
          </a:p>
          <a:p>
            <a:pPr marL="0" marR="0">
              <a:lnSpc>
                <a:spcPts val="1173"/>
              </a:lnSpc>
              <a:spcBef>
                <a:spcPts val="501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Phase 2 Edge Perm:</a:t>
            </a:r>
            <a:r>
              <a:rPr sz="1000" b="1" spc="-30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0-40319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811934" y="7043972"/>
            <a:ext cx="2209610" cy="615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Edge Orientation:</a:t>
            </a:r>
            <a:r>
              <a:rPr sz="1000" b="1" spc="-28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0-2047</a:t>
            </a:r>
          </a:p>
          <a:p>
            <a:pPr marL="0" marR="0">
              <a:lnSpc>
                <a:spcPts val="1173"/>
              </a:lnSpc>
              <a:spcBef>
                <a:spcPts val="426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Corner Permutation:</a:t>
            </a:r>
            <a:r>
              <a:rPr sz="1000" b="1" spc="-28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0-40319</a:t>
            </a:r>
          </a:p>
          <a:p>
            <a:pPr marL="0" marR="0">
              <a:lnSpc>
                <a:spcPts val="1173"/>
              </a:lnSpc>
              <a:spcBef>
                <a:spcPts val="501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Phase 2 UDSlice:</a:t>
            </a:r>
            <a:r>
              <a:rPr sz="1000" b="1" spc="-28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0-23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820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6690" y="405517"/>
            <a:ext cx="5667426" cy="411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III. </a:t>
            </a:r>
            <a:r>
              <a:rPr sz="2800" b="1" spc="15" dirty="0">
                <a:solidFill>
                  <a:srgbClr val="FFFFFF"/>
                </a:solidFill>
                <a:latin typeface="DejaVu Sans"/>
                <a:cs typeface="DejaVu Sans"/>
              </a:rPr>
              <a:t>Nghiên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17" dirty="0">
                <a:solidFill>
                  <a:srgbClr val="FFFFFF"/>
                </a:solidFill>
                <a:latin typeface="DejaVu Sans"/>
                <a:cs typeface="DejaVu Sans"/>
              </a:rPr>
              <a:t>Cứu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12" dirty="0">
                <a:solidFill>
                  <a:srgbClr val="FFFFFF"/>
                </a:solidFill>
                <a:latin typeface="DejaVu Sans"/>
                <a:cs typeface="DejaVu Sans"/>
              </a:rPr>
              <a:t>Liên</a:t>
            </a:r>
            <a:r>
              <a:rPr sz="2800" b="1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17" dirty="0">
                <a:solidFill>
                  <a:srgbClr val="FFFFFF"/>
                </a:solidFill>
                <a:latin typeface="DejaVu Sans"/>
                <a:cs typeface="DejaVu Sans"/>
              </a:rPr>
              <a:t>Qu</a:t>
            </a:r>
            <a:r>
              <a:rPr lang="en-US" sz="2800" b="1" spc="17" dirty="0">
                <a:solidFill>
                  <a:srgbClr val="FFFFFF"/>
                </a:solidFill>
                <a:latin typeface="DejaVu Sans"/>
                <a:cs typeface="DejaVu Sans"/>
              </a:rPr>
              <a:t>an</a:t>
            </a:r>
            <a:endParaRPr sz="2800" b="1" spc="17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690" y="1248245"/>
            <a:ext cx="5124254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1.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Các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phương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pháp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giải </a:t>
            </a: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Rubik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thủ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công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phổ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biến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248245"/>
            <a:ext cx="403957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2.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FF00"/>
                </a:solidFill>
                <a:latin typeface="DejaVu Sans"/>
                <a:cs typeface="DejaVu Sans"/>
              </a:rPr>
              <a:t>Hạn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chế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khi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tự </a:t>
            </a: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động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hóa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12482" y="2145104"/>
            <a:ext cx="433883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Phức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tạp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nhận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09823" y="2449904"/>
            <a:ext cx="4059013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00"/>
                </a:solidFill>
                <a:latin typeface="DejaVu Sans"/>
                <a:cs typeface="DejaVu Sans"/>
              </a:rPr>
              <a:t>Phương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00"/>
                </a:solidFill>
                <a:latin typeface="DejaVu Sans"/>
                <a:cs typeface="DejaVu Sans"/>
              </a:rPr>
              <a:t>pháp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00"/>
                </a:solidFill>
                <a:latin typeface="DejaVu Sans"/>
                <a:cs typeface="DejaVu Sans"/>
              </a:rPr>
              <a:t>cơ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00"/>
                </a:solidFill>
                <a:latin typeface="DejaVu Sans"/>
                <a:cs typeface="DejaVu Sans"/>
              </a:rPr>
              <a:t>bản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00"/>
                </a:solidFill>
                <a:latin typeface="DejaVu Sans"/>
                <a:cs typeface="DejaVu Sans"/>
              </a:rPr>
              <a:t>(Beginner's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00"/>
                </a:solidFill>
                <a:latin typeface="DejaVu Sans"/>
                <a:cs typeface="DejaVu Sans"/>
              </a:rPr>
              <a:t>Method)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60640" y="2622863"/>
            <a:ext cx="4892023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Mắt người dễ dàng nhận diện màu sắc, nhưng máy tính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cần thuật toán phức tạp </a:t>
            </a:r>
            <a:r>
              <a:rPr sz="1350" spc="-11" dirty="0">
                <a:solidFill>
                  <a:srgbClr val="FFFFFF"/>
                </a:solidFill>
                <a:latin typeface="DejaVu Sans"/>
                <a:cs typeface="DejaVu Sans"/>
              </a:rPr>
              <a:t>(ex: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OpenCV) và điều kiện ổn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định (ánh sáng) để phân biệt chính xác từng mặt nhỏ.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2674" y="3213413"/>
            <a:ext cx="5010817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Chia nhỏ quá trình giải thành các bước đơn giản, dễ nhớ,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tập trung vào việc giải từng lớp hoặc từng phần của khối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15" dirty="0">
                <a:solidFill>
                  <a:srgbClr val="FFFFFF"/>
                </a:solidFill>
                <a:latin typeface="DejaVu Sans"/>
                <a:cs typeface="DejaVu Sans"/>
              </a:rPr>
              <a:t>Rubik.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59792" y="4185718"/>
            <a:ext cx="56508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Cross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59458" y="4185718"/>
            <a:ext cx="3346310" cy="602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F2L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8" dirty="0">
                <a:solidFill>
                  <a:srgbClr val="FFFFFF"/>
                </a:solidFill>
                <a:latin typeface="DejaVu Sans"/>
                <a:cs typeface="DejaVu Sans"/>
              </a:rPr>
              <a:t>(First</a:t>
            </a:r>
            <a:r>
              <a:rPr sz="12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4" dirty="0">
                <a:solidFill>
                  <a:srgbClr val="FFFFFF"/>
                </a:solidFill>
                <a:latin typeface="DejaVu Sans"/>
                <a:cs typeface="DejaVu Sans"/>
              </a:rPr>
              <a:t>Tw</a:t>
            </a:r>
            <a:r>
              <a:rPr sz="1200" spc="-40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Layers)</a:t>
            </a:r>
          </a:p>
          <a:p>
            <a:pPr marL="1325909" marR="0">
              <a:lnSpc>
                <a:spcPts val="1368"/>
              </a:lnSpc>
              <a:spcBef>
                <a:spcPts val="1656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PLL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(Permute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Last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Layer)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59792" y="4576243"/>
            <a:ext cx="188752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OLL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(Orient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Last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Layer)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88632" y="4596047"/>
            <a:ext cx="121135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Computer Vision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088956" y="4596047"/>
            <a:ext cx="67127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OpenCV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949034" y="4596047"/>
            <a:ext cx="117885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Light Sensitivity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12482" y="5631254"/>
            <a:ext cx="389768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Khó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đổi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logic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con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09823" y="5659829"/>
            <a:ext cx="3641514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00"/>
                </a:solidFill>
                <a:latin typeface="DejaVu Sans"/>
                <a:cs typeface="DejaVu Sans"/>
              </a:rPr>
              <a:t>Phương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00"/>
                </a:solidFill>
                <a:latin typeface="DejaVu Sans"/>
                <a:cs typeface="DejaVu Sans"/>
              </a:rPr>
              <a:t>pháp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25" dirty="0">
                <a:solidFill>
                  <a:srgbClr val="FFFF00"/>
                </a:solidFill>
                <a:latin typeface="DejaVu Sans"/>
                <a:cs typeface="DejaVu Sans"/>
              </a:rPr>
              <a:t>Fridrich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00"/>
                </a:solidFill>
                <a:latin typeface="DejaVu Sans"/>
                <a:cs typeface="DejaVu Sans"/>
              </a:rPr>
              <a:t>(CFOP)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60640" y="6109013"/>
            <a:ext cx="4846625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Các phương pháp thủ công dựa vào việc ghi nhớ chuỗi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động tác (thuật toán) và trực giác, khó chuyển đổi trực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tiếp thành lệnh điều khiển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robot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hiệu quả.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2674" y="6175688"/>
            <a:ext cx="471578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Phương pháp phổ biến cho speedcubing, sử dụng 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thuật toán và nhận diện mẫu để giải nhanh hơn.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688632" y="8082197"/>
            <a:ext cx="118560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Human Intuition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063209" y="8082197"/>
            <a:ext cx="159413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Memorized Algorithms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846319" y="8082197"/>
            <a:ext cx="102697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Robot</a:t>
            </a:r>
            <a:r>
              <a:rPr sz="1000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Control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5347" y="8832408"/>
            <a:ext cx="10885759" cy="556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37" dirty="0">
                <a:solidFill>
                  <a:srgbClr val="FFFFFF"/>
                </a:solidFill>
                <a:latin typeface="DejaVu Sans"/>
                <a:cs typeface="DejaVu Sans"/>
              </a:rPr>
              <a:t>"Trong</a:t>
            </a:r>
            <a:r>
              <a:rPr sz="1500" spc="4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khi các phương pháp thủ công là 'nghệ thuật' của người chơi, thì tự động hóa đòi hỏi cách tiếp cận 'khoa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học' hoàn toàn khác để vượt qua giới hạn vật lý và tính toán."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086873" y="9544311"/>
            <a:ext cx="4067016" cy="190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spc="12" dirty="0">
                <a:solidFill>
                  <a:srgbClr val="FFFFFF"/>
                </a:solidFill>
                <a:latin typeface="Liberation Sans"/>
                <a:cs typeface="Liberation Sans"/>
              </a:rPr>
              <a:t>Source:</a:t>
            </a:r>
            <a:r>
              <a:rPr sz="10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50" spc="11" dirty="0">
                <a:solidFill>
                  <a:srgbClr val="FFFFFF"/>
                </a:solidFill>
                <a:latin typeface="Liberation Sans"/>
                <a:cs typeface="Liberation Sans"/>
              </a:rPr>
              <a:t>kociemba.org,</a:t>
            </a:r>
            <a:r>
              <a:rPr sz="10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50" spc="10" dirty="0">
                <a:solidFill>
                  <a:srgbClr val="FFFFFF"/>
                </a:solidFill>
                <a:latin typeface="Liberation Sans"/>
                <a:cs typeface="Liberation Sans"/>
              </a:rPr>
              <a:t>python.plainenglish.io,</a:t>
            </a:r>
            <a:r>
              <a:rPr sz="10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50" spc="11" dirty="0">
                <a:solidFill>
                  <a:srgbClr val="FFFFFF"/>
                </a:solidFill>
                <a:latin typeface="Liberation Sans"/>
                <a:cs typeface="Liberation Sans"/>
              </a:rPr>
              <a:t>geeksforgeeks.org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4946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78894" y="403994"/>
            <a:ext cx="4786591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-87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  <a:r>
              <a:rPr sz="3000" b="1" spc="1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Kociemba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2819" y="1295855"/>
            <a:ext cx="2867112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Giới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thiệu: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Hai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pha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tìm</a:t>
            </a:r>
          </a:p>
          <a:p>
            <a:pPr marL="1066353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kiếm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36482" y="1295855"/>
            <a:ext cx="3000895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Nguyên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lý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 hoạt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cơ</a:t>
            </a:r>
          </a:p>
          <a:p>
            <a:pPr marL="1200001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09674" y="2103853"/>
            <a:ext cx="2651776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Do Herbert Kociemba</a:t>
            </a:r>
            <a:r>
              <a:rPr sz="12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phát triển.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2100" y="2192714"/>
            <a:ext cx="2933487" cy="888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Pha 1: Giảm trạng thái</a:t>
            </a:r>
          </a:p>
          <a:p>
            <a:pPr marL="0" marR="0">
              <a:lnSpc>
                <a:spcPts val="1368"/>
              </a:lnSpc>
              <a:spcBef>
                <a:spcPts val="341"/>
              </a:spcBef>
              <a:spcAft>
                <a:spcPts val="0"/>
              </a:spcAft>
            </a:pPr>
            <a:r>
              <a:rPr sz="1200" spc="-17" dirty="0">
                <a:solidFill>
                  <a:srgbClr val="D1D5DB"/>
                </a:solidFill>
                <a:latin typeface="DejaVu Sans"/>
                <a:cs typeface="DejaVu Sans"/>
              </a:rPr>
              <a:t>Đưa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khối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nhóm 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G1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qua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3</a:t>
            </a:r>
            <a:r>
              <a:rPr sz="1200" spc="-23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tọa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độ: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góc,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cạnh,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UDSlice.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88830" y="2503597"/>
            <a:ext cx="1676613" cy="3933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Double click to replace</a:t>
            </a:r>
          </a:p>
          <a:p>
            <a:pPr marL="0" marR="0">
              <a:lnSpc>
                <a:spcPts val="1222"/>
              </a:lnSpc>
              <a:spcBef>
                <a:spcPts val="352"/>
              </a:spcBef>
              <a:spcAft>
                <a:spcPts val="0"/>
              </a:spcAft>
            </a:pP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the image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08037" y="2580103"/>
            <a:ext cx="2340584" cy="44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Giải quyết qua hai pha riêng</a:t>
            </a:r>
          </a:p>
          <a:p>
            <a:pPr marL="0" marR="0">
              <a:lnSpc>
                <a:spcPts val="1407"/>
              </a:lnSpc>
              <a:spcBef>
                <a:spcPts val="392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biệt.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12100" y="3259514"/>
            <a:ext cx="2706682" cy="669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Pha 2: Giải quyết trong G1</a:t>
            </a:r>
          </a:p>
          <a:p>
            <a:pPr marL="0" marR="0">
              <a:lnSpc>
                <a:spcPts val="1368"/>
              </a:lnSpc>
              <a:spcBef>
                <a:spcPts val="341"/>
              </a:spcBef>
              <a:spcAft>
                <a:spcPts val="0"/>
              </a:spcAft>
            </a:pP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Tìm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lời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ưu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nhóm </a:t>
            </a:r>
            <a:r>
              <a:rPr sz="1200" spc="-17" dirty="0">
                <a:solidFill>
                  <a:srgbClr val="D1D5DB"/>
                </a:solidFill>
                <a:latin typeface="DejaVu Sans"/>
                <a:cs typeface="DejaVu Sans"/>
              </a:rPr>
              <a:t>G1,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thường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kết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quả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dưới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30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bước.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09674" y="3284954"/>
            <a:ext cx="2291701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Có sẵn các thư viện Python.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09674" y="3799304"/>
            <a:ext cx="2534303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Hướng tới giải pháp gần tối ưu.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98849" y="4705805"/>
            <a:ext cx="114938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điểm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283623" y="4705805"/>
            <a:ext cx="157447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Nhược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điểm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71574" y="5209004"/>
            <a:ext cx="3761388" cy="1617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Tốc độ nhanh: Tìm lời giải chỉ trong</a:t>
            </a:r>
            <a:r>
              <a:rPr sz="12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tích tắc.</a:t>
            </a:r>
          </a:p>
          <a:p>
            <a:pPr marL="0" marR="0">
              <a:lnSpc>
                <a:spcPts val="1407"/>
              </a:lnSpc>
              <a:spcBef>
                <a:spcPts val="2267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Hiệu quả: Giải pháp gần tối ưu (≤ 20-30 bước).</a:t>
            </a:r>
          </a:p>
          <a:p>
            <a:pPr marL="0" marR="0">
              <a:lnSpc>
                <a:spcPts val="1407"/>
              </a:lnSpc>
              <a:spcBef>
                <a:spcPts val="2267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Dễ tiếp cận: Có nhiều bản cài đặt Python.</a:t>
            </a:r>
          </a:p>
          <a:p>
            <a:pPr marL="0" marR="0">
              <a:lnSpc>
                <a:spcPts val="1407"/>
              </a:lnSpc>
              <a:spcBef>
                <a:spcPts val="2217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Ứng dụng rộng rãi trong</a:t>
            </a:r>
            <a:r>
              <a:rPr sz="12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robot giải Rubik.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968876" y="5209004"/>
            <a:ext cx="2907341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Không phải luôn tối ưu (so với Korf).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68876" y="5675729"/>
            <a:ext cx="3515116" cy="6835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Phức tạp về mặt toán học (lý thuyết nhóm).</a:t>
            </a:r>
          </a:p>
          <a:p>
            <a:pPr marL="0" marR="0">
              <a:lnSpc>
                <a:spcPts val="1407"/>
              </a:lnSpc>
              <a:spcBef>
                <a:spcPts val="2267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Phụ thuộc thư viện cho thị giác máy tính.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210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91892" y="357892"/>
            <a:ext cx="3960529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Thư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FFFFFF"/>
                </a:solidFill>
                <a:latin typeface="DejaVu Sans"/>
                <a:cs typeface="DejaVu Sans"/>
              </a:rPr>
              <a:t>viện</a:t>
            </a:r>
            <a:r>
              <a:rPr sz="3000" b="1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Vpython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5501" y="1353020"/>
            <a:ext cx="44784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Giới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thiệu </a:t>
            </a:r>
            <a:r>
              <a:rPr sz="2000" b="1" spc="15" dirty="0">
                <a:solidFill>
                  <a:srgbClr val="FFFF00"/>
                </a:solidFill>
                <a:latin typeface="DejaVu Sans"/>
                <a:cs typeface="DejaVu Sans"/>
              </a:rPr>
              <a:t>VPython: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2000" b="1" spc="15" dirty="0">
                <a:solidFill>
                  <a:srgbClr val="FFFF00"/>
                </a:solidFill>
                <a:latin typeface="DejaVu Sans"/>
                <a:cs typeface="DejaVu Sans"/>
              </a:rPr>
              <a:t>Mô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phỏng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98492" y="1353020"/>
            <a:ext cx="3922954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Vpython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trong </a:t>
            </a: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Rubik:</a:t>
            </a:r>
            <a:r>
              <a:rPr sz="20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FF00"/>
                </a:solidFill>
                <a:latin typeface="DejaVu Sans"/>
                <a:cs typeface="DejaVu Sans"/>
              </a:rPr>
              <a:t>Ứng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5501" y="1686395"/>
            <a:ext cx="54307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3D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98492" y="1686395"/>
            <a:ext cx="88349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00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05172" y="2212533"/>
            <a:ext cx="458807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Thư viện Python mạnh </a:t>
            </a:r>
            <a:r>
              <a:rPr sz="1500" spc="10" dirty="0">
                <a:solidFill>
                  <a:srgbClr val="E2E8F0"/>
                </a:solidFill>
                <a:latin typeface="DejaVu Sans"/>
                <a:cs typeface="DejaVu Sans"/>
              </a:rPr>
              <a:t>mẽ</a:t>
            </a: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 cho </a:t>
            </a:r>
            <a:r>
              <a:rPr sz="1500" b="1" spc="11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 phỏng 3D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48164" y="2212533"/>
            <a:ext cx="474461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Cung cấp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khung sườn trực quan</a:t>
            </a:r>
            <a:r>
              <a:rPr sz="1500" b="1" spc="-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để biểu diễn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6509" y="2517333"/>
            <a:ext cx="124987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tương tác</a:t>
            </a: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89501" y="2517333"/>
            <a:ext cx="1455830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Rubik's</a:t>
            </a:r>
            <a:r>
              <a:rPr sz="1500" spc="15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Cube.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05172" y="2936433"/>
            <a:ext cx="440619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Đơn giản hóa việc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trực quan hóa các khái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48164" y="2936433"/>
            <a:ext cx="4492490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1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 phỏng các bước giải</a:t>
            </a:r>
            <a:r>
              <a:rPr sz="1500" b="1" spc="-4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và thuật toán (vd: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6509" y="3241233"/>
            <a:ext cx="201374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niệm</a:t>
            </a:r>
            <a:r>
              <a:rPr sz="15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3D</a:t>
            </a:r>
            <a:r>
              <a:rPr sz="1500" b="1" spc="-3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phức tạp.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89501" y="3241233"/>
            <a:ext cx="123544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Kociemba).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05172" y="3660333"/>
            <a:ext cx="488647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Cho phép tạo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đối tượng hình học</a:t>
            </a:r>
            <a:r>
              <a:rPr sz="1500" b="1" spc="-4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và điều khiển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48164" y="3660333"/>
            <a:ext cx="463458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Giúp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hiểu cấu trúc 3D và phép hoán vị</a:t>
            </a:r>
            <a:r>
              <a:rPr sz="1500" b="1" spc="-4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của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6509" y="3965133"/>
            <a:ext cx="233177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chuyển động trực tiếp.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89501" y="3965133"/>
            <a:ext cx="121096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2E8F0"/>
                </a:solidFill>
                <a:latin typeface="DejaVu Sans"/>
                <a:cs typeface="DejaVu Sans"/>
              </a:rPr>
              <a:t>khối Rubik.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53070" y="4424597"/>
            <a:ext cx="66338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Python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562546" y="4424597"/>
            <a:ext cx="34773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3D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56358" y="4424597"/>
            <a:ext cx="93993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Interactive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596061" y="4424597"/>
            <a:ext cx="108610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Rubik's Cube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828209" y="4424597"/>
            <a:ext cx="94387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Algorithms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918078" y="4424597"/>
            <a:ext cx="108189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Visualization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418557" y="6518588"/>
            <a:ext cx="698583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Một khối </a:t>
            </a:r>
            <a:r>
              <a:rPr sz="1350" spc="-18" dirty="0">
                <a:solidFill>
                  <a:srgbClr val="CBD5E1"/>
                </a:solidFill>
                <a:latin typeface="DejaVu Sans"/>
                <a:cs typeface="DejaVu Sans"/>
              </a:rPr>
              <a:t>Rubik</a:t>
            </a:r>
            <a:r>
              <a:rPr sz="1350" spc="12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đa giác phát sáng, thể hiện khả năng mô phỏng 3D tiên tiến của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VPython </a:t>
            </a:r>
            <a:r>
              <a:rPr sz="1350" spc="-10" dirty="0">
                <a:solidFill>
                  <a:srgbClr val="CBD5E1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 bối cảnh công nghệ.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589114" y="7233718"/>
            <a:ext cx="166595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pháp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52" dirty="0">
                <a:solidFill>
                  <a:srgbClr val="FFFFFF"/>
                </a:solidFill>
                <a:latin typeface="DejaVu Sans"/>
                <a:cs typeface="DejaVu Sans"/>
              </a:rPr>
              <a:t>Trực</a:t>
            </a:r>
            <a:r>
              <a:rPr sz="1200" spc="3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614367" y="7233718"/>
            <a:ext cx="127266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Hỗ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trợ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Học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Tập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246267" y="7233718"/>
            <a:ext cx="162543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Nền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tảng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43" dirty="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1371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24014" y="394341"/>
            <a:ext cx="4305969" cy="411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58" dirty="0">
                <a:solidFill>
                  <a:srgbClr val="FFFFFF"/>
                </a:solidFill>
                <a:latin typeface="DejaVu Sans"/>
                <a:cs typeface="DejaVu Sans"/>
              </a:rPr>
              <a:t>Phân</a:t>
            </a:r>
            <a:r>
              <a:rPr sz="2800" b="1" spc="-6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62" dirty="0">
                <a:solidFill>
                  <a:srgbClr val="FFFFFF"/>
                </a:solidFill>
                <a:latin typeface="DejaVu Sans"/>
                <a:cs typeface="DejaVu Sans"/>
              </a:rPr>
              <a:t>Tích </a:t>
            </a:r>
            <a:r>
              <a:rPr sz="2800" b="1" spc="-58" dirty="0">
                <a:solidFill>
                  <a:srgbClr val="FFFFFF"/>
                </a:solidFill>
                <a:latin typeface="DejaVu Sans"/>
                <a:cs typeface="DejaVu Sans"/>
              </a:rPr>
              <a:t>Tổng</a:t>
            </a:r>
            <a:r>
              <a:rPr sz="2800" b="1" spc="-6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57" dirty="0">
                <a:solidFill>
                  <a:srgbClr val="FFFFFF"/>
                </a:solidFill>
                <a:latin typeface="DejaVu Sans"/>
                <a:cs typeface="DejaVu Sans"/>
              </a:rPr>
              <a:t>Hợp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5239" y="1848178"/>
            <a:ext cx="2711186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00"/>
                </a:solidFill>
                <a:latin typeface="DejaVu Sans"/>
                <a:cs typeface="DejaVu Sans"/>
              </a:rPr>
              <a:t>Thuật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00"/>
                </a:solidFill>
                <a:latin typeface="DejaVu Sans"/>
                <a:cs typeface="DejaVu Sans"/>
              </a:rPr>
              <a:t>toán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8" dirty="0">
                <a:solidFill>
                  <a:srgbClr val="FFFF00"/>
                </a:solidFill>
                <a:latin typeface="DejaVu Sans"/>
                <a:cs typeface="DejaVu Sans"/>
              </a:rPr>
              <a:t>Kociemba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22540" y="1848178"/>
            <a:ext cx="226757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00"/>
                </a:solidFill>
                <a:latin typeface="DejaVu Sans"/>
                <a:cs typeface="DejaVu Sans"/>
              </a:rPr>
              <a:t>Thư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00"/>
                </a:solidFill>
                <a:latin typeface="DejaVu Sans"/>
                <a:cs typeface="DejaVu Sans"/>
              </a:rPr>
              <a:t>viện</a:t>
            </a:r>
            <a:r>
              <a:rPr sz="1700" b="1" spc="-10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00"/>
                </a:solidFill>
                <a:latin typeface="DejaVu Sans"/>
                <a:cs typeface="DejaVu Sans"/>
              </a:rPr>
              <a:t>Vpython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39117" y="2221917"/>
            <a:ext cx="4773405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Tìm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kiếm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hai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pha,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đảm bảo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ngắn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(thường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&lt;</a:t>
            </a:r>
            <a:r>
              <a:rPr sz="1200" spc="-2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22).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36419" y="2221917"/>
            <a:ext cx="4759331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Cung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cấp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đồ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họa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3D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dễ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sử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phỏng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đối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tượng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vật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l</a:t>
            </a:r>
            <a:r>
              <a:rPr sz="1200" spc="-38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91" dirty="0">
                <a:solidFill>
                  <a:srgbClr val="FFFFFF"/>
                </a:solidFill>
                <a:latin typeface="DejaVu Sans"/>
                <a:cs typeface="DejaVu Sans"/>
              </a:rPr>
              <a:t>ý.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39117" y="2736267"/>
            <a:ext cx="4470964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suất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cao,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có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thể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hầu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hết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mili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giây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đến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43" dirty="0">
                <a:solidFill>
                  <a:srgbClr val="FFFFFF"/>
                </a:solidFill>
                <a:latin typeface="DejaVu Sans"/>
                <a:cs typeface="DejaVu Sans"/>
              </a:rPr>
              <a:t>giây.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36419" y="2736267"/>
            <a:ext cx="4600657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phép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ra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Rubik's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Cube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tác,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trực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phép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46" dirty="0">
                <a:solidFill>
                  <a:srgbClr val="FFFFFF"/>
                </a:solidFill>
                <a:latin typeface="DejaVu Sans"/>
                <a:cs typeface="DejaVu Sans"/>
              </a:rPr>
              <a:t>quay.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39117" y="3241092"/>
            <a:ext cx="4574738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Sử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bảng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tra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cứu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(pruning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tables)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cắt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tỉa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nhánh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tìm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kiếm,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tốc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đáng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kể.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36419" y="3241092"/>
            <a:ext cx="4641617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2" dirty="0">
                <a:solidFill>
                  <a:srgbClr val="FFFFFF"/>
                </a:solidFill>
                <a:latin typeface="DejaVu Sans"/>
                <a:cs typeface="DejaVu Sans"/>
              </a:rPr>
              <a:t>Lý</a:t>
            </a:r>
            <a:r>
              <a:rPr sz="1200" spc="99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tưởng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việc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hiển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cách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sinh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động,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giúp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dùng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dễ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theo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dõi.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66428" y="9328321"/>
            <a:ext cx="321396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Giao diện Cube Explorer của Herbert Kociemba.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360740" y="9328321"/>
            <a:ext cx="342020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Minh họa khả năng trực quan hóa 3D của Vpython.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57461" y="10030153"/>
            <a:ext cx="7141867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 err="1">
                <a:solidFill>
                  <a:srgbClr val="FFFFFF"/>
                </a:solidFill>
                <a:latin typeface="DejaVu Sans"/>
                <a:cs typeface="DejaVu Sans"/>
              </a:rPr>
              <a:t>Lựa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chọn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phương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pháp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tiếp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cận: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8" dirty="0">
                <a:solidFill>
                  <a:srgbClr val="FFFFFF"/>
                </a:solidFill>
                <a:latin typeface="DejaVu Sans"/>
                <a:cs typeface="DejaVu Sans"/>
              </a:rPr>
              <a:t>Kociemba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&amp;</a:t>
            </a:r>
            <a:r>
              <a:rPr sz="1700" b="1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Vpython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57461" y="10365792"/>
            <a:ext cx="10365836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Sự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hợp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giữa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FF4500"/>
                </a:solidFill>
                <a:latin typeface="DejaVu Sans"/>
                <a:cs typeface="DejaVu Sans"/>
              </a:rPr>
              <a:t>Kociemba</a:t>
            </a:r>
            <a:r>
              <a:rPr sz="1200" b="1" spc="-40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khả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năng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phỏng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3D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4500"/>
                </a:solidFill>
                <a:latin typeface="DejaVu Sans"/>
                <a:cs typeface="DejaVu Sans"/>
              </a:rPr>
              <a:t>Vpython</a:t>
            </a:r>
            <a:r>
              <a:rPr sz="1200" b="1" spc="-44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ra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pháp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diện: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vừa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mạnh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mẽ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về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mặt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logic,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vừa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thân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thiện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trực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dùng.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8290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33807"/>
            <a:ext cx="7344743" cy="526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179" dirty="0">
                <a:solidFill>
                  <a:srgbClr val="FFFFFF"/>
                </a:solidFill>
                <a:latin typeface="DejaVu Sans"/>
                <a:cs typeface="DejaVu Sans"/>
              </a:rPr>
              <a:t>IV.</a:t>
            </a:r>
            <a:r>
              <a:rPr sz="2800" b="1" spc="166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12" dirty="0">
                <a:solidFill>
                  <a:srgbClr val="FFFFFF"/>
                </a:solidFill>
                <a:latin typeface="DejaVu Sans"/>
                <a:cs typeface="DejaVu Sans"/>
              </a:rPr>
              <a:t>Phương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12" dirty="0">
                <a:solidFill>
                  <a:srgbClr val="FFFFFF"/>
                </a:solidFill>
                <a:latin typeface="DejaVu Sans"/>
                <a:cs typeface="DejaVu Sans"/>
              </a:rPr>
              <a:t>Pháp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DejaVu Sans"/>
                <a:cs typeface="DejaVu Sans"/>
              </a:rPr>
              <a:t>Đề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12" dirty="0">
                <a:solidFill>
                  <a:srgbClr val="FFFFFF"/>
                </a:solidFill>
                <a:latin typeface="DejaVu Sans"/>
                <a:cs typeface="DejaVu Sans"/>
              </a:rPr>
              <a:t>Xuất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4295" y="2802576"/>
            <a:ext cx="6654020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0155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00"/>
                </a:solidFill>
                <a:latin typeface="DejaVu Sans"/>
                <a:cs typeface="DejaVu Sans"/>
              </a:rPr>
              <a:t>Giải thuật &amp;</a:t>
            </a:r>
            <a:r>
              <a:rPr sz="1500" b="1" spc="14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00"/>
                </a:solidFill>
                <a:latin typeface="DejaVu Sans"/>
                <a:cs typeface="DejaVu Sans"/>
              </a:rPr>
              <a:t>Tính toán</a:t>
            </a:r>
          </a:p>
          <a:p>
            <a:pPr marL="0" marR="0">
              <a:lnSpc>
                <a:spcPts val="1760"/>
              </a:lnSpc>
              <a:spcBef>
                <a:spcPts val="214"/>
              </a:spcBef>
              <a:spcAft>
                <a:spcPts val="0"/>
              </a:spcAft>
            </a:pPr>
            <a:r>
              <a:rPr sz="1500" b="1" dirty="0">
                <a:solidFill>
                  <a:srgbClr val="FFFF00"/>
                </a:solidFill>
                <a:latin typeface="DejaVu Sans"/>
                <a:cs typeface="DejaVu Sans"/>
              </a:rPr>
              <a:t>Thu nhận &amp;</a:t>
            </a:r>
            <a:r>
              <a:rPr sz="1500" b="1" spc="14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00"/>
                </a:solidFill>
                <a:latin typeface="DejaVu Sans"/>
                <a:cs typeface="DejaVu Sans"/>
              </a:rPr>
              <a:t>Phân tích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07089" y="3059751"/>
            <a:ext cx="240264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1" dirty="0">
                <a:solidFill>
                  <a:srgbClr val="FFFF00"/>
                </a:solidFill>
                <a:latin typeface="DejaVu Sans"/>
                <a:cs typeface="DejaVu Sans"/>
              </a:rPr>
              <a:t>Mô</a:t>
            </a:r>
            <a:r>
              <a:rPr sz="1500" b="1" dirty="0">
                <a:solidFill>
                  <a:srgbClr val="FFFF00"/>
                </a:solidFill>
                <a:latin typeface="DejaVu Sans"/>
                <a:cs typeface="DejaVu Sans"/>
              </a:rPr>
              <a:t> phỏng &amp;</a:t>
            </a:r>
            <a:r>
              <a:rPr sz="1500" b="1" spc="14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00"/>
                </a:solidFill>
                <a:latin typeface="DejaVu Sans"/>
                <a:cs typeface="DejaVu Sans"/>
              </a:rPr>
              <a:t>Thực thi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87936" y="3166036"/>
            <a:ext cx="2699136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FF4500"/>
                </a:solidFill>
                <a:latin typeface="DejaVu Sans"/>
                <a:cs typeface="DejaVu Sans"/>
              </a:rPr>
              <a:t>●</a:t>
            </a:r>
            <a:r>
              <a:rPr sz="950" spc="224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ảnh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thành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chuỗi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87936" y="3394636"/>
            <a:ext cx="93414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thái.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1556" y="3423211"/>
            <a:ext cx="2676349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FF4500"/>
                </a:solidFill>
                <a:latin typeface="DejaVu Sans"/>
                <a:cs typeface="DejaVu Sans"/>
              </a:rPr>
              <a:t>●</a:t>
            </a:r>
            <a:r>
              <a:rPr sz="950" spc="224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Sử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webcam để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quét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24315" y="3423211"/>
            <a:ext cx="2658602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FF4500"/>
                </a:solidFill>
                <a:latin typeface="DejaVu Sans"/>
                <a:cs typeface="DejaVu Sans"/>
              </a:rPr>
              <a:t>●</a:t>
            </a:r>
            <a:r>
              <a:rPr sz="950" spc="224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200" spc="-52" dirty="0">
                <a:solidFill>
                  <a:srgbClr val="FFFFFF"/>
                </a:solidFill>
                <a:latin typeface="DejaVu Sans"/>
                <a:cs typeface="DejaVu Sans"/>
              </a:rPr>
              <a:t>Trực</a:t>
            </a:r>
            <a:r>
              <a:rPr sz="1200" spc="3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3D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1556" y="3642286"/>
            <a:ext cx="48610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thái.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87936" y="3642286"/>
            <a:ext cx="2819179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FF4500"/>
                </a:solidFill>
                <a:latin typeface="DejaVu Sans"/>
                <a:cs typeface="DejaVu Sans"/>
              </a:rPr>
              <a:t>●</a:t>
            </a:r>
            <a:r>
              <a:rPr sz="950" spc="224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Áp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Kociemba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hai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824315" y="3642286"/>
            <a:ext cx="9362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(VPython).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687936" y="3870886"/>
            <a:ext cx="48085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pha.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51556" y="3899461"/>
            <a:ext cx="2845935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FF4500"/>
                </a:solidFill>
                <a:latin typeface="DejaVu Sans"/>
                <a:cs typeface="DejaVu Sans"/>
              </a:rPr>
              <a:t>●</a:t>
            </a:r>
            <a:r>
              <a:rPr sz="950" spc="224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OpenCV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trích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xuất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màu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sắc,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trí.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24315" y="3899461"/>
            <a:ext cx="2896904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FF4500"/>
                </a:solidFill>
                <a:latin typeface="DejaVu Sans"/>
                <a:cs typeface="DejaVu Sans"/>
              </a:rPr>
              <a:t>●</a:t>
            </a:r>
            <a:r>
              <a:rPr sz="950" spc="224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lệnh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thành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hành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687936" y="4128061"/>
            <a:ext cx="2725768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FF4500"/>
                </a:solidFill>
                <a:latin typeface="DejaVu Sans"/>
                <a:cs typeface="DejaVu Sans"/>
              </a:rPr>
              <a:t>●</a:t>
            </a:r>
            <a:r>
              <a:rPr sz="950" spc="224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Tính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chuỗi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824315" y="4128061"/>
            <a:ext cx="61073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servo.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51556" y="4166161"/>
            <a:ext cx="2964257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FF4500"/>
                </a:solidFill>
                <a:latin typeface="DejaVu Sans"/>
                <a:cs typeface="DejaVu Sans"/>
              </a:rPr>
              <a:t>●</a:t>
            </a:r>
            <a:r>
              <a:rPr sz="950" spc="224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Xử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ảnh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chuẩn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đầu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87936" y="4347136"/>
            <a:ext cx="53927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nhất.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1556" y="4394761"/>
            <a:ext cx="47115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1" dirty="0">
                <a:solidFill>
                  <a:srgbClr val="FFFFFF"/>
                </a:solidFill>
                <a:latin typeface="DejaVu Sans"/>
                <a:cs typeface="DejaVu Sans"/>
              </a:rPr>
              <a:t>vào.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824315" y="4385236"/>
            <a:ext cx="2941926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FF4500"/>
                </a:solidFill>
                <a:latin typeface="DejaVu Sans"/>
                <a:cs typeface="DejaVu Sans"/>
              </a:rPr>
              <a:t>●</a:t>
            </a:r>
            <a:r>
              <a:rPr sz="950" spc="224" dirty="0">
                <a:solidFill>
                  <a:srgbClr val="FF4500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Điều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khiển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thực.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332659" y="4700315"/>
            <a:ext cx="1678954" cy="491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Two-Phase</a:t>
            </a:r>
            <a:r>
              <a:rPr sz="1000" b="1" spc="17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Algorithm</a:t>
            </a:r>
          </a:p>
          <a:p>
            <a:pPr marL="256728" marR="0">
              <a:lnSpc>
                <a:spcPts val="1173"/>
              </a:lnSpc>
              <a:spcBef>
                <a:spcPts val="1226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Python Solver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27943" y="4747940"/>
            <a:ext cx="134584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Computer Vision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19796" y="4747940"/>
            <a:ext cx="72384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OpenCV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193260" y="4747940"/>
            <a:ext cx="76244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VPython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0101707" y="4747940"/>
            <a:ext cx="132190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Robot Actuation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57101" y="6519589"/>
            <a:ext cx="235708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Khối Rubik</a:t>
            </a:r>
            <a:r>
              <a:rPr sz="1000" spc="1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được quét qua camera.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973144" y="6519589"/>
            <a:ext cx="267050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Cánh tay robot thực hiện các bước giải.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910137" y="6767239"/>
            <a:ext cx="252382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Logic xử lý của thuật toán Kociemba.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7994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54263" y="613544"/>
            <a:ext cx="6035777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Chi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FFFFFF"/>
                </a:solidFill>
                <a:latin typeface="DejaVu Sans"/>
                <a:cs typeface="DejaVu Sans"/>
              </a:rPr>
              <a:t>Tiết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-87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  <a:r>
              <a:rPr sz="3000" b="1" spc="1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0" dirty="0">
                <a:solidFill>
                  <a:srgbClr val="FFFFFF"/>
                </a:solidFill>
                <a:latin typeface="DejaVu Sans"/>
                <a:cs typeface="DejaVu Sans"/>
              </a:rPr>
              <a:t>(</a:t>
            </a:r>
            <a:r>
              <a:rPr sz="3000" b="1" spc="17" dirty="0">
                <a:solidFill>
                  <a:srgbClr val="FF4500"/>
                </a:solidFill>
                <a:latin typeface="DejaVu Sans"/>
                <a:cs typeface="DejaVu Sans"/>
              </a:rPr>
              <a:t>Pha</a:t>
            </a:r>
            <a:r>
              <a:rPr sz="3000" b="1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FF4500"/>
                </a:solidFill>
                <a:latin typeface="DejaVu Sans"/>
                <a:cs typeface="DejaVu Sans"/>
              </a:rPr>
              <a:t>1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1948" y="1932521"/>
            <a:ext cx="2611408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Mục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tiêu &amp;</a:t>
            </a:r>
            <a:r>
              <a:rPr sz="2000" b="1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Chiến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lược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97226" y="1932521"/>
            <a:ext cx="2342919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36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2000" b="1" spc="5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Đích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-36" dirty="0">
                <a:solidFill>
                  <a:srgbClr val="FFFFFF"/>
                </a:solidFill>
                <a:latin typeface="DejaVu Sans"/>
                <a:cs typeface="DejaVu Sans"/>
              </a:rPr>
              <a:t>Trung</a:t>
            </a:r>
            <a:r>
              <a:rPr sz="2000" b="1" spc="5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92504" y="1932521"/>
            <a:ext cx="2544536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Phép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DejaVu Sans"/>
                <a:cs typeface="DejaVu Sans"/>
              </a:rPr>
              <a:t>quay</a:t>
            </a:r>
            <a:r>
              <a:rPr sz="2000" b="1" spc="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2792789"/>
            <a:ext cx="290899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67" dirty="0">
                <a:solidFill>
                  <a:srgbClr val="FF4500"/>
                </a:solidFill>
                <a:latin typeface="DejaVu Sans"/>
                <a:cs typeface="DejaVu Sans"/>
              </a:rPr>
              <a:t>■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Chuyển đổi cube về trạng thái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32262" y="2792789"/>
            <a:ext cx="3162925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Pha 1 kết thúc khi cube đạt được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một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các trạng thái thuộc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nhóm G1, xác định bởi 3 hệ tọa độ.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36197" y="2973010"/>
            <a:ext cx="204689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Phép quay</a:t>
            </a:r>
            <a:r>
              <a:rPr sz="1500" b="1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Hợp lệ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7541" y="3049964"/>
            <a:ext cx="98823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nhóm G1.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36197" y="3336469"/>
            <a:ext cx="2717962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thay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cơ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khối.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6984" y="3430964"/>
            <a:ext cx="304869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67" dirty="0">
                <a:solidFill>
                  <a:srgbClr val="FF4500"/>
                </a:solidFill>
                <a:latin typeface="DejaVu Sans"/>
                <a:cs typeface="DejaVu Sans"/>
              </a:rPr>
              <a:t>■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Định hướng đúng tất cả các góc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07541" y="3688139"/>
            <a:ext cx="88080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và cạnh.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702819" y="3811964"/>
            <a:ext cx="2349154" cy="135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Định hướng Góc: 0-2186</a:t>
            </a:r>
          </a:p>
          <a:p>
            <a:pPr marL="0" marR="0">
              <a:lnSpc>
                <a:spcPts val="1564"/>
              </a:lnSpc>
              <a:spcBef>
                <a:spcPts val="28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Định hướng Cạnh: 0-2047</a:t>
            </a:r>
          </a:p>
          <a:p>
            <a:pPr marL="0" marR="0">
              <a:lnSpc>
                <a:spcPts val="1564"/>
              </a:lnSpc>
              <a:spcBef>
                <a:spcPts val="27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Lát cắt UDSlice: 0-494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63904" y="3866400"/>
            <a:ext cx="1073635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U, U', U2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6984" y="4069139"/>
            <a:ext cx="287011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67" dirty="0">
                <a:solidFill>
                  <a:srgbClr val="FF4500"/>
                </a:solidFill>
                <a:latin typeface="DejaVu Sans"/>
                <a:cs typeface="DejaVu Sans"/>
              </a:rPr>
              <a:t>■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Đưa các cạnh của lớp giữa (E-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863904" y="4123575"/>
            <a:ext cx="1073635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D, D', D2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07541" y="4326314"/>
            <a:ext cx="194762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slice) vào đúng vị trí.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63904" y="4380750"/>
            <a:ext cx="1585388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F2, B2, R2, L2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36984" y="4707314"/>
            <a:ext cx="3226924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67" dirty="0">
                <a:solidFill>
                  <a:srgbClr val="FF4500"/>
                </a:solidFill>
                <a:latin typeface="DejaVu Sans"/>
                <a:cs typeface="DejaVu Sans"/>
              </a:rPr>
              <a:t>■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Giảm không gian tìm kiếm từ ~43</a:t>
            </a:r>
          </a:p>
          <a:p>
            <a:pPr marL="170557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quintillion xuống ~20 tỷ trạng</a:t>
            </a:r>
          </a:p>
          <a:p>
            <a:pPr marL="170557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thái.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636197" y="5144710"/>
            <a:ext cx="278119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Phép quay</a:t>
            </a:r>
            <a:r>
              <a:rPr sz="1500" b="1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Không hợp lệ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636197" y="5508169"/>
            <a:ext cx="2663267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Thay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khối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cạnh/góc.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863904" y="6038100"/>
            <a:ext cx="1380687" cy="48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F, F', B, B'</a:t>
            </a:r>
          </a:p>
          <a:p>
            <a:pPr marL="0" marR="0">
              <a:lnSpc>
                <a:spcPts val="1522"/>
              </a:lnSpc>
              <a:spcBef>
                <a:spcPts val="502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R, R', L, L'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35533" y="6536869"/>
            <a:ext cx="1684990" cy="592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Chiến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lược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giảm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pha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Nhóm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G1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830811" y="6536869"/>
            <a:ext cx="1655102" cy="592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Hệ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tọa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Kociemba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nghĩa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G1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726089" y="6917869"/>
            <a:ext cx="150962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Quy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tắc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489601" y="7471073"/>
            <a:ext cx="359882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Nguồn: kociemba.org, Herbert Kociemba's Homepage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000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54263" y="357892"/>
            <a:ext cx="6035651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Chi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FFFFFF"/>
                </a:solidFill>
                <a:latin typeface="DejaVu Sans"/>
                <a:cs typeface="DejaVu Sans"/>
              </a:rPr>
              <a:t>Tiết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-87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  <a:r>
              <a:rPr sz="3000" b="1" spc="1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4500"/>
                </a:solidFill>
                <a:latin typeface="DejaVu Sans"/>
                <a:cs typeface="DejaVu Sans"/>
              </a:rPr>
              <a:t>(Pha</a:t>
            </a:r>
            <a:r>
              <a:rPr sz="3000" b="1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4500"/>
                </a:solidFill>
                <a:latin typeface="DejaVu Sans"/>
                <a:cs typeface="DejaVu Sans"/>
              </a:rPr>
              <a:t>2)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59098" y="1429220"/>
            <a:ext cx="419706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Mục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tiêu &amp;</a:t>
            </a:r>
            <a:r>
              <a:rPr sz="2000" b="1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Chiến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lược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44654" y="1419695"/>
            <a:ext cx="404056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phép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DejaVu Sans"/>
                <a:cs typeface="DejaVu Sans"/>
              </a:rPr>
              <a:t>quay</a:t>
            </a:r>
            <a:r>
              <a:rPr sz="2000" b="1" spc="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trong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1556" y="2070413"/>
            <a:ext cx="5195389" cy="998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Đưa khối </a:t>
            </a:r>
            <a:r>
              <a:rPr sz="1350" spc="-18" dirty="0">
                <a:solidFill>
                  <a:srgbClr val="FFFFFF"/>
                </a:solidFill>
                <a:latin typeface="DejaVu Sans"/>
                <a:cs typeface="DejaVu Sans"/>
              </a:rPr>
              <a:t>Rubik</a:t>
            </a:r>
            <a:r>
              <a:rPr sz="135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từ trạng thái nhóm G1 (Domino) về trạng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thái </a:t>
            </a:r>
            <a:r>
              <a:rPr sz="1350" dirty="0">
                <a:solidFill>
                  <a:srgbClr val="FF4500"/>
                </a:solidFill>
                <a:latin typeface="DejaVu Sans"/>
                <a:cs typeface="DejaVu Sans"/>
              </a:rPr>
              <a:t>hoàn chỉnh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. Pha này tìm kiếm chuỗi nước đi ngắn nhất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nhóm G1, chỉ sử dụng các phép quay không phá vỡ</a:t>
            </a:r>
          </a:p>
          <a:p>
            <a:pPr marL="0" marR="0">
              <a:lnSpc>
                <a:spcPts val="1564"/>
              </a:lnSpc>
              <a:spcBef>
                <a:spcPts val="46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tính chất của nhóm.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59648" y="2068904"/>
            <a:ext cx="301388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Hợp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lệ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40" dirty="0">
                <a:solidFill>
                  <a:srgbClr val="FFFFFF"/>
                </a:solidFill>
                <a:latin typeface="DejaVu Sans"/>
                <a:cs typeface="DejaVu Sans"/>
              </a:rPr>
              <a:t>(Trong</a:t>
            </a:r>
            <a:r>
              <a:rPr sz="1700" b="1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nhóm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G1)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16327" y="2451413"/>
            <a:ext cx="4176790" cy="75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4500"/>
                </a:solidFill>
                <a:latin typeface="DejaVu Sans"/>
                <a:cs typeface="DejaVu Sans"/>
              </a:rPr>
              <a:t>U, U', U2, D, D', D2:</a:t>
            </a:r>
            <a:r>
              <a:rPr sz="1350" b="1" spc="-40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Xoay mặt </a:t>
            </a:r>
            <a:r>
              <a:rPr sz="1350" spc="-12" dirty="0">
                <a:solidFill>
                  <a:srgbClr val="E5E7EB"/>
                </a:solidFill>
                <a:latin typeface="DejaVu Sans"/>
                <a:cs typeface="DejaVu Sans"/>
              </a:rPr>
              <a:t>trên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 và dưới.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b="1" dirty="0">
                <a:solidFill>
                  <a:srgbClr val="FF4500"/>
                </a:solidFill>
                <a:latin typeface="DejaVu Sans"/>
                <a:cs typeface="DejaVu Sans"/>
              </a:rPr>
              <a:t>R2, L2, F2, B2:</a:t>
            </a:r>
            <a:r>
              <a:rPr sz="1350" b="1" spc="-40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Xoay các mặt bên 180 độ.</a:t>
            </a:r>
          </a:p>
          <a:p>
            <a:pPr marL="0" marR="0">
              <a:lnSpc>
                <a:spcPts val="1368"/>
              </a:lnSpc>
              <a:spcBef>
                <a:spcPts val="641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phép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quay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này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bảo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DejaVu Sans"/>
                <a:cs typeface="DejaVu Sans"/>
              </a:rPr>
              <a:t>thái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nhóm </a:t>
            </a:r>
            <a:r>
              <a:rPr sz="1200" spc="-17" dirty="0">
                <a:solidFill>
                  <a:srgbClr val="9CA3AF"/>
                </a:solidFill>
                <a:latin typeface="DejaVu Sans"/>
                <a:cs typeface="DejaVu Sans"/>
              </a:rPr>
              <a:t>G1.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3950" y="3243497"/>
            <a:ext cx="82593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Tối ưu hóa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17612" y="3243497"/>
            <a:ext cx="76387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Giải pháp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519213" y="3243497"/>
            <a:ext cx="94699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Bảo toàn G1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959648" y="4031054"/>
            <a:ext cx="382957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hợp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lệ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40" dirty="0">
                <a:solidFill>
                  <a:srgbClr val="FFFFFF"/>
                </a:solidFill>
                <a:latin typeface="DejaVu Sans"/>
                <a:cs typeface="DejaVu Sans"/>
              </a:rPr>
              <a:t>(Trong</a:t>
            </a:r>
            <a:r>
              <a:rPr sz="1700" b="1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nhóm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G1)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59098" y="4248620"/>
            <a:ext cx="378695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36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2000" b="1" spc="5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đích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cuối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cùng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16327" y="4423088"/>
            <a:ext cx="485299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20" dirty="0">
                <a:solidFill>
                  <a:srgbClr val="FF4500"/>
                </a:solidFill>
                <a:latin typeface="DejaVu Sans"/>
                <a:cs typeface="DejaVu Sans"/>
              </a:rPr>
              <a:t>R,</a:t>
            </a:r>
            <a:r>
              <a:rPr sz="1350" b="1" spc="-25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FF4500"/>
                </a:solidFill>
                <a:latin typeface="DejaVu Sans"/>
                <a:cs typeface="DejaVu Sans"/>
              </a:rPr>
              <a:t>R', L, L', </a:t>
            </a:r>
            <a:r>
              <a:rPr sz="1350" b="1" spc="-221" dirty="0">
                <a:solidFill>
                  <a:srgbClr val="FF4500"/>
                </a:solidFill>
                <a:latin typeface="DejaVu Sans"/>
                <a:cs typeface="DejaVu Sans"/>
              </a:rPr>
              <a:t>F,</a:t>
            </a:r>
            <a:r>
              <a:rPr sz="1350" b="1" spc="216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FF4500"/>
                </a:solidFill>
                <a:latin typeface="DejaVu Sans"/>
                <a:cs typeface="DejaVu Sans"/>
              </a:rPr>
              <a:t>F', B, B':</a:t>
            </a:r>
            <a:r>
              <a:rPr sz="1350" b="1" spc="-41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Các phép </a:t>
            </a:r>
            <a:r>
              <a:rPr sz="1350" spc="-18" dirty="0">
                <a:solidFill>
                  <a:srgbClr val="E5E7EB"/>
                </a:solidFill>
                <a:latin typeface="DejaVu Sans"/>
                <a:cs typeface="DejaVu Sans"/>
              </a:rPr>
              <a:t>xoay</a:t>
            </a:r>
            <a:r>
              <a:rPr sz="1350" spc="11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90 độ của mặt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16327" y="4670738"/>
            <a:ext cx="52819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bên.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1556" y="4889813"/>
            <a:ext cx="5301876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Sau khi Pha 1 đưa khối về nhóm G1, Pha 2 có nhiệm vụ khôi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phục vị trí và định hướng cuối cùng của tất cả các mảnh,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đưa </a:t>
            </a:r>
            <a:r>
              <a:rPr sz="1350" spc="-18" dirty="0">
                <a:solidFill>
                  <a:srgbClr val="FFFFFF"/>
                </a:solidFill>
                <a:latin typeface="DejaVu Sans"/>
                <a:cs typeface="DejaVu Sans"/>
              </a:rPr>
              <a:t>Rubik</a:t>
            </a:r>
            <a:r>
              <a:rPr sz="135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về trạng thái đã giải.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816327" y="4966768"/>
            <a:ext cx="4807806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phép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quay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này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DejaVu Sans"/>
                <a:cs typeface="DejaVu Sans"/>
              </a:rPr>
              <a:t>sẽ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phá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vỡ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DejaVu Sans"/>
                <a:cs typeface="DejaVu Sans"/>
              </a:rPr>
              <a:t>cấu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DejaVu Sans"/>
                <a:cs typeface="DejaVu Sans"/>
              </a:rPr>
              <a:t>trúc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nhóm </a:t>
            </a:r>
            <a:r>
              <a:rPr sz="1200" spc="-18" dirty="0">
                <a:solidFill>
                  <a:srgbClr val="9CA3AF"/>
                </a:solidFill>
                <a:latin typeface="DejaVu Sans"/>
                <a:cs typeface="DejaVu Sans"/>
              </a:rPr>
              <a:t>G1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không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được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DejaVu Sans"/>
                <a:cs typeface="DejaVu Sans"/>
              </a:rPr>
              <a:t>sử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3950" y="5815247"/>
            <a:ext cx="139433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25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1000" spc="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thái mục tiêu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185987" y="5815247"/>
            <a:ext cx="89918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Hoàn thành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881614" y="6453423"/>
            <a:ext cx="308178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1D5DB"/>
                </a:solidFill>
                <a:latin typeface="DejaVu Sans"/>
                <a:cs typeface="DejaVu Sans"/>
              </a:rPr>
              <a:t>Nguồn: kociemba.org, Speedsolving.com Wiki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1513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06376" y="322631"/>
            <a:ext cx="7931563" cy="1002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334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179" dirty="0">
                <a:solidFill>
                  <a:srgbClr val="FFFFFF"/>
                </a:solidFill>
                <a:latin typeface="DejaVu Sans"/>
                <a:cs typeface="DejaVu Sans"/>
              </a:rPr>
              <a:t>IV.</a:t>
            </a:r>
            <a:r>
              <a:rPr sz="2800" b="1" spc="166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12" dirty="0">
                <a:solidFill>
                  <a:srgbClr val="FFFFFF"/>
                </a:solidFill>
                <a:latin typeface="DejaVu Sans"/>
                <a:cs typeface="DejaVu Sans"/>
              </a:rPr>
              <a:t>Phương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12" dirty="0">
                <a:solidFill>
                  <a:srgbClr val="FFFFFF"/>
                </a:solidFill>
                <a:latin typeface="DejaVu Sans"/>
                <a:cs typeface="DejaVu Sans"/>
              </a:rPr>
              <a:t>Pháp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DejaVu Sans"/>
                <a:cs typeface="DejaVu Sans"/>
              </a:rPr>
              <a:t>Đề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-12" dirty="0">
                <a:solidFill>
                  <a:srgbClr val="FFFFFF"/>
                </a:solidFill>
                <a:latin typeface="DejaVu Sans"/>
                <a:cs typeface="DejaVu Sans"/>
              </a:rPr>
              <a:t>Xuất</a:t>
            </a:r>
          </a:p>
          <a:p>
            <a:pPr marL="0" marR="0">
              <a:lnSpc>
                <a:spcPts val="2346"/>
              </a:lnSpc>
              <a:spcBef>
                <a:spcPts val="552"/>
              </a:spcBef>
              <a:spcAft>
                <a:spcPts val="0"/>
              </a:spcAft>
            </a:pPr>
            <a:r>
              <a:rPr sz="2000" spc="12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2000" dirty="0">
                <a:solidFill>
                  <a:srgbClr val="FFFFFF"/>
                </a:solidFill>
                <a:latin typeface="DejaVu Sans"/>
                <a:cs typeface="DejaVu Sans"/>
              </a:rPr>
              <a:t> hình </a:t>
            </a:r>
            <a:r>
              <a:rPr sz="2000" spc="10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sz="2000" dirty="0">
                <a:solidFill>
                  <a:srgbClr val="FFFFFF"/>
                </a:solidFill>
                <a:latin typeface="DejaVu Sans"/>
                <a:cs typeface="DejaVu Sans"/>
              </a:rPr>
              <a:t> trạng thái và tối </a:t>
            </a:r>
            <a:r>
              <a:rPr sz="2000" spc="10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2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sz="2000" dirty="0">
                <a:solidFill>
                  <a:srgbClr val="FFFFFF"/>
                </a:solidFill>
                <a:latin typeface="DejaVu Sans"/>
                <a:cs typeface="DejaVu Sans"/>
              </a:rPr>
              <a:t> giải </a:t>
            </a:r>
            <a:r>
              <a:rPr sz="2000" spc="10" dirty="0">
                <a:solidFill>
                  <a:srgbClr val="FFFFFF"/>
                </a:solidFill>
                <a:latin typeface="DejaVu Sans"/>
                <a:cs typeface="DejaVu Sans"/>
              </a:rPr>
              <a:t>pháp</a:t>
            </a:r>
            <a:r>
              <a:rPr sz="2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DejaVu Sans"/>
                <a:cs typeface="DejaVu Sans"/>
              </a:rPr>
              <a:t>nhanh</a:t>
            </a:r>
            <a:r>
              <a:rPr sz="2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DejaVu Sans"/>
                <a:cs typeface="DejaVu Sans"/>
              </a:rPr>
              <a:t>chóng.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75548" y="1558236"/>
            <a:ext cx="4108200" cy="80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Bảng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-85" dirty="0">
                <a:solidFill>
                  <a:srgbClr val="FFFFFF"/>
                </a:solidFill>
                <a:latin typeface="DejaVu Sans"/>
                <a:cs typeface="DejaVu Sans"/>
              </a:rPr>
              <a:t>Tra</a:t>
            </a:r>
            <a:r>
              <a:rPr sz="2500" b="1" spc="10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Cứu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FFFFFF"/>
                </a:solidFill>
                <a:latin typeface="DejaVu Sans"/>
                <a:cs typeface="DejaVu Sans"/>
              </a:rPr>
              <a:t>(Lookup</a:t>
            </a:r>
          </a:p>
          <a:p>
            <a:pPr marL="0" marR="0">
              <a:lnSpc>
                <a:spcPts val="2932"/>
              </a:lnSpc>
              <a:spcBef>
                <a:spcPts val="192"/>
              </a:spcBef>
              <a:spcAft>
                <a:spcPts val="0"/>
              </a:spcAft>
            </a:pPr>
            <a:r>
              <a:rPr sz="2500" b="1" spc="-37" dirty="0">
                <a:solidFill>
                  <a:srgbClr val="FFFFFF"/>
                </a:solidFill>
                <a:latin typeface="DejaVu Sans"/>
                <a:cs typeface="DejaVu Sans"/>
              </a:rPr>
              <a:t>Tables)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9992" y="1586811"/>
            <a:ext cx="5181174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-61" dirty="0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sz="2500" b="1" spc="7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5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-46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2500" b="1" spc="6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2968" y="2448500"/>
            <a:ext cx="4804378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Biểu diễn trạng thái vật lý của Rubik's</a:t>
            </a:r>
            <a:r>
              <a:rPr sz="1500" spc="15" dirty="0">
                <a:solidFill>
                  <a:srgbClr val="00008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Cube một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cách nội bộ.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78525" y="2791400"/>
            <a:ext cx="4871323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Cốt lõi của thuật toán Kociemba</a:t>
            </a:r>
            <a:r>
              <a:rPr sz="1500" spc="14" dirty="0">
                <a:solidFill>
                  <a:srgbClr val="00008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giúp tăng tốc độ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giải.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2968" y="3172400"/>
            <a:ext cx="4368466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Sử dụng hệ tọa độ chi tiết cho các khối góc,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cạnh, và mặt.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78525" y="3515300"/>
            <a:ext cx="4781232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Chứa các bước giải được tính toán trước cho các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tình huống cụ thể.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2968" y="3896300"/>
            <a:ext cx="4772598" cy="690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Phân pha: Giai đoạn 1</a:t>
            </a:r>
            <a:r>
              <a:rPr sz="1500" spc="10" dirty="0">
                <a:solidFill>
                  <a:srgbClr val="00008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(~2.2 x</a:t>
            </a:r>
            <a:r>
              <a:rPr sz="1500" spc="10" dirty="0">
                <a:solidFill>
                  <a:srgbClr val="00008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10⁹ trạng thái).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Phân pha: Giai đoạn 2</a:t>
            </a:r>
            <a:r>
              <a:rPr sz="1500" spc="10" dirty="0">
                <a:solidFill>
                  <a:srgbClr val="00008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(~1.95 x</a:t>
            </a:r>
            <a:r>
              <a:rPr sz="1500" spc="10" dirty="0">
                <a:solidFill>
                  <a:srgbClr val="00008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10¹⁰ trạng thái).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78525" y="4239200"/>
            <a:ext cx="4720680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Giảm đáng kể thời gian xử lý bằng cách tra cứu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nhanh.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92968" y="4753550"/>
            <a:ext cx="4807185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Ví dụ: Chuỗi </a:t>
            </a:r>
            <a:r>
              <a:rPr sz="1500" spc="-46" dirty="0">
                <a:solidFill>
                  <a:srgbClr val="00008B"/>
                </a:solidFill>
                <a:latin typeface="DejaVu Sans"/>
                <a:cs typeface="DejaVu Sans"/>
              </a:rPr>
              <a:t>ký</a:t>
            </a:r>
            <a:r>
              <a:rPr sz="1500" spc="57" dirty="0">
                <a:solidFill>
                  <a:srgbClr val="00008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tự (cubestring) hoặc cấu trúc đối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tượng Python.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97575" y="4982150"/>
            <a:ext cx="4869716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Các loại: Bảng cắt tỉa (pruning tables) và bảng di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chuyển (move tables).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78525" y="5725100"/>
            <a:ext cx="4289916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Ví dụ: Bảng `GetEdge8Perm` có kích thước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11880 x</a:t>
            </a:r>
            <a:r>
              <a:rPr sz="1500" spc="10" dirty="0">
                <a:solidFill>
                  <a:srgbClr val="00008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B"/>
                </a:solidFill>
                <a:latin typeface="DejaVu Sans"/>
                <a:cs typeface="DejaVu Sans"/>
              </a:rPr>
              <a:t>24.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143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19053" y="405517"/>
            <a:ext cx="5106085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Phân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FFFFFF"/>
                </a:solidFill>
                <a:latin typeface="DejaVu Sans"/>
                <a:cs typeface="DejaVu Sans"/>
              </a:rPr>
              <a:t>Tích</a:t>
            </a:r>
            <a:r>
              <a:rPr sz="3000" b="1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20" dirty="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Phức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Tạp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45767" y="964004"/>
            <a:ext cx="625263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Hiểu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44" dirty="0">
                <a:solidFill>
                  <a:srgbClr val="FFFFFF"/>
                </a:solidFill>
                <a:latin typeface="DejaVu Sans"/>
                <a:cs typeface="DejaVu Sans"/>
              </a:rPr>
              <a:t>rõ</a:t>
            </a:r>
            <a:r>
              <a:rPr sz="1700" spc="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suất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tài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nguyên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DejaVu Sans"/>
                <a:cs typeface="DejaVu Sans"/>
              </a:rPr>
              <a:t>Kociemba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9766" y="1810220"/>
            <a:ext cx="370084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phức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tạp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về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gian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44617" y="1810220"/>
            <a:ext cx="4108898" cy="877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45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phức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tạp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về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gian</a:t>
            </a:r>
          </a:p>
          <a:p>
            <a:pPr marL="0" marR="0">
              <a:lnSpc>
                <a:spcPts val="1564"/>
              </a:lnSpc>
              <a:spcBef>
                <a:spcPts val="2702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Cấu trúc thuật toán hai pha tối ưu bộ nhớ.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7315" y="2451413"/>
            <a:ext cx="4022438" cy="798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Giải </a:t>
            </a:r>
            <a:r>
              <a:rPr sz="1350" spc="-14" dirty="0">
                <a:solidFill>
                  <a:srgbClr val="FFFFFF"/>
                </a:solidFill>
                <a:latin typeface="DejaVu Sans"/>
                <a:cs typeface="DejaVu Sans"/>
              </a:rPr>
              <a:t>Rubik's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Cube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phần giây (software).</a:t>
            </a:r>
          </a:p>
          <a:p>
            <a:pPr marL="0" marR="0">
              <a:lnSpc>
                <a:spcPts val="1564"/>
              </a:lnSpc>
              <a:spcBef>
                <a:spcPts val="28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Đảm bảo giải pháp tối ưu, tối đa 30 nước đi.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44617" y="3013388"/>
            <a:ext cx="451380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Hệ tọa độ biểu diễn trạng thái khối </a:t>
            </a:r>
            <a:r>
              <a:rPr sz="1350" spc="-18" dirty="0">
                <a:solidFill>
                  <a:srgbClr val="FFFFFF"/>
                </a:solidFill>
                <a:latin typeface="DejaVu Sans"/>
                <a:cs typeface="DejaVu Sans"/>
              </a:rPr>
              <a:t>Rubik</a:t>
            </a:r>
            <a:r>
              <a:rPr sz="135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hiệu quả.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47315" y="3565838"/>
            <a:ext cx="426574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Robot</a:t>
            </a:r>
            <a:r>
              <a:rPr sz="1350" spc="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Solver: Đạt 180ms (bao gồm thị giác máy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tính).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44617" y="3565838"/>
            <a:ext cx="4236689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Sử dụng bảng cắt tỉa (pruning tables) để lưu trữ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trạng thái.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47315" y="4375463"/>
            <a:ext cx="424801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Thực tế: Thường 17-18 nước đi cho các xáo trộn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điển hình.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944617" y="4375463"/>
            <a:ext cx="363383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62" dirty="0">
                <a:solidFill>
                  <a:srgbClr val="FFFFFF"/>
                </a:solidFill>
                <a:latin typeface="DejaVu Sans"/>
                <a:cs typeface="DejaVu Sans"/>
              </a:rPr>
              <a:t>Yêu</a:t>
            </a:r>
            <a:r>
              <a:rPr sz="1350" spc="56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cầu thư viện như OpenCV và </a:t>
            </a:r>
            <a:r>
              <a:rPr sz="1350" spc="-36" dirty="0">
                <a:solidFill>
                  <a:srgbClr val="FFFFFF"/>
                </a:solidFill>
                <a:latin typeface="DejaVu Sans"/>
                <a:cs typeface="DejaVu Sans"/>
              </a:rPr>
              <a:t>NumPy.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2674" y="7125170"/>
            <a:ext cx="424705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So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sánh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hiệu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quả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91331" y="7641783"/>
            <a:ext cx="4799326" cy="86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4500"/>
                </a:solidFill>
                <a:latin typeface="DejaVu Sans"/>
                <a:cs typeface="DejaVu Sans"/>
              </a:rPr>
              <a:t>"Kociemba's</a:t>
            </a:r>
            <a:r>
              <a:rPr sz="1500" spc="10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4500"/>
                </a:solidFill>
                <a:latin typeface="DejaVu Sans"/>
                <a:cs typeface="DejaVu Sans"/>
              </a:rPr>
              <a:t>algorithm vượt trội hơn </a:t>
            </a:r>
            <a:r>
              <a:rPr sz="1500" spc="-10" dirty="0">
                <a:solidFill>
                  <a:srgbClr val="FF4500"/>
                </a:solidFill>
                <a:latin typeface="DejaVu Sans"/>
                <a:cs typeface="DejaVu Sans"/>
              </a:rPr>
              <a:t>Korf's</a:t>
            </a:r>
            <a:r>
              <a:rPr sz="1500" spc="18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4500"/>
                </a:solidFill>
                <a:latin typeface="DejaVu Sans"/>
                <a:cs typeface="DejaVu Sans"/>
              </a:rPr>
              <a:t>nhờ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FF4500"/>
                </a:solidFill>
                <a:latin typeface="DejaVu Sans"/>
                <a:cs typeface="DejaVu Sans"/>
              </a:rPr>
              <a:t>khai thác đối xứng, giảm kích thước bảng cắt tỉa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F4500"/>
                </a:solidFill>
                <a:latin typeface="DejaVu Sans"/>
                <a:cs typeface="DejaVu Sans"/>
              </a:rPr>
              <a:t>và tăng tốc độ tìm</a:t>
            </a:r>
            <a:r>
              <a:rPr sz="1500" spc="10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4500"/>
                </a:solidFill>
                <a:latin typeface="DejaVu Sans"/>
                <a:cs typeface="DejaVu Sans"/>
              </a:rPr>
              <a:t>kiếm."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070079" y="8107754"/>
            <a:ext cx="400143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8" dirty="0">
                <a:solidFill>
                  <a:srgbClr val="FFFFFF"/>
                </a:solidFill>
                <a:latin typeface="DejaVu Sans"/>
                <a:cs typeface="DejaVu Sans"/>
              </a:rPr>
              <a:t>Kociemba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09215" y="8785538"/>
            <a:ext cx="398776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Hiệu quả hơn các phương pháp giải thủ công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(Beginner, CFOP) về số nước đi.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209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6690" y="422840"/>
            <a:ext cx="4801458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1" dirty="0">
                <a:solidFill>
                  <a:srgbClr val="FFFFFF"/>
                </a:solidFill>
                <a:latin typeface="Liberation Sans"/>
                <a:cs typeface="Liberation Sans"/>
              </a:rPr>
              <a:t>Tính</a:t>
            </a:r>
            <a:r>
              <a:rPr sz="3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Liberation Sans"/>
                <a:cs typeface="Liberation Sans"/>
              </a:rPr>
              <a:t>Đúng</a:t>
            </a:r>
            <a:r>
              <a:rPr sz="3000" b="1" dirty="0">
                <a:solidFill>
                  <a:srgbClr val="FFFFFF"/>
                </a:solidFill>
                <a:latin typeface="Liberation Sans"/>
                <a:cs typeface="Liberation Sans"/>
              </a:rPr>
              <a:t> Đ</a:t>
            </a:r>
            <a:r>
              <a:rPr sz="3000" b="1" spc="105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3000" b="1" spc="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FFFFFF"/>
                </a:solidFill>
                <a:latin typeface="Liberation Sans"/>
                <a:cs typeface="Liberation Sans"/>
              </a:rPr>
              <a:t>và</a:t>
            </a:r>
            <a:r>
              <a:rPr sz="3000" b="1" dirty="0">
                <a:solidFill>
                  <a:srgbClr val="FFFFFF"/>
                </a:solidFill>
                <a:latin typeface="Liberation Sans"/>
                <a:cs typeface="Liberation Sans"/>
              </a:rPr>
              <a:t> T</a:t>
            </a:r>
            <a:r>
              <a:rPr sz="3000" b="1" spc="105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3000" b="1" spc="263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0774" y="1681729"/>
            <a:ext cx="4378023" cy="667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Liberation Sans"/>
                <a:cs typeface="Liberation Sans"/>
              </a:rPr>
              <a:t>Gi</a:t>
            </a:r>
            <a:r>
              <a:rPr sz="2000" b="1" spc="63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 pháp đáng tin c</a:t>
            </a:r>
            <a:r>
              <a:rPr sz="2000" b="1" spc="65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y: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Thu</a:t>
            </a:r>
            <a:r>
              <a:rPr sz="2000" b="1" spc="64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toán</a:t>
            </a:r>
          </a:p>
          <a:p>
            <a:pPr marL="0" marR="0">
              <a:lnSpc>
                <a:spcPts val="2252"/>
              </a:lnSpc>
              <a:spcBef>
                <a:spcPts val="447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Kociemba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79976" y="1681729"/>
            <a:ext cx="339120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00"/>
                </a:solidFill>
                <a:latin typeface="Liberation Sans"/>
                <a:cs typeface="Liberation Sans"/>
              </a:rPr>
              <a:t>Đ</a:t>
            </a:r>
            <a:r>
              <a:rPr sz="2000" b="1" spc="655" dirty="0">
                <a:solidFill>
                  <a:srgbClr val="FFFF0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00"/>
                </a:solidFill>
                <a:latin typeface="Liberation Sans"/>
                <a:cs typeface="Liberation Sans"/>
              </a:rPr>
              <a:t>t</a:t>
            </a:r>
            <a:r>
              <a:rPr sz="2000" b="1" spc="10" dirty="0">
                <a:solidFill>
                  <a:srgbClr val="FFFF0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00"/>
                </a:solidFill>
                <a:latin typeface="Liberation Sans"/>
                <a:cs typeface="Liberation Sans"/>
              </a:rPr>
              <a:t>đ</a:t>
            </a:r>
            <a:r>
              <a:rPr sz="2000" b="1" spc="1929" dirty="0">
                <a:solidFill>
                  <a:srgbClr val="FFFF0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00"/>
                </a:solidFill>
                <a:latin typeface="Liberation Sans"/>
                <a:cs typeface="Liberation Sans"/>
              </a:rPr>
              <a:t>c</a:t>
            </a:r>
            <a:r>
              <a:rPr sz="2000" b="1" spc="12" dirty="0">
                <a:solidFill>
                  <a:srgbClr val="FFFF0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00"/>
                </a:solidFill>
                <a:latin typeface="Liberation Sans"/>
                <a:cs typeface="Liberation Sans"/>
              </a:rPr>
              <a:t>s</a:t>
            </a:r>
            <a:r>
              <a:rPr sz="2000" b="1" spc="1213" dirty="0">
                <a:solidFill>
                  <a:srgbClr val="FFFF0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00"/>
                </a:solidFill>
                <a:latin typeface="Liberation Sans"/>
                <a:cs typeface="Liberation Sans"/>
              </a:rPr>
              <a:t>b</a:t>
            </a:r>
            <a:r>
              <a:rPr sz="2000" b="1" spc="1929" dirty="0">
                <a:solidFill>
                  <a:srgbClr val="FFFF0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00"/>
                </a:solidFill>
                <a:latin typeface="Liberation Sans"/>
                <a:cs typeface="Liberation Sans"/>
              </a:rPr>
              <a:t>c</a:t>
            </a:r>
            <a:r>
              <a:rPr sz="2000" b="1" spc="12" dirty="0">
                <a:solidFill>
                  <a:srgbClr val="FFFF0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00"/>
                </a:solidFill>
                <a:latin typeface="Liberation Sans"/>
                <a:cs typeface="Liberation Sans"/>
              </a:rPr>
              <a:t>t</a:t>
            </a:r>
            <a:r>
              <a:rPr sz="2000" b="1" spc="650" dirty="0">
                <a:solidFill>
                  <a:srgbClr val="FFFF0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00"/>
                </a:solidFill>
                <a:latin typeface="Liberation Sans"/>
                <a:cs typeface="Liberation Sans"/>
              </a:rPr>
              <a:t>i thi</a:t>
            </a:r>
            <a:r>
              <a:rPr sz="2000" b="1" spc="715" dirty="0">
                <a:solidFill>
                  <a:srgbClr val="FFFF0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00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36567" y="2201992"/>
            <a:ext cx="4141522" cy="1118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Tìm l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ờ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gi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g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</a:t>
            </a:r>
            <a:r>
              <a:rPr sz="1500" spc="23" dirty="0">
                <a:solidFill>
                  <a:srgbClr val="FFFFFF"/>
                </a:solidFill>
                <a:latin typeface="DejaVu Sans"/>
                <a:cs typeface="DejaVu Sans"/>
              </a:rPr>
              <a:t>ư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(God's Number).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Các gi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pháp th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ườ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ng dài 20 b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ướ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c ho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ặ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c ít h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ơ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n.</a:t>
            </a:r>
          </a:p>
          <a:p>
            <a:pPr marL="0" marR="0">
              <a:lnSpc>
                <a:spcPts val="1760"/>
              </a:lnSpc>
              <a:spcBef>
                <a:spcPts val="161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~94% l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ờ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gi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có 17 ho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ặ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c 18 b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ướ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7366" y="2544892"/>
            <a:ext cx="4707627" cy="1547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Gi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pháp toàn di</a:t>
            </a:r>
            <a:r>
              <a:rPr sz="1500" spc="-23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cho Kh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Rubik 3x3.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1500" spc="12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b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o</a:t>
            </a:r>
            <a:r>
              <a:rPr sz="1500" spc="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luôn tìm</a:t>
            </a:r>
            <a:r>
              <a:rPr sz="1500" spc="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ượ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c l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ờ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gi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trong </a:t>
            </a:r>
            <a:r>
              <a:rPr sz="1500" spc="10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ọ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tr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ườ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ng h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p.</a:t>
            </a:r>
          </a:p>
          <a:p>
            <a:pPr marL="0" marR="0">
              <a:lnSpc>
                <a:spcPts val="1760"/>
              </a:lnSpc>
              <a:spcBef>
                <a:spcPts val="161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S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500" spc="68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500" spc="23" dirty="0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ng ph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ươ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ng pháp hai pha hi</a:t>
            </a:r>
            <a:r>
              <a:rPr sz="1500" spc="-23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qu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.</a:t>
            </a:r>
          </a:p>
          <a:p>
            <a:pPr marL="0" marR="0">
              <a:lnSpc>
                <a:spcPts val="1760"/>
              </a:lnSpc>
              <a:spcBef>
                <a:spcPts val="161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Gi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quy</a:t>
            </a:r>
            <a:r>
              <a:rPr sz="1500" spc="-23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t h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ơ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43 quintillion t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ổ</a:t>
            </a:r>
            <a:r>
              <a:rPr sz="1500" spc="2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h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p</a:t>
            </a:r>
            <a:r>
              <a:rPr sz="1500" spc="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có th</a:t>
            </a:r>
            <a:r>
              <a:rPr sz="1500" spc="-23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36567" y="3487867"/>
            <a:ext cx="313545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500" spc="-23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qu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cao, gi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i trong ph</a:t>
            </a:r>
            <a:r>
              <a:rPr sz="1500" spc="-18" dirty="0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spc="-23" dirty="0">
                <a:solidFill>
                  <a:srgbClr val="FFFFFF"/>
                </a:solidFill>
                <a:latin typeface="Liberation Sans"/>
                <a:cs typeface="Liberation Sans"/>
              </a:rPr>
              <a:t>giây.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65254" y="3978844"/>
            <a:ext cx="757162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Liberation Sans"/>
                <a:cs typeface="Liberation Sans"/>
              </a:rPr>
              <a:t>Efficiency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25778" y="3978844"/>
            <a:ext cx="1012987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Optimal Paths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29431" y="4283379"/>
            <a:ext cx="3817967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-11" dirty="0">
                <a:solidFill>
                  <a:srgbClr val="D1D5DB"/>
                </a:solidFill>
                <a:latin typeface="Liberation Sans"/>
                <a:cs typeface="Liberation Sans"/>
              </a:rPr>
              <a:t>"Through</a:t>
            </a:r>
            <a:r>
              <a:rPr sz="1200" i="1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200" i="1" spc="-10" dirty="0">
                <a:solidFill>
                  <a:srgbClr val="D1D5DB"/>
                </a:solidFill>
                <a:latin typeface="Liberation Sans"/>
                <a:cs typeface="Liberation Sans"/>
              </a:rPr>
              <a:t>the </a:t>
            </a:r>
            <a:r>
              <a:rPr sz="1200" i="1" spc="-15" dirty="0">
                <a:solidFill>
                  <a:srgbClr val="D1D5DB"/>
                </a:solidFill>
                <a:latin typeface="Liberation Sans"/>
                <a:cs typeface="Liberation Sans"/>
              </a:rPr>
              <a:t>power</a:t>
            </a:r>
            <a:r>
              <a:rPr sz="1200" i="1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D1D5DB"/>
                </a:solidFill>
                <a:latin typeface="Liberation Sans"/>
                <a:cs typeface="Liberation Sans"/>
              </a:rPr>
              <a:t>of</a:t>
            </a:r>
            <a:r>
              <a:rPr sz="1200" i="1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200" i="1" spc="-10" dirty="0">
                <a:solidFill>
                  <a:srgbClr val="D1D5DB"/>
                </a:solidFill>
                <a:latin typeface="Liberation Sans"/>
                <a:cs typeface="Liberation Sans"/>
              </a:rPr>
              <a:t>algorithms,</a:t>
            </a:r>
            <a:r>
              <a:rPr sz="1200" i="1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200" i="1" spc="-12" dirty="0">
                <a:solidFill>
                  <a:srgbClr val="D1D5DB"/>
                </a:solidFill>
                <a:latin typeface="Liberation Sans"/>
                <a:cs typeface="Liberation Sans"/>
              </a:rPr>
              <a:t>anyone</a:t>
            </a:r>
            <a:r>
              <a:rPr sz="1200" i="1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200" i="1" spc="-12" dirty="0">
                <a:solidFill>
                  <a:srgbClr val="D1D5DB"/>
                </a:solidFill>
                <a:latin typeface="Liberation Sans"/>
                <a:cs typeface="Liberation Sans"/>
              </a:rPr>
              <a:t>can</a:t>
            </a:r>
            <a:r>
              <a:rPr sz="1200" i="1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200" i="1" spc="-11" dirty="0">
                <a:solidFill>
                  <a:srgbClr val="D1D5DB"/>
                </a:solidFill>
                <a:latin typeface="Liberation Sans"/>
                <a:cs typeface="Liberation Sans"/>
              </a:rPr>
              <a:t>crack</a:t>
            </a:r>
            <a:r>
              <a:rPr sz="1200" i="1" dirty="0">
                <a:solidFill>
                  <a:srgbClr val="D1D5DB"/>
                </a:solidFill>
                <a:latin typeface="Liberation Sans"/>
                <a:cs typeface="Liberation Sans"/>
              </a:rPr>
              <a:t> it."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29431" y="4492929"/>
            <a:ext cx="2746745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—</a:t>
            </a:r>
            <a:r>
              <a:rPr sz="1200" spc="-31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Liberation Sans"/>
                <a:cs typeface="Liberation Sans"/>
              </a:rPr>
              <a:t>Rubik’s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Liberation Sans"/>
                <a:cs typeface="Liberation Sans"/>
              </a:rPr>
              <a:t>Cube: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Liberation Sans"/>
                <a:cs typeface="Liberation Sans"/>
              </a:rPr>
              <a:t>Beyond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Liberation Sans"/>
                <a:cs typeface="Liberation Sans"/>
              </a:rPr>
              <a:t>Just</a:t>
            </a:r>
            <a:r>
              <a:rPr sz="1200" dirty="0">
                <a:solidFill>
                  <a:srgbClr val="9CA3AF"/>
                </a:solidFill>
                <a:latin typeface="Liberation Sans"/>
                <a:cs typeface="Liberation Sans"/>
              </a:rPr>
              <a:t> a</a:t>
            </a:r>
            <a:r>
              <a:rPr sz="1200" spc="-2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Liberation Sans"/>
                <a:cs typeface="Liberation Sans"/>
              </a:rPr>
              <a:t>Puzzle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06053" y="4912294"/>
            <a:ext cx="756850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Liberation Sans"/>
                <a:cs typeface="Liberation Sans"/>
              </a:rPr>
              <a:t>Algorithm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66279" y="4912294"/>
            <a:ext cx="757100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Reliability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79772" y="5825634"/>
            <a:ext cx="348579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Nguyên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lý</a:t>
            </a:r>
            <a:r>
              <a:rPr sz="17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 hai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pha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c</a:t>
            </a:r>
            <a:r>
              <a:rPr sz="1700" b="1" spc="56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a</a:t>
            </a:r>
            <a:r>
              <a:rPr sz="1700" b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Kociemba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07479" y="6127047"/>
            <a:ext cx="527519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4500"/>
                </a:solidFill>
                <a:latin typeface="Liberation Sans"/>
                <a:cs typeface="Liberation Sans"/>
              </a:rPr>
              <a:t>•</a:t>
            </a:r>
            <a:r>
              <a:rPr sz="1350" b="1" spc="-40" dirty="0">
                <a:solidFill>
                  <a:srgbClr val="FF450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Giai đo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 1: Đ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a kh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 l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p ph</a:t>
            </a:r>
            <a:r>
              <a:rPr sz="1350" spc="-15" dirty="0">
                <a:solidFill>
                  <a:srgbClr val="FFFFFF"/>
                </a:solidFill>
                <a:latin typeface="DejaVu Sans"/>
                <a:cs typeface="DejaVu Sans"/>
              </a:rPr>
              <a:t>ươ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v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ề</a:t>
            </a:r>
            <a:r>
              <a:rPr sz="13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thái trung gian 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ễ</a:t>
            </a:r>
            <a:r>
              <a:rPr sz="13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gi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07479" y="6374697"/>
            <a:ext cx="536841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4500"/>
                </a:solidFill>
                <a:latin typeface="Liberation Sans"/>
                <a:cs typeface="Liberation Sans"/>
              </a:rPr>
              <a:t>•</a:t>
            </a:r>
            <a:r>
              <a:rPr sz="1350" b="1" spc="-40" dirty="0">
                <a:solidFill>
                  <a:srgbClr val="FF450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Giai đo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 2: Gi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 t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thái trung gian đ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 tr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thái hoàn ch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ỉ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nh.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565504" y="6871506"/>
            <a:ext cx="352278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Liberation Sans"/>
                <a:cs typeface="Liberation Sans"/>
              </a:rPr>
              <a:t>*Ngu</a:t>
            </a:r>
            <a:r>
              <a:rPr sz="1000" spc="-11" dirty="0">
                <a:solidFill>
                  <a:srgbClr val="9CA3AF"/>
                </a:solidFill>
                <a:latin typeface="DejaVu Sans"/>
                <a:cs typeface="DejaVu Sans"/>
              </a:rPr>
              <a:t>ồ</a:t>
            </a:r>
            <a:r>
              <a:rPr sz="1000" dirty="0">
                <a:solidFill>
                  <a:srgbClr val="9CA3AF"/>
                </a:solidFill>
                <a:latin typeface="Liberation Sans"/>
                <a:cs typeface="Liberation Sans"/>
              </a:rPr>
              <a:t>n: kociemba.org, python.plainenglish.io, Instructables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14866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7385"/>
            <a:ext cx="4053147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Lược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20" dirty="0">
                <a:solidFill>
                  <a:srgbClr val="FFFFFF"/>
                </a:solidFill>
                <a:latin typeface="DejaVu Sans"/>
                <a:cs typeface="DejaVu Sans"/>
              </a:rPr>
              <a:t>Đồ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Minh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FFFFFF"/>
                </a:solidFill>
                <a:latin typeface="DejaVu Sans"/>
                <a:cs typeface="DejaVu Sans"/>
              </a:rPr>
              <a:t>Họa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12825" y="1677871"/>
            <a:ext cx="367569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00"/>
                </a:solidFill>
                <a:latin typeface="DejaVu Sans"/>
                <a:cs typeface="DejaVu Sans"/>
              </a:rPr>
              <a:t>Quy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46" dirty="0">
                <a:solidFill>
                  <a:srgbClr val="FFFF00"/>
                </a:solidFill>
                <a:latin typeface="DejaVu Sans"/>
                <a:cs typeface="DejaVu Sans"/>
              </a:rPr>
              <a:t>Trình</a:t>
            </a:r>
            <a:r>
              <a:rPr sz="1700" b="1" spc="23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00"/>
                </a:solidFill>
                <a:latin typeface="DejaVu Sans"/>
                <a:cs typeface="DejaVu Sans"/>
              </a:rPr>
              <a:t>Giải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00"/>
                </a:solidFill>
                <a:latin typeface="DejaVu Sans"/>
                <a:cs typeface="DejaVu Sans"/>
              </a:rPr>
              <a:t>Rubik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00"/>
                </a:solidFill>
                <a:latin typeface="DejaVu Sans"/>
                <a:cs typeface="DejaVu Sans"/>
              </a:rPr>
              <a:t>Tự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0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32648" y="1859601"/>
            <a:ext cx="322394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1. Nhận diện trạng thái Khối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32648" y="2232585"/>
            <a:ext cx="4958813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556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DBA74"/>
                </a:solidFill>
                <a:latin typeface="DejaVu Sans"/>
                <a:cs typeface="DejaVu Sans"/>
              </a:rPr>
              <a:t>Thị</a:t>
            </a:r>
            <a:r>
              <a:rPr sz="1200" b="1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DBA74"/>
                </a:solidFill>
                <a:latin typeface="DejaVu Sans"/>
                <a:cs typeface="DejaVu Sans"/>
              </a:rPr>
              <a:t>giác</a:t>
            </a:r>
            <a:r>
              <a:rPr sz="1200" b="1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b="1" spc="-38" dirty="0">
                <a:solidFill>
                  <a:srgbClr val="FDBA74"/>
                </a:solidFill>
                <a:latin typeface="DejaVu Sans"/>
                <a:cs typeface="DejaVu Sans"/>
              </a:rPr>
              <a:t>máy</a:t>
            </a:r>
            <a:r>
              <a:rPr sz="1200" b="1" spc="15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DBA74"/>
                </a:solidFill>
                <a:latin typeface="DejaVu Sans"/>
                <a:cs typeface="DejaVu Sans"/>
              </a:rPr>
              <a:t>tính:</a:t>
            </a:r>
            <a:r>
              <a:rPr sz="1200" b="1" spc="-38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OpenCV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Python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được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dùng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quét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phân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tích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mặt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khối.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38585" y="2298505"/>
            <a:ext cx="3656219" cy="669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Đầu vào: Quét </a:t>
            </a:r>
            <a:r>
              <a:rPr sz="1350" b="1" spc="-33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1350" b="1" spc="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thái Khối Rubik</a:t>
            </a:r>
          </a:p>
          <a:p>
            <a:pPr marL="0" marR="0">
              <a:lnSpc>
                <a:spcPts val="1368"/>
              </a:lnSpc>
              <a:spcBef>
                <a:spcPts val="341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webcam 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&amp;</a:t>
            </a:r>
            <a:r>
              <a:rPr sz="1200" spc="-27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giác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máy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nhận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sắc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từng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mặt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khối.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03205" y="2737410"/>
            <a:ext cx="502482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36" dirty="0">
                <a:solidFill>
                  <a:srgbClr val="FDBA74"/>
                </a:solidFill>
                <a:latin typeface="DejaVu Sans"/>
                <a:cs typeface="DejaVu Sans"/>
              </a:rPr>
              <a:t>Trích</a:t>
            </a:r>
            <a:r>
              <a:rPr sz="1200" b="1" spc="10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DBA74"/>
                </a:solidFill>
                <a:latin typeface="DejaVu Sans"/>
                <a:cs typeface="DejaVu Sans"/>
              </a:rPr>
              <a:t>xuất</a:t>
            </a:r>
            <a:r>
              <a:rPr sz="1200" b="1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FDBA74"/>
                </a:solidFill>
                <a:latin typeface="DejaVu Sans"/>
                <a:cs typeface="DejaVu Sans"/>
              </a:rPr>
              <a:t>màu:</a:t>
            </a:r>
            <a:r>
              <a:rPr sz="1200" b="1" spc="-34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giá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RGB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từng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ô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vuông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được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so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sánh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2648" y="2956485"/>
            <a:ext cx="251057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màu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sắc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xác.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38585" y="4174930"/>
            <a:ext cx="373782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-31" dirty="0">
                <a:solidFill>
                  <a:srgbClr val="FFFFFF"/>
                </a:solidFill>
                <a:latin typeface="DejaVu Sans"/>
                <a:cs typeface="DejaVu Sans"/>
              </a:rPr>
              <a:t>Trích</a:t>
            </a:r>
            <a:r>
              <a:rPr sz="1350" b="1" spc="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xuất Dữ liệu Khối &amp; Chuỗi </a:t>
            </a:r>
            <a:r>
              <a:rPr sz="1350" b="1" spc="-33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68132" y="4395515"/>
            <a:ext cx="67127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OpenCV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57914" y="4395515"/>
            <a:ext cx="59614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Python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072686" y="4395515"/>
            <a:ext cx="118434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Webcam</a:t>
            </a:r>
            <a:r>
              <a:rPr sz="1000" spc="17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Sensor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38585" y="4432105"/>
            <a:ext cx="52919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38585" y="4670985"/>
            <a:ext cx="3702459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thông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tin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sắc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chuỗi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dạng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tiêu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chuẩn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(vd: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Kociemba).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94548" y="5107626"/>
            <a:ext cx="308568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2. Xác định chuỗi giải pháp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41590" y="5471085"/>
            <a:ext cx="5101683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Thuật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toán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D1D5DB"/>
                </a:solidFill>
                <a:latin typeface="DejaVu Sans"/>
                <a:cs typeface="DejaVu Sans"/>
              </a:rPr>
              <a:t>Hai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pha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D1D5DB"/>
                </a:solidFill>
                <a:latin typeface="DejaVu Sans"/>
                <a:cs typeface="DejaVu Sans"/>
              </a:rPr>
              <a:t>Kociemba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`import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kociemba`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`kociemba.solve('...')`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trả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chuỗi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pháp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ngắn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gọn.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79827" y="6065116"/>
            <a:ext cx="5068132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86EFAC"/>
                </a:solidFill>
                <a:latin typeface="Liberation Mono"/>
                <a:cs typeface="Liberation Mono"/>
              </a:rPr>
              <a:t>'L3 U1 B1 R2 F3 L1 F3 U2 L1 U3 B3 U2 B1 L2 F1 U2 R2 L2 B2 (19f)'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38585" y="6299005"/>
            <a:ext cx="3768323" cy="669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Thuật toán Kociemba (Hai Pha)</a:t>
            </a:r>
          </a:p>
          <a:p>
            <a:pPr marL="0" marR="0">
              <a:lnSpc>
                <a:spcPts val="1368"/>
              </a:lnSpc>
              <a:spcBef>
                <a:spcPts val="341"/>
              </a:spcBef>
              <a:spcAft>
                <a:spcPts val="0"/>
              </a:spcAft>
            </a:pP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thống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cốt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lõi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 toán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chuỗi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tối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ưu.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720779" y="6405290"/>
            <a:ext cx="144484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Kociemba</a:t>
            </a:r>
            <a:r>
              <a:rPr sz="1000" spc="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Algorithm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665665" y="6405290"/>
            <a:ext cx="119834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11" dirty="0">
                <a:solidFill>
                  <a:srgbClr val="9CA3AF"/>
                </a:solidFill>
                <a:latin typeface="DejaVu Sans"/>
                <a:cs typeface="DejaVu Sans"/>
              </a:rPr>
              <a:t>Two-Phase</a:t>
            </a:r>
            <a:r>
              <a:rPr sz="1000" spc="2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364092" y="6405290"/>
            <a:ext cx="110216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Python Module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14202" y="7005364"/>
            <a:ext cx="2613639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Pha 1: Đưa Khối về trạng thái G1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Pha 2: Giải quyết Khối một cách tối ưu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394548" y="7107876"/>
            <a:ext cx="480644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1" dirty="0">
                <a:solidFill>
                  <a:srgbClr val="FFFF00"/>
                </a:solidFill>
                <a:latin typeface="DejaVu Sans"/>
                <a:cs typeface="DejaVu Sans"/>
              </a:rPr>
              <a:t>Mô</a:t>
            </a:r>
            <a:r>
              <a:rPr sz="1500" b="1" dirty="0">
                <a:solidFill>
                  <a:srgbClr val="FFFF00"/>
                </a:solidFill>
                <a:latin typeface="DejaVu Sans"/>
                <a:cs typeface="DejaVu Sans"/>
              </a:rPr>
              <a:t> phỏng và Thực thi Phép quay</a:t>
            </a:r>
            <a:r>
              <a:rPr sz="1500" b="1" spc="18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00"/>
                </a:solidFill>
                <a:latin typeface="DejaVu Sans"/>
                <a:cs typeface="DejaVu Sans"/>
              </a:rPr>
              <a:t>trong </a:t>
            </a:r>
            <a:r>
              <a:rPr sz="1500" b="1" spc="10" dirty="0">
                <a:solidFill>
                  <a:srgbClr val="FFFF00"/>
                </a:solidFill>
                <a:latin typeface="DejaVu Sans"/>
                <a:cs typeface="DejaVu Sans"/>
              </a:rPr>
              <a:t>Môi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b="1" dirty="0">
                <a:solidFill>
                  <a:srgbClr val="FFFF00"/>
                </a:solidFill>
                <a:latin typeface="DejaVu Sans"/>
                <a:cs typeface="DejaVu Sans"/>
              </a:rPr>
              <a:t>trường </a:t>
            </a:r>
            <a:r>
              <a:rPr sz="1500" b="1" spc="12" dirty="0">
                <a:solidFill>
                  <a:srgbClr val="FFFF00"/>
                </a:solidFill>
                <a:latin typeface="DejaVu Sans"/>
                <a:cs typeface="DejaVu Sans"/>
              </a:rPr>
              <a:t>VPython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394548" y="7776135"/>
            <a:ext cx="5267397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556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DBA74"/>
                </a:solidFill>
                <a:latin typeface="DejaVu Sans"/>
                <a:cs typeface="DejaVu Sans"/>
              </a:rPr>
              <a:t>Phép</a:t>
            </a:r>
            <a:r>
              <a:rPr sz="1200" b="1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b="1" spc="-28" dirty="0">
                <a:solidFill>
                  <a:srgbClr val="FDBA74"/>
                </a:solidFill>
                <a:latin typeface="DejaVu Sans"/>
                <a:cs typeface="DejaVu Sans"/>
              </a:rPr>
              <a:t>quay</a:t>
            </a:r>
            <a:r>
              <a:rPr sz="1200" b="1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DBA74"/>
                </a:solidFill>
                <a:latin typeface="DejaVu Sans"/>
                <a:cs typeface="DejaVu Sans"/>
              </a:rPr>
              <a:t>chi</a:t>
            </a:r>
            <a:r>
              <a:rPr sz="1200" b="1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FDBA74"/>
                </a:solidFill>
                <a:latin typeface="DejaVu Sans"/>
                <a:cs typeface="DejaVu Sans"/>
              </a:rPr>
              <a:t>tiết:</a:t>
            </a:r>
            <a:r>
              <a:rPr sz="1200" b="1" spc="-40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Mỗi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phép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quay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90°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được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chia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thành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30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nhỏ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3°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đảm bảo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sự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mượt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mà.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565105" y="8290485"/>
            <a:ext cx="506205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DBA74"/>
                </a:solidFill>
                <a:latin typeface="DejaVu Sans"/>
                <a:cs typeface="DejaVu Sans"/>
              </a:rPr>
              <a:t>Chuẩn</a:t>
            </a:r>
            <a:r>
              <a:rPr sz="1200" b="1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DBA74"/>
                </a:solidFill>
                <a:latin typeface="DejaVu Sans"/>
                <a:cs typeface="DejaVu Sans"/>
              </a:rPr>
              <a:t>hóa</a:t>
            </a:r>
            <a:r>
              <a:rPr sz="1200" b="1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DBA74"/>
                </a:solidFill>
                <a:latin typeface="DejaVu Sans"/>
                <a:cs typeface="DejaVu Sans"/>
              </a:rPr>
              <a:t>VPython:</a:t>
            </a:r>
            <a:r>
              <a:rPr sz="1200" b="1" spc="-40" dirty="0">
                <a:solidFill>
                  <a:srgbClr val="FDBA74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Sử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`object.rotate()`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phương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pháp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394548" y="8500035"/>
            <a:ext cx="313390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chuẩn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duy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trì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trí.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538585" y="8556430"/>
            <a:ext cx="263655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Tạo &amp; Áp dụng Phép </a:t>
            </a:r>
            <a:r>
              <a:rPr sz="1350" b="1" spc="-18" dirty="0">
                <a:solidFill>
                  <a:srgbClr val="FFFFFF"/>
                </a:solidFill>
                <a:latin typeface="DejaVu Sans"/>
                <a:cs typeface="DejaVu Sans"/>
              </a:rPr>
              <a:t>quay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538585" y="8804835"/>
            <a:ext cx="3864483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phỏng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thực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bước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quay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vật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 hoặc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5" dirty="0">
                <a:solidFill>
                  <a:srgbClr val="D1D5DB"/>
                </a:solidFill>
                <a:latin typeface="DejaVu Sans"/>
                <a:cs typeface="DejaVu Sans"/>
              </a:rPr>
              <a:t>ảo.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850706" y="8786539"/>
            <a:ext cx="68371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VPython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294488" y="8786539"/>
            <a:ext cx="105485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3D Simulation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0109447" y="8786539"/>
            <a:ext cx="12268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Precision Control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538585" y="10432855"/>
            <a:ext cx="241898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Khối Rubik đã được giải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885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210966" y="356369"/>
            <a:ext cx="5922378" cy="411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372" dirty="0">
                <a:solidFill>
                  <a:srgbClr val="FFFFFF"/>
                </a:solidFill>
                <a:latin typeface="DejaVu Sans"/>
                <a:cs typeface="DejaVu Sans"/>
              </a:rPr>
              <a:t>V.</a:t>
            </a:r>
            <a:r>
              <a:rPr sz="2800" b="1" spc="389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17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18" dirty="0">
                <a:solidFill>
                  <a:srgbClr val="FFFFFF"/>
                </a:solidFill>
                <a:latin typeface="DejaVu Sans"/>
                <a:cs typeface="DejaVu Sans"/>
              </a:rPr>
              <a:t>QUẢ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18" dirty="0">
                <a:solidFill>
                  <a:srgbClr val="FFFFFF"/>
                </a:solidFill>
                <a:latin typeface="DejaVu Sans"/>
                <a:cs typeface="DejaVu Sans"/>
              </a:rPr>
              <a:t>THỰC</a:t>
            </a:r>
            <a:r>
              <a:rPr sz="28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b="1" spc="18" dirty="0">
                <a:solidFill>
                  <a:srgbClr val="FFFFFF"/>
                </a:solidFill>
                <a:latin typeface="DejaVu Sans"/>
                <a:cs typeface="DejaVu Sans"/>
              </a:rPr>
              <a:t>NGHIỆM: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97669" y="2151596"/>
            <a:ext cx="326311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triển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45275" y="2151596"/>
            <a:ext cx="333937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Bộ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liệu thử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nghiệm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8551" y="2745164"/>
            <a:ext cx="534147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Hệ thống được phát triển bằng Python, sử dụng VPython cho</a:t>
            </a:r>
          </a:p>
          <a:p>
            <a:pPr marL="559147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mô phỏng 3D và OpenCV cho thị giác máy tính.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60777" y="2745164"/>
            <a:ext cx="530832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Đánh giá hiệu suất giải </a:t>
            </a:r>
            <a:r>
              <a:rPr sz="1350" spc="-18" dirty="0">
                <a:solidFill>
                  <a:srgbClr val="FFFFFF"/>
                </a:solidFill>
                <a:latin typeface="DejaVu Sans"/>
                <a:cs typeface="DejaVu Sans"/>
              </a:rPr>
              <a:t>Rubik</a:t>
            </a:r>
            <a:r>
              <a:rPr sz="135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2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các trạng thái ngẫu nhiên</a:t>
            </a:r>
          </a:p>
          <a:p>
            <a:pPr marL="2108894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và cố định.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6835" y="3868360"/>
            <a:ext cx="245581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Thuật toán Kociemba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22391" y="3868360"/>
            <a:ext cx="292781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Số lượng trạng thái Rubik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6835" y="4231819"/>
            <a:ext cx="490741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7" dirty="0">
                <a:solidFill>
                  <a:srgbClr val="FFFFFF"/>
                </a:solidFill>
                <a:latin typeface="DejaVu Sans"/>
                <a:cs typeface="DejaVu Sans"/>
              </a:rPr>
              <a:t>Rubik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hai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quả,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khai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Python.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22391" y="4231819"/>
            <a:ext cx="388020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Hơn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43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tỷ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tỷ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(quintillion)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tổ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hợp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được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kiểm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chứng.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07392" y="4574719"/>
            <a:ext cx="2210442" cy="507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&lt;</a:t>
            </a:r>
            <a:r>
              <a:rPr sz="1200" spc="-2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20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</a:p>
          <a:p>
            <a:pPr marL="0" marR="0">
              <a:lnSpc>
                <a:spcPts val="1368"/>
              </a:lnSpc>
              <a:spcBef>
                <a:spcPts val="906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Xử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tốc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cao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20941" y="4612819"/>
            <a:ext cx="132093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43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Quintillion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+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45963" y="5611435"/>
            <a:ext cx="213727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Cấu hình hệ thống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45963" y="5898694"/>
            <a:ext cx="4441876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Hỗ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trợ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nhiều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nền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tảng: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PC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(webcam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 USB)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Raspberry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DejaVu Sans"/>
                <a:cs typeface="DejaVu Sans"/>
              </a:rPr>
              <a:t>Pi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(camera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module).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34485" y="7337723"/>
            <a:ext cx="216085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Mô phỏng trạng thái khối Rubik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684048" y="7509173"/>
            <a:ext cx="23353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209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19016" y="404501"/>
            <a:ext cx="3306372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72" dirty="0">
                <a:solidFill>
                  <a:srgbClr val="FFFFFF"/>
                </a:solidFill>
                <a:latin typeface="DejaVu Sans"/>
                <a:cs typeface="DejaVu Sans"/>
              </a:rPr>
              <a:t>Trực</a:t>
            </a:r>
            <a:r>
              <a:rPr sz="3000" b="1" spc="9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34708" y="1048713"/>
            <a:ext cx="3228643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00"/>
                </a:solidFill>
                <a:latin typeface="DejaVu Sans"/>
                <a:cs typeface="DejaVu Sans"/>
              </a:rPr>
              <a:t>Các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00"/>
                </a:solidFill>
                <a:latin typeface="DejaVu Sans"/>
                <a:cs typeface="DejaVu Sans"/>
              </a:rPr>
              <a:t>Nút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00"/>
                </a:solidFill>
                <a:latin typeface="DejaVu Sans"/>
                <a:cs typeface="DejaVu Sans"/>
              </a:rPr>
              <a:t>Điều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00"/>
                </a:solidFill>
                <a:latin typeface="DejaVu Sans"/>
                <a:cs typeface="DejaVu Sans"/>
              </a:rPr>
              <a:t>Khiển</a:t>
            </a:r>
            <a:r>
              <a:rPr sz="1700" b="1" dirty="0">
                <a:solidFill>
                  <a:srgbClr val="FFFF0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0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51749" y="1583622"/>
            <a:ext cx="88184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Xáo trộn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47978" y="1936801"/>
            <a:ext cx="384930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Khởi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thái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ngẫu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nhiên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khối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7" dirty="0">
                <a:solidFill>
                  <a:srgbClr val="D1D5DB"/>
                </a:solidFill>
                <a:latin typeface="DejaVu Sans"/>
                <a:cs typeface="DejaVu Sans"/>
              </a:rPr>
              <a:t>Rubik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D1D5DB"/>
                </a:solidFill>
                <a:latin typeface="DejaVu Sans"/>
                <a:cs typeface="DejaVu Sans"/>
              </a:rPr>
              <a:t>ảo.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51749" y="2345622"/>
            <a:ext cx="95325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Gợi ý giải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47978" y="2698801"/>
            <a:ext cx="257215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Đề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xuất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nước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ưu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tiếp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theo.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51749" y="3117147"/>
            <a:ext cx="126465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Giải tự động!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47978" y="3470326"/>
            <a:ext cx="410434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Thực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bộ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chuỗi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pháp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cách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tự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985818" y="4220538"/>
            <a:ext cx="310991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Quá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trình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56" dirty="0">
                <a:solidFill>
                  <a:srgbClr val="FFFFFF"/>
                </a:solidFill>
                <a:latin typeface="DejaVu Sans"/>
                <a:cs typeface="DejaVu Sans"/>
              </a:rPr>
              <a:t>Trực</a:t>
            </a:r>
            <a:r>
              <a:rPr sz="1700" b="1" spc="36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43365" y="4622851"/>
            <a:ext cx="3984880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Sử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thuật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toán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E5E7EB"/>
                </a:solidFill>
                <a:latin typeface="DejaVu Sans"/>
                <a:cs typeface="DejaVu Sans"/>
              </a:rPr>
              <a:t>Kociemba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tính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 toán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chuỗi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pháp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5E7EB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ưu.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43365" y="5089576"/>
            <a:ext cx="3891384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E5E7EB"/>
                </a:solidFill>
                <a:latin typeface="DejaVu Sans"/>
                <a:cs typeface="DejaVu Sans"/>
              </a:rPr>
              <a:t>Mỗi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bước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được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minh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họa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động,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hiển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thị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7" dirty="0">
                <a:solidFill>
                  <a:srgbClr val="E5E7EB"/>
                </a:solidFill>
                <a:latin typeface="DejaVu Sans"/>
                <a:cs typeface="DejaVu Sans"/>
              </a:rPr>
              <a:t>xoay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5E7EB"/>
                </a:solidFill>
                <a:latin typeface="DejaVu Sans"/>
                <a:cs typeface="DejaVu Sans"/>
              </a:rPr>
              <a:t>mặt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xác.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43365" y="5556301"/>
            <a:ext cx="3966489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dùng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có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thể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theo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dõi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từng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bước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hoặc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33" dirty="0">
                <a:solidFill>
                  <a:srgbClr val="E5E7EB"/>
                </a:solidFill>
                <a:latin typeface="DejaVu Sans"/>
                <a:cs typeface="DejaVu Sans"/>
              </a:rPr>
              <a:t>xem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bộ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quá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trình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 giải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tự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467694" y="6336597"/>
            <a:ext cx="844993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"Thuật toán </a:t>
            </a:r>
            <a:r>
              <a:rPr sz="1350" spc="-12" dirty="0">
                <a:solidFill>
                  <a:srgbClr val="E5E7EB"/>
                </a:solidFill>
                <a:latin typeface="DejaVu Sans"/>
                <a:cs typeface="DejaVu Sans"/>
              </a:rPr>
              <a:t>Kociemba,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 trái tim của hệ thống, cho phép tìm ra giải pháp tối ưu chỉ </a:t>
            </a:r>
            <a:r>
              <a:rPr sz="1350" spc="-10" dirty="0">
                <a:solidFill>
                  <a:srgbClr val="E5E7EB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 vài </a:t>
            </a:r>
            <a:r>
              <a:rPr sz="1350" spc="-34" dirty="0">
                <a:solidFill>
                  <a:srgbClr val="E5E7EB"/>
                </a:solidFill>
                <a:latin typeface="DejaVu Sans"/>
                <a:cs typeface="DejaVu Sans"/>
              </a:rPr>
              <a:t>giây."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9321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37012" y="367611"/>
            <a:ext cx="3470261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Phân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FFFFFF"/>
                </a:solidFill>
                <a:latin typeface="DejaVu Sans"/>
                <a:cs typeface="DejaVu Sans"/>
              </a:rPr>
              <a:t>Tích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4" dirty="0">
                <a:solidFill>
                  <a:srgbClr val="FFFFFF"/>
                </a:solidFill>
                <a:latin typeface="DejaVu Sans"/>
                <a:cs typeface="DejaVu Sans"/>
              </a:rPr>
              <a:t>Quả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59098" y="1070109"/>
            <a:ext cx="1716284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180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23" dirty="0">
                <a:solidFill>
                  <a:srgbClr val="FFFFFF"/>
                </a:solidFill>
                <a:latin typeface="DejaVu Sans"/>
                <a:cs typeface="DejaVu Sans"/>
              </a:rPr>
              <a:t>ms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02089" y="1070109"/>
            <a:ext cx="1338860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100%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9098" y="1535609"/>
            <a:ext cx="236831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Tổng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gian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trung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bình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02089" y="1535609"/>
            <a:ext cx="273952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nhận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khối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7" dirty="0">
                <a:solidFill>
                  <a:srgbClr val="D1D5DB"/>
                </a:solidFill>
                <a:latin typeface="DejaVu Sans"/>
                <a:cs typeface="DejaVu Sans"/>
              </a:rPr>
              <a:t>Rubik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6941" y="1784013"/>
            <a:ext cx="167563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Giải pháp hoàn chỉnh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329933" y="1784013"/>
            <a:ext cx="185481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-23" dirty="0">
                <a:solidFill>
                  <a:srgbClr val="FF4500"/>
                </a:solidFill>
                <a:latin typeface="DejaVu Sans"/>
                <a:cs typeface="DejaVu Sans"/>
              </a:rPr>
              <a:t>Trong</a:t>
            </a:r>
            <a:r>
              <a:rPr sz="1000" b="1" spc="31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4500"/>
                </a:solidFill>
                <a:latin typeface="DejaVu Sans"/>
                <a:cs typeface="DejaVu Sans"/>
              </a:rPr>
              <a:t>điều kiện ổn định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1556" y="2476320"/>
            <a:ext cx="312357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trung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bình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94548" y="2476320"/>
            <a:ext cx="371287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Số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lượng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trung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bình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1556" y="2990293"/>
            <a:ext cx="284541" cy="91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53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</a:p>
          <a:p>
            <a:pPr marL="0" marR="0">
              <a:lnSpc>
                <a:spcPts val="2053"/>
              </a:lnSpc>
              <a:spcBef>
                <a:spcPts val="346"/>
              </a:spcBef>
              <a:spcAft>
                <a:spcPts val="0"/>
              </a:spcAft>
            </a:pPr>
            <a:r>
              <a:rPr sz="175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</a:p>
          <a:p>
            <a:pPr marL="0" marR="0">
              <a:lnSpc>
                <a:spcPts val="2053"/>
              </a:lnSpc>
              <a:spcBef>
                <a:spcPts val="371"/>
              </a:spcBef>
              <a:spcAft>
                <a:spcPts val="0"/>
              </a:spcAft>
            </a:pPr>
            <a:r>
              <a:rPr sz="175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8994" y="3031034"/>
            <a:ext cx="304950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8" dirty="0">
                <a:solidFill>
                  <a:srgbClr val="FFFFFF"/>
                </a:solidFill>
                <a:latin typeface="DejaVu Sans"/>
                <a:cs typeface="DejaVu Sans"/>
              </a:rPr>
              <a:t>Robot</a:t>
            </a:r>
            <a:r>
              <a:rPr sz="12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đạt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cơ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160ms.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08426" y="3031034"/>
            <a:ext cx="3942525" cy="526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Kociemba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tìm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pháp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30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bước.</a:t>
            </a:r>
          </a:p>
          <a:p>
            <a:pPr marL="0" marR="0">
              <a:lnSpc>
                <a:spcPts val="1368"/>
              </a:lnSpc>
              <a:spcBef>
                <a:spcPts val="1056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Thường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xuyên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tìm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thấy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pháp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dưới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20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bước.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8994" y="3335834"/>
            <a:ext cx="4107693" cy="526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Thêm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20ms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máy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tính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sz="1200" spc="-2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xử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toán.</a:t>
            </a:r>
          </a:p>
          <a:p>
            <a:pPr marL="0" marR="0">
              <a:lnSpc>
                <a:spcPts val="1368"/>
              </a:lnSpc>
              <a:spcBef>
                <a:spcPts val="1056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Tổng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cộng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180ms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lần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hoàn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chỉnh.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708426" y="3659684"/>
            <a:ext cx="4925815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thử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nghiệm: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93,772/100,000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scrambles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17-18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bước.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94548" y="4952820"/>
            <a:ext cx="451472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suất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&amp;</a:t>
            </a:r>
            <a:r>
              <a:rPr sz="1700" b="1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xác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94548" y="5336084"/>
            <a:ext cx="5056480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Kociemba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đã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khai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được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kiểm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tra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rộng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rãi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hoạt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tin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52" dirty="0">
                <a:solidFill>
                  <a:srgbClr val="FFFFFF"/>
                </a:solidFill>
                <a:latin typeface="DejaVu Sans"/>
                <a:cs typeface="DejaVu Sans"/>
              </a:rPr>
              <a:t>cậy.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394548" y="5840909"/>
            <a:ext cx="5059561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Đạt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nhận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khối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7" dirty="0">
                <a:solidFill>
                  <a:srgbClr val="FFFFFF"/>
                </a:solidFill>
                <a:latin typeface="DejaVu Sans"/>
                <a:cs typeface="DejaVu Sans"/>
              </a:rPr>
              <a:t>Rubik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100% dưới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điều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kiện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chiếu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sáng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ổn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định.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22540" y="6479838"/>
            <a:ext cx="3455893" cy="5204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Tối ưu hóa sử dụng đối xứng khối lập phương.</a:t>
            </a:r>
          </a:p>
          <a:p>
            <a:pPr marL="0" marR="0">
              <a:lnSpc>
                <a:spcPts val="1173"/>
              </a:lnSpc>
              <a:spcBef>
                <a:spcPts val="1401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Khả năng mở rộng cho các môi trường khác.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6578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69802" y="375723"/>
            <a:ext cx="7404548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Liberation Sans"/>
                <a:cs typeface="Liberation Sans"/>
              </a:rPr>
              <a:t>K</a:t>
            </a:r>
            <a:r>
              <a:rPr sz="3000" b="1" spc="1057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sz="3000" b="1" spc="2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3000" b="1" spc="18" dirty="0">
                <a:solidFill>
                  <a:srgbClr val="000000"/>
                </a:solidFill>
                <a:latin typeface="Liberation Sans"/>
                <a:cs typeface="Liberation Sans"/>
              </a:rPr>
              <a:t>QU</a:t>
            </a:r>
            <a:r>
              <a:rPr sz="3000" b="1" spc="2104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0000"/>
                </a:solidFill>
                <a:latin typeface="Liberation Sans"/>
                <a:cs typeface="Liberation Sans"/>
              </a:rPr>
              <a:t>TH</a:t>
            </a:r>
            <a:r>
              <a:rPr sz="3000" b="1" spc="1794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sz="3000" b="1" spc="23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3000" b="1" spc="17" dirty="0">
                <a:solidFill>
                  <a:srgbClr val="000000"/>
                </a:solidFill>
                <a:latin typeface="Liberation Sans"/>
                <a:cs typeface="Liberation Sans"/>
              </a:rPr>
              <a:t>NGHI</a:t>
            </a:r>
            <a:r>
              <a:rPr sz="3000" b="1" spc="1031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00"/>
                </a:solidFill>
                <a:latin typeface="Liberation Sans"/>
                <a:cs typeface="Liberation Sans"/>
              </a:rPr>
              <a:t>M</a:t>
            </a:r>
            <a:r>
              <a:rPr sz="3000" b="1" spc="25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000000"/>
                </a:solidFill>
                <a:latin typeface="Liberation Sans"/>
                <a:cs typeface="Liberation Sans"/>
              </a:rPr>
              <a:t>VÀ</a:t>
            </a:r>
            <a:r>
              <a:rPr sz="3000" b="1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3000" b="1" spc="18" dirty="0">
                <a:solidFill>
                  <a:srgbClr val="000000"/>
                </a:solidFill>
                <a:latin typeface="Liberation Sans"/>
                <a:cs typeface="Liberation Sans"/>
              </a:rPr>
              <a:t>GI</a:t>
            </a:r>
            <a:r>
              <a:rPr sz="3000" b="1" spc="1255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sz="3000" b="1" spc="12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000000"/>
                </a:solidFill>
                <a:latin typeface="Liberation Sans"/>
                <a:cs typeface="Liberation Sans"/>
              </a:rPr>
              <a:t>PHÁP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092218"/>
            <a:ext cx="4092155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      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K</a:t>
            </a:r>
            <a:r>
              <a:rPr sz="1700" b="1" spc="563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t</a:t>
            </a:r>
            <a:r>
              <a:rPr sz="1700" b="1" spc="-12" dirty="0">
                <a:solidFill>
                  <a:srgbClr val="1D4ED8"/>
                </a:solidFill>
                <a:latin typeface="Liberation Sans"/>
                <a:cs typeface="Liberation Sans"/>
              </a:rPr>
              <a:t> qu</a:t>
            </a:r>
            <a:r>
              <a:rPr sz="1700" b="1" spc="1043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t</a:t>
            </a:r>
            <a:r>
              <a:rPr sz="1700" b="1" spc="1036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1D4ED8"/>
                </a:solidFill>
                <a:latin typeface="Liberation Sans"/>
                <a:cs typeface="Liberation Sans"/>
              </a:rPr>
              <a:t>Giao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1D4ED8"/>
                </a:solidFill>
                <a:latin typeface="Liberation Sans"/>
                <a:cs typeface="Liberation Sans"/>
              </a:rPr>
              <a:t>di</a:t>
            </a:r>
            <a:r>
              <a:rPr sz="1700" b="1" spc="584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spc="-15" dirty="0">
                <a:solidFill>
                  <a:srgbClr val="1D4ED8"/>
                </a:solidFill>
                <a:latin typeface="Liberation Sans"/>
                <a:cs typeface="Liberation Sans"/>
              </a:rPr>
              <a:t>Ch</a:t>
            </a:r>
            <a:r>
              <a:rPr sz="1700" b="1" spc="1629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1D4ED8"/>
                </a:solidFill>
                <a:latin typeface="Liberation Sans"/>
                <a:cs typeface="Liberation Sans"/>
              </a:rPr>
              <a:t>ng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 trình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092218"/>
            <a:ext cx="3844098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1" spc="-10" dirty="0">
                <a:solidFill>
                  <a:srgbClr val="1D4ED8"/>
                </a:solidFill>
                <a:latin typeface="Liberation Sans"/>
                <a:cs typeface="Liberation Sans"/>
              </a:rPr>
              <a:t>         </a:t>
            </a:r>
            <a:r>
              <a:rPr sz="1700" b="1" spc="-15" dirty="0">
                <a:solidFill>
                  <a:srgbClr val="1D4ED8"/>
                </a:solidFill>
                <a:latin typeface="Liberation Sans"/>
                <a:cs typeface="Liberation Sans"/>
              </a:rPr>
              <a:t>Gi</a:t>
            </a:r>
            <a:r>
              <a:rPr sz="1700" b="1" spc="588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i</a:t>
            </a:r>
            <a:r>
              <a:rPr sz="1700" b="1" spc="-11" dirty="0">
                <a:solidFill>
                  <a:srgbClr val="1D4ED8"/>
                </a:solidFill>
                <a:latin typeface="Liberation Sans"/>
                <a:cs typeface="Liberation Sans"/>
              </a:rPr>
              <a:t> pháp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 c</a:t>
            </a:r>
            <a:r>
              <a:rPr sz="1700" b="1" spc="1032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th</a:t>
            </a:r>
            <a:r>
              <a:rPr sz="1700" b="1" spc="1039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đ</a:t>
            </a:r>
            <a:r>
              <a:rPr sz="1700" b="1" spc="1614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c</a:t>
            </a:r>
            <a:r>
              <a:rPr sz="1700" b="1" spc="-17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tìm</a:t>
            </a:r>
            <a:r>
              <a:rPr sz="1700" b="1" spc="-18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th</a:t>
            </a:r>
            <a:r>
              <a:rPr sz="1700" b="1" spc="571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1081" y="1650805"/>
            <a:ext cx="5261678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Khi ch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ạ</a:t>
            </a:r>
            <a:r>
              <a:rPr sz="1350" spc="-102" dirty="0">
                <a:solidFill>
                  <a:srgbClr val="1F2937"/>
                </a:solidFill>
                <a:latin typeface="Liberation Sans"/>
                <a:cs typeface="Liberation Sans"/>
              </a:rPr>
              <a:t>y,</a:t>
            </a:r>
            <a:r>
              <a:rPr sz="1350" spc="99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sz="1350" spc="-15" dirty="0">
                <a:solidFill>
                  <a:srgbClr val="1F2937"/>
                </a:solidFill>
                <a:latin typeface="DejaVu Sans"/>
                <a:cs typeface="DejaVu Sans"/>
              </a:rPr>
              <a:t>ươ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ng trình hi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n th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ị</a:t>
            </a:r>
            <a:r>
              <a:rPr sz="1350" spc="36" dirty="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giao di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n t</a:t>
            </a:r>
            <a:r>
              <a:rPr sz="1350" spc="-15" dirty="0">
                <a:solidFill>
                  <a:srgbClr val="1F2937"/>
                </a:solidFill>
                <a:latin typeface="DejaVu Sans"/>
                <a:cs typeface="DejaVu Sans"/>
              </a:rPr>
              <a:t>ươ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ng tác v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i kh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i Rubik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o. Các ch</a:t>
            </a:r>
            <a:r>
              <a:rPr sz="1350" spc="-31" dirty="0">
                <a:solidFill>
                  <a:srgbClr val="1F2937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c năng chính bao g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m 'Xáo tr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n', 'G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ợ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i ý gi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i' và 'Gi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i t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ự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ng!' đ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tìm ra chu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ỗ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i n</a:t>
            </a:r>
            <a:r>
              <a:rPr sz="1350" spc="-15" dirty="0">
                <a:solidFill>
                  <a:srgbClr val="1F2937"/>
                </a:solidFill>
                <a:latin typeface="DejaVu Sans"/>
                <a:cs typeface="DejaVu Sans"/>
              </a:rPr>
              <a:t>ướ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c đi t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i </a:t>
            </a:r>
            <a:r>
              <a:rPr sz="1350" spc="-31" dirty="0">
                <a:solidFill>
                  <a:srgbClr val="1F2937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u b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ằ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ng thu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1F2937"/>
                </a:solidFill>
                <a:latin typeface="Liberation Sans"/>
                <a:cs typeface="Liberation Sans"/>
              </a:rPr>
              <a:t>t toán Kociemba.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61682" y="2401853"/>
            <a:ext cx="5106519" cy="569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E3A8A"/>
                </a:solidFill>
                <a:latin typeface="Liberation Mono"/>
                <a:cs typeface="Liberation Mono"/>
              </a:rPr>
              <a:t>R</a:t>
            </a:r>
            <a:r>
              <a:rPr sz="1500" spc="14" dirty="0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1E3A8A"/>
                </a:solidFill>
                <a:latin typeface="Liberation Mono"/>
                <a:cs typeface="Liberation Mono"/>
              </a:rPr>
              <a:t>L</a:t>
            </a:r>
            <a:r>
              <a:rPr sz="1500" spc="14" dirty="0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1E3A8A"/>
                </a:solidFill>
                <a:latin typeface="Liberation Mono"/>
                <a:cs typeface="Liberation Mono"/>
              </a:rPr>
              <a:t>U</a:t>
            </a:r>
            <a:r>
              <a:rPr sz="1500" spc="14" dirty="0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1E3A8A"/>
                </a:solidFill>
                <a:latin typeface="Liberation Mono"/>
                <a:cs typeface="Liberation Mono"/>
              </a:rPr>
              <a:t>F</a:t>
            </a:r>
            <a:r>
              <a:rPr sz="1500" spc="14" dirty="0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1E3A8A"/>
                </a:solidFill>
                <a:latin typeface="Liberation Mono"/>
                <a:cs typeface="Liberation Mono"/>
              </a:rPr>
              <a:t>D2 B</a:t>
            </a:r>
            <a:r>
              <a:rPr sz="1500" spc="14" dirty="0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1E3A8A"/>
                </a:solidFill>
                <a:latin typeface="Liberation Mono"/>
                <a:cs typeface="Liberation Mono"/>
              </a:rPr>
              <a:t>U' L2 U</a:t>
            </a:r>
            <a:r>
              <a:rPr sz="1500" spc="14" dirty="0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1E3A8A"/>
                </a:solidFill>
                <a:latin typeface="Liberation Mono"/>
                <a:cs typeface="Liberation Mono"/>
              </a:rPr>
              <a:t>R</a:t>
            </a:r>
            <a:r>
              <a:rPr sz="1500" spc="14" dirty="0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1E3A8A"/>
                </a:solidFill>
                <a:latin typeface="Liberation Mono"/>
                <a:cs typeface="Liberation Mono"/>
              </a:rPr>
              <a:t>F2 U</a:t>
            </a:r>
            <a:r>
              <a:rPr sz="1500" spc="14" dirty="0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1E3A8A"/>
                </a:solidFill>
                <a:latin typeface="Liberation Mono"/>
                <a:cs typeface="Liberation Mono"/>
              </a:rPr>
              <a:t>F2 R2 U</a:t>
            </a:r>
            <a:r>
              <a:rPr sz="1500" spc="14" dirty="0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1E3A8A"/>
                </a:solidFill>
                <a:latin typeface="Liberation Mono"/>
                <a:cs typeface="Liberation Mono"/>
              </a:rPr>
              <a:t>L2 U</a:t>
            </a:r>
            <a:r>
              <a:rPr sz="1500" spc="14" dirty="0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sz="1500" dirty="0">
                <a:solidFill>
                  <a:srgbClr val="1E3A8A"/>
                </a:solidFill>
                <a:latin typeface="Liberation Mono"/>
                <a:cs typeface="Liberation Mono"/>
              </a:rPr>
              <a:t>R2</a:t>
            </a:r>
          </a:p>
          <a:p>
            <a:pPr marL="2188964" marR="0">
              <a:lnSpc>
                <a:spcPts val="1712"/>
              </a:lnSpc>
              <a:spcBef>
                <a:spcPts val="762"/>
              </a:spcBef>
              <a:spcAft>
                <a:spcPts val="0"/>
              </a:spcAft>
            </a:pPr>
            <a:r>
              <a:rPr sz="1500" dirty="0">
                <a:solidFill>
                  <a:srgbClr val="1E3A8A"/>
                </a:solidFill>
                <a:latin typeface="Liberation Mono"/>
                <a:cs typeface="Liberation Mono"/>
              </a:rPr>
              <a:t>D2 L2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0999" y="6445268"/>
            <a:ext cx="3793253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1" spc="-10" dirty="0">
                <a:solidFill>
                  <a:srgbClr val="1D4ED8"/>
                </a:solidFill>
                <a:latin typeface="Liberation Sans"/>
                <a:cs typeface="Liberation Sans"/>
              </a:rPr>
              <a:t>         </a:t>
            </a:r>
            <a:r>
              <a:rPr sz="1700" b="1" spc="-10" dirty="0" err="1">
                <a:solidFill>
                  <a:srgbClr val="1D4ED8"/>
                </a:solidFill>
                <a:latin typeface="Liberation Sans"/>
                <a:cs typeface="Liberation Sans"/>
              </a:rPr>
              <a:t>Hình</a:t>
            </a:r>
            <a:r>
              <a:rPr sz="1700" b="1" spc="1043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1D4ED8"/>
                </a:solidFill>
                <a:latin typeface="Liberation Sans"/>
                <a:cs typeface="Liberation Sans"/>
              </a:rPr>
              <a:t>nh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 k</a:t>
            </a:r>
            <a:r>
              <a:rPr sz="1700" b="1" spc="565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t</a:t>
            </a:r>
            <a:r>
              <a:rPr sz="1700" b="1" spc="-12" dirty="0">
                <a:solidFill>
                  <a:srgbClr val="1D4ED8"/>
                </a:solidFill>
                <a:latin typeface="Liberation Sans"/>
                <a:cs typeface="Liberation Sans"/>
              </a:rPr>
              <a:t> qu</a:t>
            </a:r>
            <a:r>
              <a:rPr sz="1700" b="1" spc="1043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th</a:t>
            </a:r>
            <a:r>
              <a:rPr sz="1700" b="1" spc="571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c</a:t>
            </a:r>
            <a:r>
              <a:rPr sz="1700" b="1" spc="-17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1D4ED8"/>
                </a:solidFill>
                <a:latin typeface="Liberation Sans"/>
                <a:cs typeface="Liberation Sans"/>
              </a:rPr>
              <a:t>nghi</a:t>
            </a:r>
            <a:r>
              <a:rPr sz="1700" b="1" spc="584" dirty="0">
                <a:solidFill>
                  <a:srgbClr val="1D4ED8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D4ED8"/>
                </a:solidFill>
                <a:latin typeface="Liberation Sans"/>
                <a:cs typeface="Liberation Sans"/>
              </a:rPr>
              <a:t>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9134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332386" y="334315"/>
            <a:ext cx="3679502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000000"/>
                </a:solidFill>
                <a:latin typeface="DejaVu Sans"/>
                <a:cs typeface="DejaVu Sans"/>
              </a:rPr>
              <a:t>VI.</a:t>
            </a:r>
            <a:r>
              <a:rPr sz="4050" b="1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0000"/>
                </a:solidFill>
                <a:latin typeface="DejaVu Sans"/>
                <a:cs typeface="DejaVu Sans"/>
              </a:rPr>
              <a:t>Kết</a:t>
            </a:r>
            <a:r>
              <a:rPr sz="4050" b="1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0000"/>
                </a:solidFill>
                <a:latin typeface="DejaVu Sans"/>
                <a:cs typeface="DejaVu Sans"/>
              </a:rPr>
              <a:t>Luận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5559" y="1533995"/>
            <a:ext cx="282100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4500"/>
                </a:solidFill>
                <a:latin typeface="DejaVu Sans"/>
                <a:cs typeface="DejaVu Sans"/>
              </a:rPr>
              <a:t>Thành</a:t>
            </a:r>
            <a:r>
              <a:rPr sz="2000" b="1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4500"/>
                </a:solidFill>
                <a:latin typeface="DejaVu Sans"/>
                <a:cs typeface="DejaVu Sans"/>
              </a:rPr>
              <a:t>Tựu</a:t>
            </a:r>
            <a:r>
              <a:rPr sz="2000" b="1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4500"/>
                </a:solidFill>
                <a:latin typeface="DejaVu Sans"/>
                <a:cs typeface="DejaVu Sans"/>
              </a:rPr>
              <a:t>Nổi</a:t>
            </a:r>
            <a:r>
              <a:rPr sz="2000" b="1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4500"/>
                </a:solidFill>
                <a:latin typeface="DejaVu Sans"/>
                <a:cs typeface="DejaVu Sans"/>
              </a:rPr>
              <a:t>Bật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6509" y="2079183"/>
            <a:ext cx="4909310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66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Phát triển giải pháp thuật toán Kociemba</a:t>
            </a:r>
            <a:r>
              <a:rPr sz="1500" spc="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bằng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Python.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6509" y="2803083"/>
            <a:ext cx="50934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66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Tích hợp </a:t>
            </a:r>
            <a:r>
              <a:rPr sz="1500" dirty="0" err="1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vi-VN" sz="1500" dirty="0">
                <a:solidFill>
                  <a:srgbClr val="FFFFFF"/>
                </a:solidFill>
                <a:latin typeface="DejaVu Sans"/>
                <a:cs typeface="DejaVu Sans"/>
              </a:rPr>
              <a:t>quả </a:t>
            </a:r>
            <a:r>
              <a:rPr sz="1500" spc="10" dirty="0" err="1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 phỏng 3D (VPython).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6509" y="3536508"/>
            <a:ext cx="4760162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66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Ứng dụng thành công trong</a:t>
            </a:r>
            <a:r>
              <a:rPr sz="150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các lĩnh vực giáo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dục, AI và Robotics.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84026" y="4338118"/>
            <a:ext cx="81726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4500"/>
                </a:solidFill>
                <a:latin typeface="DejaVu Sans"/>
                <a:cs typeface="DejaVu Sans"/>
              </a:rPr>
              <a:t>Đột</a:t>
            </a:r>
            <a:r>
              <a:rPr sz="1200" b="1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4500"/>
                </a:solidFill>
                <a:latin typeface="DejaVu Sans"/>
                <a:cs typeface="DejaVu Sans"/>
              </a:rPr>
              <a:t>phá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51868" y="4338118"/>
            <a:ext cx="96150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51" dirty="0">
                <a:solidFill>
                  <a:srgbClr val="FF4500"/>
                </a:solidFill>
                <a:latin typeface="DejaVu Sans"/>
                <a:cs typeface="DejaVu Sans"/>
              </a:rPr>
              <a:t>Toàn</a:t>
            </a:r>
            <a:r>
              <a:rPr sz="1200" b="1" spc="25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4500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64073" y="4338118"/>
            <a:ext cx="109373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FF4500"/>
                </a:solidFill>
                <a:latin typeface="DejaVu Sans"/>
                <a:cs typeface="DejaVu Sans"/>
              </a:rPr>
              <a:t>Tiên</a:t>
            </a:r>
            <a:r>
              <a:rPr sz="1200" b="1" spc="-11" dirty="0">
                <a:solidFill>
                  <a:srgbClr val="FF45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4500"/>
                </a:solidFill>
                <a:latin typeface="DejaVu Sans"/>
                <a:cs typeface="DejaVu Sans"/>
              </a:rPr>
              <a:t>phong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11614" y="4629620"/>
            <a:ext cx="436502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Lộ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37" dirty="0">
                <a:solidFill>
                  <a:srgbClr val="FFFFFF"/>
                </a:solidFill>
                <a:latin typeface="DejaVu Sans"/>
                <a:cs typeface="DejaVu Sans"/>
              </a:rPr>
              <a:t>Trình</a:t>
            </a:r>
            <a:r>
              <a:rPr sz="2000" b="1" spc="5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37" dirty="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  <a:r>
              <a:rPr sz="2000" b="1" spc="5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Lai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45944" y="5289108"/>
            <a:ext cx="4568330" cy="1537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Cải thiện tối ưu hóa &amp;</a:t>
            </a:r>
            <a:r>
              <a:rPr sz="150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tốc độ giải thuật</a:t>
            </a:r>
          </a:p>
          <a:p>
            <a:pPr marL="0" marR="0">
              <a:lnSpc>
                <a:spcPts val="1760"/>
              </a:lnSpc>
              <a:spcBef>
                <a:spcPts val="1539"/>
              </a:spcBef>
              <a:spcAft>
                <a:spcPts val="0"/>
              </a:spcAft>
            </a:pPr>
            <a:r>
              <a:rPr sz="1500" spc="10" dirty="0">
                <a:solidFill>
                  <a:srgbClr val="FFFFFF"/>
                </a:solidFill>
                <a:latin typeface="DejaVu Sans"/>
                <a:cs typeface="DejaVu Sans"/>
              </a:rPr>
              <a:t>Mở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 rộng thư viện tính năng &amp;</a:t>
            </a:r>
            <a:r>
              <a:rPr sz="150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GUI tương tác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Hỗ trợ đa dạng </a:t>
            </a:r>
            <a:r>
              <a:rPr sz="1500" spc="-10" dirty="0">
                <a:solidFill>
                  <a:srgbClr val="FFFFFF"/>
                </a:solidFill>
                <a:latin typeface="DejaVu Sans"/>
                <a:cs typeface="DejaVu Sans"/>
              </a:rPr>
              <a:t>Rubik</a:t>
            </a:r>
            <a:r>
              <a:rPr sz="1500" spc="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biến thể (2x2, 4x4, etc.)</a:t>
            </a:r>
          </a:p>
          <a:p>
            <a:pPr marL="0" marR="0">
              <a:lnSpc>
                <a:spcPts val="1760"/>
              </a:lnSpc>
              <a:spcBef>
                <a:spcPts val="161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Nghiên cứu tích hợp AI nâng cao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54633" y="5382095"/>
            <a:ext cx="4171182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Suất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&amp;</a:t>
            </a:r>
            <a:r>
              <a:rPr sz="2000" b="1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Thực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Tiễn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3620" y="6251133"/>
            <a:ext cx="433295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Giải pháp tối ưu (&lt;20 bước, mili </a:t>
            </a:r>
            <a:r>
              <a:rPr sz="1500" dirty="0" err="1">
                <a:solidFill>
                  <a:srgbClr val="FFFFFF"/>
                </a:solidFill>
                <a:latin typeface="DejaVu Sans"/>
                <a:cs typeface="DejaVu Sans"/>
              </a:rPr>
              <a:t>giây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)</a:t>
            </a:r>
            <a:endParaRPr sz="1500" baseline="0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5084" y="6289233"/>
            <a:ext cx="265664" cy="86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</a:p>
          <a:p>
            <a:pPr marL="0" marR="0">
              <a:lnSpc>
                <a:spcPts val="1760"/>
              </a:lnSpc>
              <a:spcBef>
                <a:spcPts val="2914"/>
              </a:spcBef>
              <a:spcAft>
                <a:spcPts val="0"/>
              </a:spcAft>
            </a:pPr>
            <a:r>
              <a:rPr sz="150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3620" y="6520098"/>
            <a:ext cx="1086641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3620" y="6851208"/>
            <a:ext cx="456459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Nhận diện 100% chính xác dưới điều kiện ánh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sáng ổn </a:t>
            </a:r>
            <a:r>
              <a:rPr sz="1500" dirty="0" err="1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endParaRPr sz="1500" baseline="0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3620" y="7575108"/>
            <a:ext cx="482497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Đòn bẩy cho AI, Robotics</a:t>
            </a:r>
            <a:r>
              <a:rPr sz="150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sz="150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Giáo </a:t>
            </a:r>
            <a:r>
              <a:rPr sz="1500" dirty="0" err="1">
                <a:solidFill>
                  <a:srgbClr val="FFFFFF"/>
                </a:solidFill>
                <a:latin typeface="DejaVu Sans"/>
                <a:cs typeface="DejaVu Sans"/>
              </a:rPr>
              <a:t>dục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 STEM</a:t>
            </a:r>
            <a:endParaRPr sz="1500" baseline="0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5084" y="7613208"/>
            <a:ext cx="26566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45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94878" y="8548168"/>
            <a:ext cx="217295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truongvandieu@email.com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512420" y="8558448"/>
            <a:ext cx="545090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Nguồn: Kociemba.org, Python in Plain English, </a:t>
            </a:r>
            <a:r>
              <a:rPr sz="1000" spc="-23" dirty="0">
                <a:solidFill>
                  <a:srgbClr val="FFFFFF"/>
                </a:solidFill>
                <a:latin typeface="DejaVu Sans"/>
                <a:cs typeface="DejaVu Sans"/>
              </a:rPr>
              <a:t>Towards</a:t>
            </a:r>
            <a:r>
              <a:rPr sz="1000" spc="2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Data Science, Medium.com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28699" y="2754712"/>
            <a:ext cx="10288413" cy="819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152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8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Xin</a:t>
            </a:r>
            <a:r>
              <a:rPr sz="4050" b="1" spc="-34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 </a:t>
            </a:r>
            <a:r>
              <a:rPr sz="4050" b="1" spc="10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chân</a:t>
            </a:r>
            <a:r>
              <a:rPr sz="4050" b="1" spc="-62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 </a:t>
            </a:r>
            <a:r>
              <a:rPr sz="4050" b="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thành</a:t>
            </a:r>
            <a:r>
              <a:rPr sz="4050" b="1" spc="-27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 </a:t>
            </a:r>
            <a:r>
              <a:rPr sz="4050" b="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c</a:t>
            </a:r>
            <a:r>
              <a:rPr sz="4050" b="1" spc="15" dirty="0">
                <a:solidFill>
                  <a:srgbClr val="1F2937"/>
                </a:solidFill>
                <a:latin typeface="TVNKGM+Be Vietnam Pro Bold"/>
                <a:cs typeface="TVNKGM+Be Vietnam Pro Bold"/>
              </a:rPr>
              <a:t>ả</a:t>
            </a:r>
            <a:r>
              <a:rPr sz="4050" b="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m</a:t>
            </a:r>
            <a:r>
              <a:rPr sz="4050" b="1" spc="-60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 </a:t>
            </a:r>
            <a:r>
              <a:rPr sz="4050" b="1" dirty="0">
                <a:solidFill>
                  <a:srgbClr val="1F2937"/>
                </a:solidFill>
                <a:latin typeface="WOSBIN+Be Vietnam Pro Bold"/>
                <a:cs typeface="WOSBIN+Be Vietnam Pro Bold"/>
              </a:rPr>
              <a:t>ơ</a:t>
            </a:r>
            <a:r>
              <a:rPr sz="4050" b="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n</a:t>
            </a:r>
            <a:r>
              <a:rPr sz="4050" b="1" spc="-52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 </a:t>
            </a:r>
            <a:r>
              <a:rPr sz="4050" b="1" spc="18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th</a:t>
            </a:r>
            <a:r>
              <a:rPr sz="4050" b="1" spc="15" dirty="0">
                <a:solidFill>
                  <a:srgbClr val="1F2937"/>
                </a:solidFill>
                <a:latin typeface="TVNKGM+Be Vietnam Pro Bold"/>
                <a:cs typeface="TVNKGM+Be Vietnam Pro Bold"/>
              </a:rPr>
              <a:t>ầ</a:t>
            </a:r>
            <a:r>
              <a:rPr sz="4050" b="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y</a:t>
            </a:r>
            <a:r>
              <a:rPr sz="4050" b="1" spc="-49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 </a:t>
            </a:r>
            <a:r>
              <a:rPr sz="4050" b="1" spc="-8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và</a:t>
            </a:r>
            <a:r>
              <a:rPr sz="4050" b="1" spc="63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 </a:t>
            </a:r>
            <a:r>
              <a:rPr sz="4050" b="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các</a:t>
            </a:r>
            <a:r>
              <a:rPr sz="4050" b="1" spc="-37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 </a:t>
            </a:r>
            <a:r>
              <a:rPr sz="4050" b="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b</a:t>
            </a:r>
            <a:r>
              <a:rPr sz="4050" b="1" spc="15" dirty="0">
                <a:solidFill>
                  <a:srgbClr val="1F2937"/>
                </a:solidFill>
                <a:latin typeface="TVNKGM+Be Vietnam Pro Bold"/>
                <a:cs typeface="TVNKGM+Be Vietnam Pro Bold"/>
              </a:rPr>
              <a:t>ạ</a:t>
            </a:r>
            <a:r>
              <a:rPr sz="4050" b="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71749" y="3392887"/>
            <a:ext cx="7197908" cy="819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152"/>
              </a:lnSpc>
              <a:spcBef>
                <a:spcPts val="0"/>
              </a:spcBef>
              <a:spcAft>
                <a:spcPts val="0"/>
              </a:spcAft>
            </a:pPr>
            <a:r>
              <a:rPr sz="4050" b="1" dirty="0">
                <a:solidFill>
                  <a:srgbClr val="1F2937"/>
                </a:solidFill>
                <a:latin typeface="WOSBIN+Be Vietnam Pro Bold"/>
                <a:cs typeface="WOSBIN+Be Vietnam Pro Bold"/>
              </a:rPr>
              <a:t>đ</a:t>
            </a:r>
            <a:r>
              <a:rPr sz="4050" b="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ã</a:t>
            </a:r>
            <a:r>
              <a:rPr sz="4050" b="1" spc="-17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 </a:t>
            </a:r>
            <a:r>
              <a:rPr sz="4050" b="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theo</a:t>
            </a:r>
            <a:r>
              <a:rPr sz="4050" b="1" spc="-75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 </a:t>
            </a:r>
            <a:r>
              <a:rPr sz="4050" b="1" spc="-23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dõi</a:t>
            </a:r>
            <a:r>
              <a:rPr sz="4050" b="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 bài</a:t>
            </a:r>
            <a:r>
              <a:rPr sz="4050" b="1" spc="-34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 </a:t>
            </a:r>
            <a:r>
              <a:rPr sz="4050" b="1" spc="10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thuy</a:t>
            </a:r>
            <a:r>
              <a:rPr sz="4050" b="1" spc="-28" dirty="0">
                <a:solidFill>
                  <a:srgbClr val="1F2937"/>
                </a:solidFill>
                <a:latin typeface="TVNKGM+Be Vietnam Pro Bold"/>
                <a:cs typeface="TVNKGM+Be Vietnam Pro Bold"/>
              </a:rPr>
              <a:t>ế</a:t>
            </a:r>
            <a:r>
              <a:rPr sz="4050" b="1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t </a:t>
            </a:r>
            <a:r>
              <a:rPr sz="4050" b="1" spc="10" dirty="0">
                <a:solidFill>
                  <a:srgbClr val="1F2937"/>
                </a:solidFill>
                <a:latin typeface="RFIKTE+Be Vietnam Pro Bold"/>
                <a:cs typeface="RFIKTE+Be Vietnam Pro Bold"/>
              </a:rPr>
              <a:t>trình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90899" y="5001618"/>
            <a:ext cx="5566431" cy="428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4B5563"/>
                </a:solidFill>
                <a:latin typeface="VMCLLB+Be Vietnam Pro Regular"/>
                <a:cs typeface="VMCLLB+Be Vietnam Pro Regular"/>
              </a:rPr>
              <a:t>Liên</a:t>
            </a:r>
            <a:r>
              <a:rPr sz="2000" spc="-33" dirty="0">
                <a:solidFill>
                  <a:srgbClr val="4B5563"/>
                </a:solidFill>
                <a:latin typeface="VMCLLB+Be Vietnam Pro Regular"/>
                <a:cs typeface="VMCLLB+Be Vietnam Pro Regular"/>
              </a:rPr>
              <a:t> </a:t>
            </a:r>
            <a:r>
              <a:rPr sz="2000" spc="34" dirty="0">
                <a:solidFill>
                  <a:srgbClr val="4B5563"/>
                </a:solidFill>
                <a:latin typeface="VMCLLB+Be Vietnam Pro Regular"/>
                <a:cs typeface="VMCLLB+Be Vietnam Pro Regular"/>
              </a:rPr>
              <a:t>h</a:t>
            </a:r>
            <a:r>
              <a:rPr sz="2000" spc="-18" dirty="0">
                <a:solidFill>
                  <a:srgbClr val="4B5563"/>
                </a:solidFill>
                <a:latin typeface="RGGOCF+Be Vietnam Pro Regular"/>
                <a:cs typeface="RGGOCF+Be Vietnam Pro Regular"/>
              </a:rPr>
              <a:t>ệ</a:t>
            </a:r>
            <a:r>
              <a:rPr sz="2000" dirty="0">
                <a:solidFill>
                  <a:srgbClr val="4B5563"/>
                </a:solidFill>
                <a:latin typeface="VMCLLB+Be Vietnam Pro Regular"/>
                <a:cs typeface="VMCLLB+Be Vietnam Pro Regular"/>
              </a:rPr>
              <a:t>:</a:t>
            </a:r>
            <a:r>
              <a:rPr sz="2000" spc="18" dirty="0">
                <a:solidFill>
                  <a:srgbClr val="4B5563"/>
                </a:solidFill>
                <a:latin typeface="VMCLLB+Be Vietnam Pro Regular"/>
                <a:cs typeface="VMCLLB+Be Vietnam Pro Regular"/>
              </a:rPr>
              <a:t> </a:t>
            </a:r>
            <a:r>
              <a:rPr sz="2000" dirty="0">
                <a:solidFill>
                  <a:srgbClr val="2563EB"/>
                </a:solidFill>
                <a:latin typeface="QBDEJV+Be Vietnam Pro Regular"/>
                <a:cs typeface="QBDEJV+Be Vietnam Pro Regula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23017208@st.phenikaa-uni.edu.vn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3470</Words>
  <Application>Microsoft Office PowerPoint</Application>
  <PresentationFormat>Widescreen</PresentationFormat>
  <Paragraphs>482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Liberation Sans</vt:lpstr>
      <vt:lpstr>Liberation Mono</vt:lpstr>
      <vt:lpstr>DejaVu Sans</vt:lpstr>
      <vt:lpstr>Calibri</vt:lpstr>
      <vt:lpstr>VMCLLB+Be Vietnam Pro Regular</vt:lpstr>
      <vt:lpstr>QBDEJV+Be Vietnam Pro Regular</vt:lpstr>
      <vt:lpstr>Times New Roman</vt:lpstr>
      <vt:lpstr>RFIKTE+Be Vietnam Pro Bold</vt:lpstr>
      <vt:lpstr>WOSBIN+Be Vietnam Pro Bold</vt:lpstr>
      <vt:lpstr>RGGOCF+Be Vietnam Pro Regular</vt:lpstr>
      <vt:lpstr>TVNKGM+Be Vietnam Pro Bold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Truong Van Dieu</cp:lastModifiedBy>
  <cp:revision>10</cp:revision>
  <dcterms:modified xsi:type="dcterms:W3CDTF">2025-10-20T09:33:46Z</dcterms:modified>
</cp:coreProperties>
</file>